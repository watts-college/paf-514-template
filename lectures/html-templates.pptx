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0" r:id="rId3"/>
    <p:sldId id="257" r:id="rId4"/>
    <p:sldId id="258" r:id="rId5"/>
    <p:sldId id="259" r:id="rId6"/>
    <p:sldId id="262" r:id="rId7"/>
    <p:sldId id="260" r:id="rId8"/>
    <p:sldId id="263" r:id="rId9"/>
    <p:sldId id="268" r:id="rId10"/>
    <p:sldId id="264" r:id="rId11"/>
    <p:sldId id="266" r:id="rId12"/>
    <p:sldId id="265" r:id="rId13"/>
    <p:sldId id="267" r:id="rId14"/>
    <p:sldId id="269" r:id="rId15"/>
    <p:sldId id="273" r:id="rId16"/>
    <p:sldId id="261" r:id="rId17"/>
    <p:sldId id="271"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02B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1" autoAdjust="0"/>
    <p:restoredTop sz="94660"/>
  </p:normalViewPr>
  <p:slideViewPr>
    <p:cSldViewPr snapToGrid="0">
      <p:cViewPr varScale="1">
        <p:scale>
          <a:sx n="81" d="100"/>
          <a:sy n="81" d="100"/>
        </p:scale>
        <p:origin x="27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8AAF4-4DD8-1198-4B32-F8256F5A48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FCFE8FD-E872-6205-56FE-6A31963B82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6E03666-F741-F831-E4CA-61BBACDFC06F}"/>
              </a:ext>
            </a:extLst>
          </p:cNvPr>
          <p:cNvSpPr>
            <a:spLocks noGrp="1"/>
          </p:cNvSpPr>
          <p:nvPr>
            <p:ph type="dt" sz="half" idx="10"/>
          </p:nvPr>
        </p:nvSpPr>
        <p:spPr/>
        <p:txBody>
          <a:bodyPr/>
          <a:lstStyle/>
          <a:p>
            <a:fld id="{18BF0D0A-7CDA-458C-ADE1-76B94C7E6350}" type="datetimeFigureOut">
              <a:rPr lang="en-US" smtClean="0"/>
              <a:t>2/16/2026</a:t>
            </a:fld>
            <a:endParaRPr lang="en-US"/>
          </a:p>
        </p:txBody>
      </p:sp>
      <p:sp>
        <p:nvSpPr>
          <p:cNvPr id="5" name="Footer Placeholder 4">
            <a:extLst>
              <a:ext uri="{FF2B5EF4-FFF2-40B4-BE49-F238E27FC236}">
                <a16:creationId xmlns:a16="http://schemas.microsoft.com/office/drawing/2014/main" id="{40DE0D44-C310-F6B1-EFFB-CF1CB9C80C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49580E-0689-2D3C-BA13-6A0A6F0D458D}"/>
              </a:ext>
            </a:extLst>
          </p:cNvPr>
          <p:cNvSpPr>
            <a:spLocks noGrp="1"/>
          </p:cNvSpPr>
          <p:nvPr>
            <p:ph type="sldNum" sz="quarter" idx="12"/>
          </p:nvPr>
        </p:nvSpPr>
        <p:spPr/>
        <p:txBody>
          <a:bodyPr/>
          <a:lstStyle/>
          <a:p>
            <a:fld id="{8245A4C6-3BD9-485E-8F49-FF24F2C31B1D}" type="slidenum">
              <a:rPr lang="en-US" smtClean="0"/>
              <a:t>‹#›</a:t>
            </a:fld>
            <a:endParaRPr lang="en-US"/>
          </a:p>
        </p:txBody>
      </p:sp>
    </p:spTree>
    <p:extLst>
      <p:ext uri="{BB962C8B-B14F-4D97-AF65-F5344CB8AC3E}">
        <p14:creationId xmlns:p14="http://schemas.microsoft.com/office/powerpoint/2010/main" val="614185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82AE0-DB98-D772-1570-F4DA748147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1B04662-31F7-0418-18FA-4F73BF9CD3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AB0428-8D40-2ACE-B3F7-EFDCC5D83E0A}"/>
              </a:ext>
            </a:extLst>
          </p:cNvPr>
          <p:cNvSpPr>
            <a:spLocks noGrp="1"/>
          </p:cNvSpPr>
          <p:nvPr>
            <p:ph type="dt" sz="half" idx="10"/>
          </p:nvPr>
        </p:nvSpPr>
        <p:spPr/>
        <p:txBody>
          <a:bodyPr/>
          <a:lstStyle/>
          <a:p>
            <a:fld id="{18BF0D0A-7CDA-458C-ADE1-76B94C7E6350}" type="datetimeFigureOut">
              <a:rPr lang="en-US" smtClean="0"/>
              <a:t>2/16/2026</a:t>
            </a:fld>
            <a:endParaRPr lang="en-US"/>
          </a:p>
        </p:txBody>
      </p:sp>
      <p:sp>
        <p:nvSpPr>
          <p:cNvPr id="5" name="Footer Placeholder 4">
            <a:extLst>
              <a:ext uri="{FF2B5EF4-FFF2-40B4-BE49-F238E27FC236}">
                <a16:creationId xmlns:a16="http://schemas.microsoft.com/office/drawing/2014/main" id="{8B40CE03-E499-7178-5806-D0390BA983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1EF4E3-3906-D2EB-258C-DC10682EB974}"/>
              </a:ext>
            </a:extLst>
          </p:cNvPr>
          <p:cNvSpPr>
            <a:spLocks noGrp="1"/>
          </p:cNvSpPr>
          <p:nvPr>
            <p:ph type="sldNum" sz="quarter" idx="12"/>
          </p:nvPr>
        </p:nvSpPr>
        <p:spPr/>
        <p:txBody>
          <a:bodyPr/>
          <a:lstStyle/>
          <a:p>
            <a:fld id="{8245A4C6-3BD9-485E-8F49-FF24F2C31B1D}" type="slidenum">
              <a:rPr lang="en-US" smtClean="0"/>
              <a:t>‹#›</a:t>
            </a:fld>
            <a:endParaRPr lang="en-US"/>
          </a:p>
        </p:txBody>
      </p:sp>
    </p:spTree>
    <p:extLst>
      <p:ext uri="{BB962C8B-B14F-4D97-AF65-F5344CB8AC3E}">
        <p14:creationId xmlns:p14="http://schemas.microsoft.com/office/powerpoint/2010/main" val="12316196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B5092-B3E3-8579-41C1-5C7AABD673C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C96A45A-41EC-55F9-9350-38C0E33FB4C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626F874-CD61-1772-2BA4-9200BC9996FE}"/>
              </a:ext>
            </a:extLst>
          </p:cNvPr>
          <p:cNvSpPr>
            <a:spLocks noGrp="1"/>
          </p:cNvSpPr>
          <p:nvPr>
            <p:ph type="dt" sz="half" idx="10"/>
          </p:nvPr>
        </p:nvSpPr>
        <p:spPr/>
        <p:txBody>
          <a:bodyPr/>
          <a:lstStyle/>
          <a:p>
            <a:fld id="{18BF0D0A-7CDA-458C-ADE1-76B94C7E6350}" type="datetimeFigureOut">
              <a:rPr lang="en-US" smtClean="0"/>
              <a:t>2/16/2026</a:t>
            </a:fld>
            <a:endParaRPr lang="en-US"/>
          </a:p>
        </p:txBody>
      </p:sp>
      <p:sp>
        <p:nvSpPr>
          <p:cNvPr id="5" name="Footer Placeholder 4">
            <a:extLst>
              <a:ext uri="{FF2B5EF4-FFF2-40B4-BE49-F238E27FC236}">
                <a16:creationId xmlns:a16="http://schemas.microsoft.com/office/drawing/2014/main" id="{73CE10BC-0CFF-0ACF-C244-F24457DE10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5238BD-5353-AD82-A4B8-EF103C56CC83}"/>
              </a:ext>
            </a:extLst>
          </p:cNvPr>
          <p:cNvSpPr>
            <a:spLocks noGrp="1"/>
          </p:cNvSpPr>
          <p:nvPr>
            <p:ph type="sldNum" sz="quarter" idx="12"/>
          </p:nvPr>
        </p:nvSpPr>
        <p:spPr/>
        <p:txBody>
          <a:bodyPr/>
          <a:lstStyle/>
          <a:p>
            <a:fld id="{8245A4C6-3BD9-485E-8F49-FF24F2C31B1D}" type="slidenum">
              <a:rPr lang="en-US" smtClean="0"/>
              <a:t>‹#›</a:t>
            </a:fld>
            <a:endParaRPr lang="en-US"/>
          </a:p>
        </p:txBody>
      </p:sp>
    </p:spTree>
    <p:extLst>
      <p:ext uri="{BB962C8B-B14F-4D97-AF65-F5344CB8AC3E}">
        <p14:creationId xmlns:p14="http://schemas.microsoft.com/office/powerpoint/2010/main" val="3339346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E56E3-56F7-5CAC-BFAF-84EE88FEEFD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25045B-B602-6C5D-C6F8-95E00043927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795DC66-1B87-03C5-19A1-E2C380FC57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1BC381E-E852-A8C4-6493-20AC22B5C28A}"/>
              </a:ext>
            </a:extLst>
          </p:cNvPr>
          <p:cNvSpPr>
            <a:spLocks noGrp="1"/>
          </p:cNvSpPr>
          <p:nvPr>
            <p:ph type="dt" sz="half" idx="10"/>
          </p:nvPr>
        </p:nvSpPr>
        <p:spPr/>
        <p:txBody>
          <a:bodyPr/>
          <a:lstStyle/>
          <a:p>
            <a:fld id="{18BF0D0A-7CDA-458C-ADE1-76B94C7E6350}" type="datetimeFigureOut">
              <a:rPr lang="en-US" smtClean="0"/>
              <a:t>2/16/2026</a:t>
            </a:fld>
            <a:endParaRPr lang="en-US"/>
          </a:p>
        </p:txBody>
      </p:sp>
      <p:sp>
        <p:nvSpPr>
          <p:cNvPr id="6" name="Footer Placeholder 5">
            <a:extLst>
              <a:ext uri="{FF2B5EF4-FFF2-40B4-BE49-F238E27FC236}">
                <a16:creationId xmlns:a16="http://schemas.microsoft.com/office/drawing/2014/main" id="{687A92BB-3088-1559-3719-92DC395189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60EAA5-39D1-B62A-F600-1B63F48F86C0}"/>
              </a:ext>
            </a:extLst>
          </p:cNvPr>
          <p:cNvSpPr>
            <a:spLocks noGrp="1"/>
          </p:cNvSpPr>
          <p:nvPr>
            <p:ph type="sldNum" sz="quarter" idx="12"/>
          </p:nvPr>
        </p:nvSpPr>
        <p:spPr/>
        <p:txBody>
          <a:bodyPr/>
          <a:lstStyle/>
          <a:p>
            <a:fld id="{8245A4C6-3BD9-485E-8F49-FF24F2C31B1D}" type="slidenum">
              <a:rPr lang="en-US" smtClean="0"/>
              <a:t>‹#›</a:t>
            </a:fld>
            <a:endParaRPr lang="en-US"/>
          </a:p>
        </p:txBody>
      </p:sp>
    </p:spTree>
    <p:extLst>
      <p:ext uri="{BB962C8B-B14F-4D97-AF65-F5344CB8AC3E}">
        <p14:creationId xmlns:p14="http://schemas.microsoft.com/office/powerpoint/2010/main" val="928570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F8ECC-02D5-C905-0725-A396BEB7337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28AF13E-7ABA-D9CE-8BEA-969F16B45A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0C40ED-87C0-E995-F415-5385298F17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43E8518-7FB0-461C-A939-3BDF3DE58A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B9E1787-A46B-6734-4F76-9ADA5B672D8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3FA3875-06D5-A577-9231-515AB6A768B1}"/>
              </a:ext>
            </a:extLst>
          </p:cNvPr>
          <p:cNvSpPr>
            <a:spLocks noGrp="1"/>
          </p:cNvSpPr>
          <p:nvPr>
            <p:ph type="dt" sz="half" idx="10"/>
          </p:nvPr>
        </p:nvSpPr>
        <p:spPr/>
        <p:txBody>
          <a:bodyPr/>
          <a:lstStyle/>
          <a:p>
            <a:fld id="{18BF0D0A-7CDA-458C-ADE1-76B94C7E6350}" type="datetimeFigureOut">
              <a:rPr lang="en-US" smtClean="0"/>
              <a:t>2/16/2026</a:t>
            </a:fld>
            <a:endParaRPr lang="en-US"/>
          </a:p>
        </p:txBody>
      </p:sp>
      <p:sp>
        <p:nvSpPr>
          <p:cNvPr id="8" name="Footer Placeholder 7">
            <a:extLst>
              <a:ext uri="{FF2B5EF4-FFF2-40B4-BE49-F238E27FC236}">
                <a16:creationId xmlns:a16="http://schemas.microsoft.com/office/drawing/2014/main" id="{AB5011D4-E738-FAE8-6040-BB499391E88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B06E652-D99B-DE97-B9CC-46D4415921C0}"/>
              </a:ext>
            </a:extLst>
          </p:cNvPr>
          <p:cNvSpPr>
            <a:spLocks noGrp="1"/>
          </p:cNvSpPr>
          <p:nvPr>
            <p:ph type="sldNum" sz="quarter" idx="12"/>
          </p:nvPr>
        </p:nvSpPr>
        <p:spPr/>
        <p:txBody>
          <a:bodyPr/>
          <a:lstStyle/>
          <a:p>
            <a:fld id="{8245A4C6-3BD9-485E-8F49-FF24F2C31B1D}" type="slidenum">
              <a:rPr lang="en-US" smtClean="0"/>
              <a:t>‹#›</a:t>
            </a:fld>
            <a:endParaRPr lang="en-US"/>
          </a:p>
        </p:txBody>
      </p:sp>
    </p:spTree>
    <p:extLst>
      <p:ext uri="{BB962C8B-B14F-4D97-AF65-F5344CB8AC3E}">
        <p14:creationId xmlns:p14="http://schemas.microsoft.com/office/powerpoint/2010/main" val="38057975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39470-F2D0-1AE3-7897-03DC10C4E1F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24BFBED-56AF-304A-4BF1-16CDC4BCA1F6}"/>
              </a:ext>
            </a:extLst>
          </p:cNvPr>
          <p:cNvSpPr>
            <a:spLocks noGrp="1"/>
          </p:cNvSpPr>
          <p:nvPr>
            <p:ph type="dt" sz="half" idx="10"/>
          </p:nvPr>
        </p:nvSpPr>
        <p:spPr/>
        <p:txBody>
          <a:bodyPr/>
          <a:lstStyle/>
          <a:p>
            <a:fld id="{18BF0D0A-7CDA-458C-ADE1-76B94C7E6350}" type="datetimeFigureOut">
              <a:rPr lang="en-US" smtClean="0"/>
              <a:t>2/16/2026</a:t>
            </a:fld>
            <a:endParaRPr lang="en-US"/>
          </a:p>
        </p:txBody>
      </p:sp>
      <p:sp>
        <p:nvSpPr>
          <p:cNvPr id="4" name="Footer Placeholder 3">
            <a:extLst>
              <a:ext uri="{FF2B5EF4-FFF2-40B4-BE49-F238E27FC236}">
                <a16:creationId xmlns:a16="http://schemas.microsoft.com/office/drawing/2014/main" id="{AAB8BE41-D3EF-6F24-7274-1A2D704DF19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606A806-C9BD-D13F-7529-D7F16CF9C24A}"/>
              </a:ext>
            </a:extLst>
          </p:cNvPr>
          <p:cNvSpPr>
            <a:spLocks noGrp="1"/>
          </p:cNvSpPr>
          <p:nvPr>
            <p:ph type="sldNum" sz="quarter" idx="12"/>
          </p:nvPr>
        </p:nvSpPr>
        <p:spPr/>
        <p:txBody>
          <a:bodyPr/>
          <a:lstStyle/>
          <a:p>
            <a:fld id="{8245A4C6-3BD9-485E-8F49-FF24F2C31B1D}" type="slidenum">
              <a:rPr lang="en-US" smtClean="0"/>
              <a:t>‹#›</a:t>
            </a:fld>
            <a:endParaRPr lang="en-US"/>
          </a:p>
        </p:txBody>
      </p:sp>
    </p:spTree>
    <p:extLst>
      <p:ext uri="{BB962C8B-B14F-4D97-AF65-F5344CB8AC3E}">
        <p14:creationId xmlns:p14="http://schemas.microsoft.com/office/powerpoint/2010/main" val="2468292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A2141B-58B6-5881-4D8F-960EEF623A91}"/>
              </a:ext>
            </a:extLst>
          </p:cNvPr>
          <p:cNvSpPr>
            <a:spLocks noGrp="1"/>
          </p:cNvSpPr>
          <p:nvPr>
            <p:ph type="dt" sz="half" idx="10"/>
          </p:nvPr>
        </p:nvSpPr>
        <p:spPr/>
        <p:txBody>
          <a:bodyPr/>
          <a:lstStyle/>
          <a:p>
            <a:fld id="{18BF0D0A-7CDA-458C-ADE1-76B94C7E6350}" type="datetimeFigureOut">
              <a:rPr lang="en-US" smtClean="0"/>
              <a:t>2/16/2026</a:t>
            </a:fld>
            <a:endParaRPr lang="en-US"/>
          </a:p>
        </p:txBody>
      </p:sp>
      <p:sp>
        <p:nvSpPr>
          <p:cNvPr id="3" name="Footer Placeholder 2">
            <a:extLst>
              <a:ext uri="{FF2B5EF4-FFF2-40B4-BE49-F238E27FC236}">
                <a16:creationId xmlns:a16="http://schemas.microsoft.com/office/drawing/2014/main" id="{212BEFBC-A9FB-AE88-301F-A18570C0CE6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DFA0365-B0A8-B9C9-EA90-AA2857969D31}"/>
              </a:ext>
            </a:extLst>
          </p:cNvPr>
          <p:cNvSpPr>
            <a:spLocks noGrp="1"/>
          </p:cNvSpPr>
          <p:nvPr>
            <p:ph type="sldNum" sz="quarter" idx="12"/>
          </p:nvPr>
        </p:nvSpPr>
        <p:spPr/>
        <p:txBody>
          <a:bodyPr/>
          <a:lstStyle/>
          <a:p>
            <a:fld id="{8245A4C6-3BD9-485E-8F49-FF24F2C31B1D}" type="slidenum">
              <a:rPr lang="en-US" smtClean="0"/>
              <a:t>‹#›</a:t>
            </a:fld>
            <a:endParaRPr lang="en-US"/>
          </a:p>
        </p:txBody>
      </p:sp>
    </p:spTree>
    <p:extLst>
      <p:ext uri="{BB962C8B-B14F-4D97-AF65-F5344CB8AC3E}">
        <p14:creationId xmlns:p14="http://schemas.microsoft.com/office/powerpoint/2010/main" val="808583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99052-500D-7485-EE55-364A80A5B4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BFF715-B56A-C230-DF0F-E694815439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117E0F6-4748-3A58-6FF9-005CE81FAA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9ABE01-A8DA-8B0A-0A9E-D6652598FE07}"/>
              </a:ext>
            </a:extLst>
          </p:cNvPr>
          <p:cNvSpPr>
            <a:spLocks noGrp="1"/>
          </p:cNvSpPr>
          <p:nvPr>
            <p:ph type="dt" sz="half" idx="10"/>
          </p:nvPr>
        </p:nvSpPr>
        <p:spPr/>
        <p:txBody>
          <a:bodyPr/>
          <a:lstStyle/>
          <a:p>
            <a:fld id="{18BF0D0A-7CDA-458C-ADE1-76B94C7E6350}" type="datetimeFigureOut">
              <a:rPr lang="en-US" smtClean="0"/>
              <a:t>2/16/2026</a:t>
            </a:fld>
            <a:endParaRPr lang="en-US"/>
          </a:p>
        </p:txBody>
      </p:sp>
      <p:sp>
        <p:nvSpPr>
          <p:cNvPr id="6" name="Footer Placeholder 5">
            <a:extLst>
              <a:ext uri="{FF2B5EF4-FFF2-40B4-BE49-F238E27FC236}">
                <a16:creationId xmlns:a16="http://schemas.microsoft.com/office/drawing/2014/main" id="{DDF65F6E-E8CE-6C83-7C0C-ACDA9C7A3E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F38A4C-51EB-E14A-C1AC-61E63B00F279}"/>
              </a:ext>
            </a:extLst>
          </p:cNvPr>
          <p:cNvSpPr>
            <a:spLocks noGrp="1"/>
          </p:cNvSpPr>
          <p:nvPr>
            <p:ph type="sldNum" sz="quarter" idx="12"/>
          </p:nvPr>
        </p:nvSpPr>
        <p:spPr/>
        <p:txBody>
          <a:bodyPr/>
          <a:lstStyle/>
          <a:p>
            <a:fld id="{8245A4C6-3BD9-485E-8F49-FF24F2C31B1D}" type="slidenum">
              <a:rPr lang="en-US" smtClean="0"/>
              <a:t>‹#›</a:t>
            </a:fld>
            <a:endParaRPr lang="en-US"/>
          </a:p>
        </p:txBody>
      </p:sp>
    </p:spTree>
    <p:extLst>
      <p:ext uri="{BB962C8B-B14F-4D97-AF65-F5344CB8AC3E}">
        <p14:creationId xmlns:p14="http://schemas.microsoft.com/office/powerpoint/2010/main" val="18555471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2B099-1C08-5380-4870-57B8667226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8BE5166-3A80-4721-649B-75F341AA47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6CBEB89-C05B-A90F-84F3-5A20DDCD7C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0D0975-B25F-3FE1-B47A-A7443E26752E}"/>
              </a:ext>
            </a:extLst>
          </p:cNvPr>
          <p:cNvSpPr>
            <a:spLocks noGrp="1"/>
          </p:cNvSpPr>
          <p:nvPr>
            <p:ph type="dt" sz="half" idx="10"/>
          </p:nvPr>
        </p:nvSpPr>
        <p:spPr/>
        <p:txBody>
          <a:bodyPr/>
          <a:lstStyle/>
          <a:p>
            <a:fld id="{18BF0D0A-7CDA-458C-ADE1-76B94C7E6350}" type="datetimeFigureOut">
              <a:rPr lang="en-US" smtClean="0"/>
              <a:t>2/16/2026</a:t>
            </a:fld>
            <a:endParaRPr lang="en-US"/>
          </a:p>
        </p:txBody>
      </p:sp>
      <p:sp>
        <p:nvSpPr>
          <p:cNvPr id="6" name="Footer Placeholder 5">
            <a:extLst>
              <a:ext uri="{FF2B5EF4-FFF2-40B4-BE49-F238E27FC236}">
                <a16:creationId xmlns:a16="http://schemas.microsoft.com/office/drawing/2014/main" id="{769FCBCC-B012-029A-0546-681CAD63F3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B6AB4D-1C1D-DE91-7E13-30558E933E52}"/>
              </a:ext>
            </a:extLst>
          </p:cNvPr>
          <p:cNvSpPr>
            <a:spLocks noGrp="1"/>
          </p:cNvSpPr>
          <p:nvPr>
            <p:ph type="sldNum" sz="quarter" idx="12"/>
          </p:nvPr>
        </p:nvSpPr>
        <p:spPr/>
        <p:txBody>
          <a:bodyPr/>
          <a:lstStyle/>
          <a:p>
            <a:fld id="{8245A4C6-3BD9-485E-8F49-FF24F2C31B1D}" type="slidenum">
              <a:rPr lang="en-US" smtClean="0"/>
              <a:t>‹#›</a:t>
            </a:fld>
            <a:endParaRPr lang="en-US"/>
          </a:p>
        </p:txBody>
      </p:sp>
    </p:spTree>
    <p:extLst>
      <p:ext uri="{BB962C8B-B14F-4D97-AF65-F5344CB8AC3E}">
        <p14:creationId xmlns:p14="http://schemas.microsoft.com/office/powerpoint/2010/main" val="1168957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B7745-8E4B-EB7B-16E8-1C38EF0AE4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2F62709-5009-B324-E466-FD0D5FD986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3ECEF5-7A02-0DFA-157E-24BA19D986A8}"/>
              </a:ext>
            </a:extLst>
          </p:cNvPr>
          <p:cNvSpPr>
            <a:spLocks noGrp="1"/>
          </p:cNvSpPr>
          <p:nvPr>
            <p:ph type="dt" sz="half" idx="10"/>
          </p:nvPr>
        </p:nvSpPr>
        <p:spPr/>
        <p:txBody>
          <a:bodyPr/>
          <a:lstStyle/>
          <a:p>
            <a:fld id="{18BF0D0A-7CDA-458C-ADE1-76B94C7E6350}" type="datetimeFigureOut">
              <a:rPr lang="en-US" smtClean="0"/>
              <a:t>2/16/2026</a:t>
            </a:fld>
            <a:endParaRPr lang="en-US"/>
          </a:p>
        </p:txBody>
      </p:sp>
      <p:sp>
        <p:nvSpPr>
          <p:cNvPr id="5" name="Footer Placeholder 4">
            <a:extLst>
              <a:ext uri="{FF2B5EF4-FFF2-40B4-BE49-F238E27FC236}">
                <a16:creationId xmlns:a16="http://schemas.microsoft.com/office/drawing/2014/main" id="{9AFD082F-F387-819F-D68F-DB94D0DD7A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9A4E7F-02DE-CD7C-F92F-AD59A32E22F3}"/>
              </a:ext>
            </a:extLst>
          </p:cNvPr>
          <p:cNvSpPr>
            <a:spLocks noGrp="1"/>
          </p:cNvSpPr>
          <p:nvPr>
            <p:ph type="sldNum" sz="quarter" idx="12"/>
          </p:nvPr>
        </p:nvSpPr>
        <p:spPr/>
        <p:txBody>
          <a:bodyPr/>
          <a:lstStyle/>
          <a:p>
            <a:fld id="{8245A4C6-3BD9-485E-8F49-FF24F2C31B1D}" type="slidenum">
              <a:rPr lang="en-US" smtClean="0"/>
              <a:t>‹#›</a:t>
            </a:fld>
            <a:endParaRPr lang="en-US"/>
          </a:p>
        </p:txBody>
      </p:sp>
    </p:spTree>
    <p:extLst>
      <p:ext uri="{BB962C8B-B14F-4D97-AF65-F5344CB8AC3E}">
        <p14:creationId xmlns:p14="http://schemas.microsoft.com/office/powerpoint/2010/main" val="9220984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CED1F5-25C7-94AF-6ACF-26D9E43653B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744B960-7A2C-6A91-A27A-3360DE1301C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B801C8-A901-4DEF-AFBC-4AAB2E0FB5A1}"/>
              </a:ext>
            </a:extLst>
          </p:cNvPr>
          <p:cNvSpPr>
            <a:spLocks noGrp="1"/>
          </p:cNvSpPr>
          <p:nvPr>
            <p:ph type="dt" sz="half" idx="10"/>
          </p:nvPr>
        </p:nvSpPr>
        <p:spPr/>
        <p:txBody>
          <a:bodyPr/>
          <a:lstStyle/>
          <a:p>
            <a:fld id="{18BF0D0A-7CDA-458C-ADE1-76B94C7E6350}" type="datetimeFigureOut">
              <a:rPr lang="en-US" smtClean="0"/>
              <a:t>2/16/2026</a:t>
            </a:fld>
            <a:endParaRPr lang="en-US"/>
          </a:p>
        </p:txBody>
      </p:sp>
      <p:sp>
        <p:nvSpPr>
          <p:cNvPr id="5" name="Footer Placeholder 4">
            <a:extLst>
              <a:ext uri="{FF2B5EF4-FFF2-40B4-BE49-F238E27FC236}">
                <a16:creationId xmlns:a16="http://schemas.microsoft.com/office/drawing/2014/main" id="{2E9D1510-5482-4A0F-EC79-089097744C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F4295D-FC0C-D35A-A07E-5562FB9879BA}"/>
              </a:ext>
            </a:extLst>
          </p:cNvPr>
          <p:cNvSpPr>
            <a:spLocks noGrp="1"/>
          </p:cNvSpPr>
          <p:nvPr>
            <p:ph type="sldNum" sz="quarter" idx="12"/>
          </p:nvPr>
        </p:nvSpPr>
        <p:spPr/>
        <p:txBody>
          <a:bodyPr/>
          <a:lstStyle/>
          <a:p>
            <a:fld id="{8245A4C6-3BD9-485E-8F49-FF24F2C31B1D}" type="slidenum">
              <a:rPr lang="en-US" smtClean="0"/>
              <a:t>‹#›</a:t>
            </a:fld>
            <a:endParaRPr lang="en-US"/>
          </a:p>
        </p:txBody>
      </p:sp>
    </p:spTree>
    <p:extLst>
      <p:ext uri="{BB962C8B-B14F-4D97-AF65-F5344CB8AC3E}">
        <p14:creationId xmlns:p14="http://schemas.microsoft.com/office/powerpoint/2010/main" val="20990498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7DBECFA-00FF-B6B9-3B84-53BF328FC6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3011C26-AFA9-85E4-EE8A-7983901107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E75DF0-B8F1-41AF-A935-77B2A10EFE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8BF0D0A-7CDA-458C-ADE1-76B94C7E6350}" type="datetimeFigureOut">
              <a:rPr lang="en-US" smtClean="0"/>
              <a:t>2/16/2026</a:t>
            </a:fld>
            <a:endParaRPr lang="en-US"/>
          </a:p>
        </p:txBody>
      </p:sp>
      <p:sp>
        <p:nvSpPr>
          <p:cNvPr id="5" name="Footer Placeholder 4">
            <a:extLst>
              <a:ext uri="{FF2B5EF4-FFF2-40B4-BE49-F238E27FC236}">
                <a16:creationId xmlns:a16="http://schemas.microsoft.com/office/drawing/2014/main" id="{0F44B8C4-847F-9F9B-9C59-3EEB1B524F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CF257A9-98A8-D002-4DFD-A40C8E4C6E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245A4C6-3BD9-485E-8F49-FF24F2C31B1D}" type="slidenum">
              <a:rPr lang="en-US" smtClean="0"/>
              <a:t>‹#›</a:t>
            </a:fld>
            <a:endParaRPr lang="en-US"/>
          </a:p>
        </p:txBody>
      </p:sp>
    </p:spTree>
    <p:extLst>
      <p:ext uri="{BB962C8B-B14F-4D97-AF65-F5344CB8AC3E}">
        <p14:creationId xmlns:p14="http://schemas.microsoft.com/office/powerpoint/2010/main" val="15141552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49EBFF0-A50A-4055-E071-1C63E2B9922E}"/>
              </a:ext>
            </a:extLst>
          </p:cNvPr>
          <p:cNvSpPr>
            <a:spLocks noGrp="1"/>
          </p:cNvSpPr>
          <p:nvPr>
            <p:ph type="ctrTitle"/>
          </p:nvPr>
        </p:nvSpPr>
        <p:spPr/>
        <p:txBody>
          <a:bodyPr>
            <a:normAutofit fontScale="90000"/>
          </a:bodyPr>
          <a:lstStyle/>
          <a:p>
            <a:r>
              <a:rPr lang="en-US" dirty="0"/>
              <a:t>TEMPLATES</a:t>
            </a:r>
            <a:br>
              <a:rPr lang="en-US" dirty="0"/>
            </a:br>
            <a:r>
              <a:rPr lang="en-US" dirty="0"/>
              <a:t>AND </a:t>
            </a:r>
            <a:br>
              <a:rPr lang="en-US" dirty="0"/>
            </a:br>
            <a:r>
              <a:rPr lang="en-US" dirty="0"/>
              <a:t>GITHUB PAGES</a:t>
            </a:r>
          </a:p>
        </p:txBody>
      </p:sp>
      <p:sp>
        <p:nvSpPr>
          <p:cNvPr id="6" name="Subtitle 5">
            <a:extLst>
              <a:ext uri="{FF2B5EF4-FFF2-40B4-BE49-F238E27FC236}">
                <a16:creationId xmlns:a16="http://schemas.microsoft.com/office/drawing/2014/main" id="{496A3B0D-B79A-C858-DB1B-4C6BE44113A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2600647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800B5-7E54-1818-17B9-70ABE9B3031B}"/>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THE BIG PICTURE</a:t>
            </a:r>
          </a:p>
        </p:txBody>
      </p:sp>
      <p:sp>
        <p:nvSpPr>
          <p:cNvPr id="3" name="Text Placeholder 2">
            <a:extLst>
              <a:ext uri="{FF2B5EF4-FFF2-40B4-BE49-F238E27FC236}">
                <a16:creationId xmlns:a16="http://schemas.microsoft.com/office/drawing/2014/main" id="{1EB59315-5AC9-F350-6119-7A3C367AA8C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6496887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125FBFC7-9C20-F43E-8F37-E13363EC15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2576" y="1263634"/>
            <a:ext cx="8834437" cy="559436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BB914DC-B711-B103-BA76-7BB9852408E9}"/>
              </a:ext>
            </a:extLst>
          </p:cNvPr>
          <p:cNvSpPr txBox="1"/>
          <p:nvPr/>
        </p:nvSpPr>
        <p:spPr>
          <a:xfrm>
            <a:off x="957263" y="253445"/>
            <a:ext cx="9625011" cy="646331"/>
          </a:xfrm>
          <a:prstGeom prst="rect">
            <a:avLst/>
          </a:prstGeom>
          <a:noFill/>
        </p:spPr>
        <p:txBody>
          <a:bodyPr wrap="square" rtlCol="0">
            <a:spAutoFit/>
          </a:bodyPr>
          <a:lstStyle/>
          <a:p>
            <a:pPr algn="ctr"/>
            <a:r>
              <a:rPr lang="en-US" sz="3600" dirty="0">
                <a:latin typeface="Aharoni" panose="02010803020104030203" pitchFamily="2" charset="-79"/>
                <a:cs typeface="Aharoni" panose="02010803020104030203" pitchFamily="2" charset="-79"/>
              </a:rPr>
              <a:t>( you are now familiar with these steps )</a:t>
            </a:r>
          </a:p>
        </p:txBody>
      </p:sp>
    </p:spTree>
    <p:extLst>
      <p:ext uri="{BB962C8B-B14F-4D97-AF65-F5344CB8AC3E}">
        <p14:creationId xmlns:p14="http://schemas.microsoft.com/office/powerpoint/2010/main" val="4634351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4E990221-123D-8551-0E15-DA101315CE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434" y="0"/>
            <a:ext cx="10563225"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4DD9B0B-53DA-477B-8D72-E005F07FDFA3}"/>
              </a:ext>
            </a:extLst>
          </p:cNvPr>
          <p:cNvSpPr txBox="1"/>
          <p:nvPr/>
        </p:nvSpPr>
        <p:spPr>
          <a:xfrm>
            <a:off x="9845557" y="3587875"/>
            <a:ext cx="907621" cy="400110"/>
          </a:xfrm>
          <a:prstGeom prst="rect">
            <a:avLst/>
          </a:prstGeom>
          <a:noFill/>
        </p:spPr>
        <p:txBody>
          <a:bodyPr wrap="none" rtlCol="0">
            <a:spAutoFit/>
          </a:bodyPr>
          <a:lstStyle/>
          <a:p>
            <a:r>
              <a:rPr lang="en-US" sz="2000" dirty="0">
                <a:solidFill>
                  <a:schemeClr val="accent6">
                    <a:lumMod val="75000"/>
                  </a:schemeClr>
                </a:solidFill>
                <a:latin typeface="ADLaM Display" panose="02010000000000000000" pitchFamily="2" charset="0"/>
                <a:ea typeface="ADLaM Display" panose="02010000000000000000" pitchFamily="2" charset="0"/>
                <a:cs typeface="ADLaM Display" panose="02010000000000000000" pitchFamily="2" charset="0"/>
              </a:rPr>
              <a:t>HTML</a:t>
            </a:r>
          </a:p>
        </p:txBody>
      </p:sp>
      <p:sp>
        <p:nvSpPr>
          <p:cNvPr id="3" name="TextBox 2">
            <a:extLst>
              <a:ext uri="{FF2B5EF4-FFF2-40B4-BE49-F238E27FC236}">
                <a16:creationId xmlns:a16="http://schemas.microsoft.com/office/drawing/2014/main" id="{678DD0EE-C0E3-5029-7E97-844595EA25CA}"/>
              </a:ext>
            </a:extLst>
          </p:cNvPr>
          <p:cNvSpPr txBox="1"/>
          <p:nvPr/>
        </p:nvSpPr>
        <p:spPr>
          <a:xfrm>
            <a:off x="8937936" y="3187765"/>
            <a:ext cx="670376" cy="400110"/>
          </a:xfrm>
          <a:prstGeom prst="rect">
            <a:avLst/>
          </a:prstGeom>
          <a:noFill/>
        </p:spPr>
        <p:txBody>
          <a:bodyPr wrap="none" rtlCol="0">
            <a:spAutoFit/>
          </a:bodyPr>
          <a:lstStyle/>
          <a:p>
            <a:r>
              <a:rPr lang="en-US" sz="2000" dirty="0">
                <a:solidFill>
                  <a:schemeClr val="accent6">
                    <a:lumMod val="75000"/>
                  </a:schemeClr>
                </a:solidFill>
                <a:latin typeface="ADLaM Display" panose="02010000000000000000" pitchFamily="2" charset="0"/>
                <a:ea typeface="ADLaM Display" panose="02010000000000000000" pitchFamily="2" charset="0"/>
                <a:cs typeface="ADLaM Display" panose="02010000000000000000" pitchFamily="2" charset="0"/>
              </a:rPr>
              <a:t>PDF</a:t>
            </a:r>
          </a:p>
        </p:txBody>
      </p:sp>
      <p:sp>
        <p:nvSpPr>
          <p:cNvPr id="4" name="TextBox 3">
            <a:extLst>
              <a:ext uri="{FF2B5EF4-FFF2-40B4-BE49-F238E27FC236}">
                <a16:creationId xmlns:a16="http://schemas.microsoft.com/office/drawing/2014/main" id="{63029C6F-F0AC-7C91-342B-9CD67E76EF7F}"/>
              </a:ext>
            </a:extLst>
          </p:cNvPr>
          <p:cNvSpPr txBox="1"/>
          <p:nvPr/>
        </p:nvSpPr>
        <p:spPr>
          <a:xfrm>
            <a:off x="9273124" y="2564618"/>
            <a:ext cx="736099" cy="400110"/>
          </a:xfrm>
          <a:prstGeom prst="rect">
            <a:avLst/>
          </a:prstGeom>
          <a:noFill/>
        </p:spPr>
        <p:txBody>
          <a:bodyPr wrap="none" rtlCol="0">
            <a:spAutoFit/>
          </a:bodyPr>
          <a:lstStyle/>
          <a:p>
            <a:r>
              <a:rPr lang="en-US" sz="2000" dirty="0">
                <a:solidFill>
                  <a:schemeClr val="accent6">
                    <a:lumMod val="75000"/>
                  </a:schemeClr>
                </a:solidFill>
                <a:latin typeface="ADLaM Display" panose="02010000000000000000" pitchFamily="2" charset="0"/>
                <a:ea typeface="ADLaM Display" panose="02010000000000000000" pitchFamily="2" charset="0"/>
                <a:cs typeface="ADLaM Display" panose="02010000000000000000" pitchFamily="2" charset="0"/>
              </a:rPr>
              <a:t>DOC</a:t>
            </a:r>
          </a:p>
        </p:txBody>
      </p:sp>
      <p:sp>
        <p:nvSpPr>
          <p:cNvPr id="5" name="TextBox 4">
            <a:extLst>
              <a:ext uri="{FF2B5EF4-FFF2-40B4-BE49-F238E27FC236}">
                <a16:creationId xmlns:a16="http://schemas.microsoft.com/office/drawing/2014/main" id="{9603074B-DBED-FFF1-EA19-D0265CBFD69B}"/>
              </a:ext>
            </a:extLst>
          </p:cNvPr>
          <p:cNvSpPr txBox="1"/>
          <p:nvPr/>
        </p:nvSpPr>
        <p:spPr>
          <a:xfrm>
            <a:off x="6646370" y="4611132"/>
            <a:ext cx="4583131" cy="1815882"/>
          </a:xfrm>
          <a:prstGeom prst="rect">
            <a:avLst/>
          </a:prstGeom>
          <a:noFill/>
        </p:spPr>
        <p:txBody>
          <a:bodyPr wrap="square" rtlCol="0">
            <a:spAutoFit/>
          </a:bodyPr>
          <a:lstStyle/>
          <a:p>
            <a:pPr algn="ctr"/>
            <a:r>
              <a:rPr lang="en-US" sz="2800" dirty="0">
                <a:latin typeface="Aharoni" panose="02010803020104030203" pitchFamily="2" charset="-79"/>
                <a:cs typeface="Aharoni" panose="02010803020104030203" pitchFamily="2" charset="-79"/>
              </a:rPr>
              <a:t>Anatomy of the R Markdown workflow when you knit a file in RStudio</a:t>
            </a:r>
          </a:p>
        </p:txBody>
      </p:sp>
    </p:spTree>
    <p:extLst>
      <p:ext uri="{BB962C8B-B14F-4D97-AF65-F5344CB8AC3E}">
        <p14:creationId xmlns:p14="http://schemas.microsoft.com/office/powerpoint/2010/main" val="7539805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57BB5963-A084-AE73-1FF2-DED2BED76F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4691" y="487974"/>
            <a:ext cx="5611999" cy="56518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7261913-3F7A-7BF3-A9F0-CCB27FF59459}"/>
              </a:ext>
            </a:extLst>
          </p:cNvPr>
          <p:cNvSpPr txBox="1"/>
          <p:nvPr/>
        </p:nvSpPr>
        <p:spPr>
          <a:xfrm>
            <a:off x="417186" y="1659285"/>
            <a:ext cx="4583131" cy="3539430"/>
          </a:xfrm>
          <a:prstGeom prst="rect">
            <a:avLst/>
          </a:prstGeom>
          <a:noFill/>
        </p:spPr>
        <p:txBody>
          <a:bodyPr wrap="square" rtlCol="0">
            <a:spAutoFit/>
          </a:bodyPr>
          <a:lstStyle/>
          <a:p>
            <a:pPr algn="ctr"/>
            <a:r>
              <a:rPr lang="en-US" sz="2800" dirty="0">
                <a:latin typeface="Aharoni" panose="02010803020104030203" pitchFamily="2" charset="-79"/>
                <a:cs typeface="Aharoni" panose="02010803020104030203" pitchFamily="2" charset="-79"/>
              </a:rPr>
              <a:t>One reason RMD docs are powerful is </a:t>
            </a:r>
            <a:r>
              <a:rPr lang="en-US" sz="2800" dirty="0" err="1">
                <a:latin typeface="Aharoni" panose="02010803020104030203" pitchFamily="2" charset="-79"/>
                <a:cs typeface="Aharoni" panose="02010803020104030203" pitchFamily="2" charset="-79"/>
              </a:rPr>
              <a:t>Pandoc</a:t>
            </a:r>
            <a:r>
              <a:rPr lang="en-US" sz="2800" dirty="0">
                <a:latin typeface="Aharoni" panose="02010803020104030203" pitchFamily="2" charset="-79"/>
                <a:cs typeface="Aharoni" panose="02010803020104030203" pitchFamily="2" charset="-79"/>
              </a:rPr>
              <a:t> can render content into a variety of content types including HTML docs, word docs, slide decks, dashboards, and PDFs </a:t>
            </a:r>
            <a:br>
              <a:rPr lang="en-US" sz="2800" dirty="0">
                <a:latin typeface="Aharoni" panose="02010803020104030203" pitchFamily="2" charset="-79"/>
                <a:cs typeface="Aharoni" panose="02010803020104030203" pitchFamily="2" charset="-79"/>
              </a:rPr>
            </a:br>
            <a:r>
              <a:rPr lang="en-US" sz="2800" dirty="0">
                <a:latin typeface="Aharoni" panose="02010803020104030203" pitchFamily="2" charset="-79"/>
                <a:cs typeface="Aharoni" panose="02010803020104030203" pitchFamily="2" charset="-79"/>
              </a:rPr>
              <a:t>(to name a few)</a:t>
            </a:r>
          </a:p>
        </p:txBody>
      </p:sp>
    </p:spTree>
    <p:extLst>
      <p:ext uri="{BB962C8B-B14F-4D97-AF65-F5344CB8AC3E}">
        <p14:creationId xmlns:p14="http://schemas.microsoft.com/office/powerpoint/2010/main" val="133605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D1671-8B94-C7CB-E2BC-262F3ED34E9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0F730A3-B599-5B3D-EE76-D3192AAE431E}"/>
              </a:ext>
            </a:extLst>
          </p:cNvPr>
          <p:cNvSpPr txBox="1"/>
          <p:nvPr/>
        </p:nvSpPr>
        <p:spPr>
          <a:xfrm>
            <a:off x="414683" y="1381637"/>
            <a:ext cx="2760692" cy="584775"/>
          </a:xfrm>
          <a:prstGeom prst="rect">
            <a:avLst/>
          </a:prstGeom>
          <a:noFill/>
        </p:spPr>
        <p:txBody>
          <a:bodyPr wrap="none" rtlCol="0">
            <a:spAutoFit/>
          </a:bodyPr>
          <a:lstStyle/>
          <a:p>
            <a:r>
              <a:rPr lang="en-US" sz="3200" dirty="0">
                <a:latin typeface="ADLaM Display" panose="02010000000000000000" pitchFamily="2" charset="0"/>
                <a:ea typeface="ADLaM Display" panose="02010000000000000000" pitchFamily="2" charset="0"/>
                <a:cs typeface="ADLaM Display" panose="02010000000000000000" pitchFamily="2" charset="0"/>
              </a:rPr>
              <a:t>MARKDOWN</a:t>
            </a:r>
          </a:p>
        </p:txBody>
      </p:sp>
      <p:sp>
        <p:nvSpPr>
          <p:cNvPr id="5" name="TextBox 4">
            <a:extLst>
              <a:ext uri="{FF2B5EF4-FFF2-40B4-BE49-F238E27FC236}">
                <a16:creationId xmlns:a16="http://schemas.microsoft.com/office/drawing/2014/main" id="{B7B2560D-7539-847E-3C17-9DB99B85FA09}"/>
              </a:ext>
            </a:extLst>
          </p:cNvPr>
          <p:cNvSpPr txBox="1"/>
          <p:nvPr/>
        </p:nvSpPr>
        <p:spPr>
          <a:xfrm>
            <a:off x="1081532" y="4914947"/>
            <a:ext cx="1426994" cy="584775"/>
          </a:xfrm>
          <a:prstGeom prst="rect">
            <a:avLst/>
          </a:prstGeom>
          <a:noFill/>
        </p:spPr>
        <p:txBody>
          <a:bodyPr wrap="none" rtlCol="0">
            <a:spAutoFit/>
          </a:bodyPr>
          <a:lstStyle/>
          <a:p>
            <a:r>
              <a:rPr lang="en-US" sz="3200" dirty="0">
                <a:latin typeface="ADLaM Display" panose="02010000000000000000" pitchFamily="2" charset="0"/>
                <a:ea typeface="ADLaM Display" panose="02010000000000000000" pitchFamily="2" charset="0"/>
                <a:cs typeface="ADLaM Display" panose="02010000000000000000" pitchFamily="2" charset="0"/>
              </a:rPr>
              <a:t>KNITR</a:t>
            </a:r>
          </a:p>
        </p:txBody>
      </p:sp>
      <p:sp>
        <p:nvSpPr>
          <p:cNvPr id="6" name="TextBox 5">
            <a:extLst>
              <a:ext uri="{FF2B5EF4-FFF2-40B4-BE49-F238E27FC236}">
                <a16:creationId xmlns:a16="http://schemas.microsoft.com/office/drawing/2014/main" id="{1CFA2BDC-23E0-CABB-CDB1-299D2C8174A4}"/>
              </a:ext>
            </a:extLst>
          </p:cNvPr>
          <p:cNvSpPr txBox="1"/>
          <p:nvPr/>
        </p:nvSpPr>
        <p:spPr>
          <a:xfrm>
            <a:off x="5152595" y="4914947"/>
            <a:ext cx="1930337" cy="584775"/>
          </a:xfrm>
          <a:prstGeom prst="rect">
            <a:avLst/>
          </a:prstGeom>
          <a:noFill/>
        </p:spPr>
        <p:txBody>
          <a:bodyPr wrap="none" rtlCol="0">
            <a:spAutoFit/>
          </a:bodyPr>
          <a:lstStyle/>
          <a:p>
            <a:r>
              <a:rPr lang="en-US" sz="3200" dirty="0">
                <a:latin typeface="ADLaM Display" panose="02010000000000000000" pitchFamily="2" charset="0"/>
                <a:ea typeface="ADLaM Display" panose="02010000000000000000" pitchFamily="2" charset="0"/>
                <a:cs typeface="ADLaM Display" panose="02010000000000000000" pitchFamily="2" charset="0"/>
              </a:rPr>
              <a:t>PANDOC</a:t>
            </a:r>
          </a:p>
        </p:txBody>
      </p:sp>
      <p:cxnSp>
        <p:nvCxnSpPr>
          <p:cNvPr id="8" name="Straight Arrow Connector 7">
            <a:extLst>
              <a:ext uri="{FF2B5EF4-FFF2-40B4-BE49-F238E27FC236}">
                <a16:creationId xmlns:a16="http://schemas.microsoft.com/office/drawing/2014/main" id="{30BEE727-6EE6-D617-1009-53493DD66B6C}"/>
              </a:ext>
            </a:extLst>
          </p:cNvPr>
          <p:cNvCxnSpPr>
            <a:cxnSpLocks/>
            <a:stCxn id="24" idx="2"/>
            <a:endCxn id="5" idx="0"/>
          </p:cNvCxnSpPr>
          <p:nvPr/>
        </p:nvCxnSpPr>
        <p:spPr>
          <a:xfrm>
            <a:off x="1792625" y="4059294"/>
            <a:ext cx="2404" cy="855653"/>
          </a:xfrm>
          <a:prstGeom prst="straightConnector1">
            <a:avLst/>
          </a:prstGeom>
          <a:ln w="60325">
            <a:tailEnd type="triangle" w="lg" len="lg"/>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211870F2-4AD6-0A74-9D77-C32E33B5645D}"/>
              </a:ext>
            </a:extLst>
          </p:cNvPr>
          <p:cNvCxnSpPr>
            <a:cxnSpLocks/>
            <a:stCxn id="5" idx="3"/>
            <a:endCxn id="6" idx="1"/>
          </p:cNvCxnSpPr>
          <p:nvPr/>
        </p:nvCxnSpPr>
        <p:spPr>
          <a:xfrm>
            <a:off x="2508526" y="5207335"/>
            <a:ext cx="2644069" cy="0"/>
          </a:xfrm>
          <a:prstGeom prst="straightConnector1">
            <a:avLst/>
          </a:prstGeom>
          <a:ln w="60325">
            <a:tailEnd type="triangle" w="lg" len="lg"/>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8662AA4C-CFFE-6A1E-5027-D7D2BDDD8DF6}"/>
              </a:ext>
            </a:extLst>
          </p:cNvPr>
          <p:cNvCxnSpPr>
            <a:cxnSpLocks/>
            <a:stCxn id="6" idx="3"/>
          </p:cNvCxnSpPr>
          <p:nvPr/>
        </p:nvCxnSpPr>
        <p:spPr>
          <a:xfrm flipV="1">
            <a:off x="7082932" y="4228569"/>
            <a:ext cx="1289548" cy="978766"/>
          </a:xfrm>
          <a:prstGeom prst="straightConnector1">
            <a:avLst/>
          </a:prstGeom>
          <a:ln w="60325">
            <a:tailEnd type="triangle" w="lg" len="lg"/>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95C573E2-594B-691E-9B55-ED20BEC897FC}"/>
              </a:ext>
            </a:extLst>
          </p:cNvPr>
          <p:cNvSpPr txBox="1"/>
          <p:nvPr/>
        </p:nvSpPr>
        <p:spPr>
          <a:xfrm>
            <a:off x="1076724" y="2982076"/>
            <a:ext cx="1431802" cy="1077218"/>
          </a:xfrm>
          <a:prstGeom prst="rect">
            <a:avLst/>
          </a:prstGeom>
          <a:noFill/>
        </p:spPr>
        <p:txBody>
          <a:bodyPr wrap="none" rtlCol="0">
            <a:spAutoFit/>
          </a:bodyPr>
          <a:lstStyle/>
          <a:p>
            <a:r>
              <a:rPr lang="en-US" sz="3200" dirty="0">
                <a:latin typeface="ADLaM Display" panose="02010000000000000000" pitchFamily="2" charset="0"/>
                <a:ea typeface="ADLaM Display" panose="02010000000000000000" pitchFamily="2" charset="0"/>
                <a:cs typeface="ADLaM Display" panose="02010000000000000000" pitchFamily="2" charset="0"/>
              </a:rPr>
              <a:t>MD+R</a:t>
            </a:r>
          </a:p>
          <a:p>
            <a:r>
              <a:rPr lang="en-US" sz="3200" dirty="0">
                <a:latin typeface="ADLaM Display" panose="02010000000000000000" pitchFamily="2" charset="0"/>
                <a:ea typeface="ADLaM Display" panose="02010000000000000000" pitchFamily="2" charset="0"/>
                <a:cs typeface="ADLaM Display" panose="02010000000000000000" pitchFamily="2" charset="0"/>
              </a:rPr>
              <a:t>=RMD</a:t>
            </a:r>
          </a:p>
        </p:txBody>
      </p:sp>
      <p:cxnSp>
        <p:nvCxnSpPr>
          <p:cNvPr id="29" name="Straight Arrow Connector 28">
            <a:extLst>
              <a:ext uri="{FF2B5EF4-FFF2-40B4-BE49-F238E27FC236}">
                <a16:creationId xmlns:a16="http://schemas.microsoft.com/office/drawing/2014/main" id="{D1469F38-D97C-6BCF-EA3B-E771861AF8D1}"/>
              </a:ext>
            </a:extLst>
          </p:cNvPr>
          <p:cNvCxnSpPr>
            <a:cxnSpLocks/>
            <a:stCxn id="2" idx="2"/>
            <a:endCxn id="24" idx="0"/>
          </p:cNvCxnSpPr>
          <p:nvPr/>
        </p:nvCxnSpPr>
        <p:spPr>
          <a:xfrm flipH="1">
            <a:off x="1792625" y="1966412"/>
            <a:ext cx="2404" cy="1015664"/>
          </a:xfrm>
          <a:prstGeom prst="straightConnector1">
            <a:avLst/>
          </a:prstGeom>
          <a:ln w="60325">
            <a:tailEnd type="triangle" w="lg" len="lg"/>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72988C95-5DDC-733B-C91E-947DB196C85D}"/>
              </a:ext>
            </a:extLst>
          </p:cNvPr>
          <p:cNvSpPr txBox="1"/>
          <p:nvPr/>
        </p:nvSpPr>
        <p:spPr>
          <a:xfrm>
            <a:off x="394491" y="165921"/>
            <a:ext cx="8147230" cy="1107996"/>
          </a:xfrm>
          <a:prstGeom prst="rect">
            <a:avLst/>
          </a:prstGeom>
          <a:noFill/>
        </p:spPr>
        <p:txBody>
          <a:bodyPr wrap="none" rtlCol="0">
            <a:spAutoFit/>
          </a:bodyPr>
          <a:lstStyle/>
          <a:p>
            <a:r>
              <a:rPr lang="en-US" sz="6600" cap="all" dirty="0">
                <a:latin typeface="Abadi ExtraLight" panose="020F0502020204030204" pitchFamily="34" charset="0"/>
                <a:ea typeface="ADLaM Display" panose="02010000000000000000" pitchFamily="2" charset="0"/>
                <a:cs typeface="Aharoni" panose="02010803020104030203" pitchFamily="2" charset="-79"/>
              </a:rPr>
              <a:t>MARKDOWN TO HTML</a:t>
            </a:r>
          </a:p>
        </p:txBody>
      </p:sp>
      <p:sp>
        <p:nvSpPr>
          <p:cNvPr id="34" name="TextBox 33">
            <a:extLst>
              <a:ext uri="{FF2B5EF4-FFF2-40B4-BE49-F238E27FC236}">
                <a16:creationId xmlns:a16="http://schemas.microsoft.com/office/drawing/2014/main" id="{17E82922-03F5-BF78-9F14-D6281BF8523B}"/>
              </a:ext>
            </a:extLst>
          </p:cNvPr>
          <p:cNvSpPr txBox="1"/>
          <p:nvPr/>
        </p:nvSpPr>
        <p:spPr>
          <a:xfrm>
            <a:off x="2047039" y="4310974"/>
            <a:ext cx="1114408" cy="400110"/>
          </a:xfrm>
          <a:prstGeom prst="rect">
            <a:avLst/>
          </a:prstGeom>
          <a:noFill/>
        </p:spPr>
        <p:txBody>
          <a:bodyPr wrap="none" rtlCol="0">
            <a:spAutoFit/>
          </a:bodyPr>
          <a:lstStyle/>
          <a:p>
            <a:pPr algn="ctr"/>
            <a:r>
              <a:rPr lang="en-US" sz="2000" dirty="0">
                <a:solidFill>
                  <a:schemeClr val="accent1"/>
                </a:solidFill>
                <a:latin typeface="Aharoni" panose="02010803020104030203" pitchFamily="2" charset="-79"/>
                <a:cs typeface="Aharoni" panose="02010803020104030203" pitchFamily="2" charset="-79"/>
              </a:rPr>
              <a:t>RStudio</a:t>
            </a:r>
          </a:p>
        </p:txBody>
      </p:sp>
      <p:sp>
        <p:nvSpPr>
          <p:cNvPr id="40" name="TextBox 39">
            <a:extLst>
              <a:ext uri="{FF2B5EF4-FFF2-40B4-BE49-F238E27FC236}">
                <a16:creationId xmlns:a16="http://schemas.microsoft.com/office/drawing/2014/main" id="{74E88BBC-FDD7-A9C8-4C9B-374F1D570165}"/>
              </a:ext>
            </a:extLst>
          </p:cNvPr>
          <p:cNvSpPr txBox="1"/>
          <p:nvPr/>
        </p:nvSpPr>
        <p:spPr>
          <a:xfrm>
            <a:off x="4002010" y="1581693"/>
            <a:ext cx="5591644" cy="1631216"/>
          </a:xfrm>
          <a:prstGeom prst="rect">
            <a:avLst/>
          </a:prstGeom>
          <a:noFill/>
        </p:spPr>
        <p:txBody>
          <a:bodyPr wrap="square" rtlCol="0">
            <a:spAutoFit/>
          </a:bodyPr>
          <a:lstStyle/>
          <a:p>
            <a:pPr algn="ctr"/>
            <a:r>
              <a:rPr lang="en-US" sz="2000" b="1" dirty="0">
                <a:solidFill>
                  <a:srgbClr val="A02B93"/>
                </a:solidFill>
              </a:rPr>
              <a:t>When knitting, markdown text is converted to the proper text elements (titles, paragraphs, lists, tables, links, etc.) and each element is nicely formatted to create a readable and professional HTML document. </a:t>
            </a:r>
          </a:p>
        </p:txBody>
      </p:sp>
      <p:sp>
        <p:nvSpPr>
          <p:cNvPr id="7" name="TextBox 6">
            <a:extLst>
              <a:ext uri="{FF2B5EF4-FFF2-40B4-BE49-F238E27FC236}">
                <a16:creationId xmlns:a16="http://schemas.microsoft.com/office/drawing/2014/main" id="{769F74EE-3E69-B051-7A33-AC9EF3CDE073}"/>
              </a:ext>
            </a:extLst>
          </p:cNvPr>
          <p:cNvSpPr txBox="1"/>
          <p:nvPr/>
        </p:nvSpPr>
        <p:spPr>
          <a:xfrm>
            <a:off x="8666467" y="3712170"/>
            <a:ext cx="3053709" cy="584775"/>
          </a:xfrm>
          <a:prstGeom prst="rect">
            <a:avLst/>
          </a:prstGeom>
          <a:noFill/>
        </p:spPr>
        <p:txBody>
          <a:bodyPr wrap="square" rtlCol="0">
            <a:spAutoFit/>
          </a:bodyPr>
          <a:lstStyle/>
          <a:p>
            <a:r>
              <a:rPr lang="en-US" sz="3200" dirty="0">
                <a:solidFill>
                  <a:srgbClr val="A02B93"/>
                </a:solidFill>
                <a:latin typeface="ADLaM Display" panose="02010000000000000000" pitchFamily="2" charset="0"/>
                <a:ea typeface="ADLaM Display" panose="02010000000000000000" pitchFamily="2" charset="0"/>
                <a:cs typeface="ADLaM Display" panose="02010000000000000000" pitchFamily="2" charset="0"/>
              </a:rPr>
              <a:t>HTML</a:t>
            </a:r>
          </a:p>
        </p:txBody>
      </p:sp>
    </p:spTree>
    <p:extLst>
      <p:ext uri="{BB962C8B-B14F-4D97-AF65-F5344CB8AC3E}">
        <p14:creationId xmlns:p14="http://schemas.microsoft.com/office/powerpoint/2010/main" val="32462956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A98BBB-A26C-CDB3-FAAC-65203E1347DE}"/>
              </a:ext>
            </a:extLst>
          </p:cNvPr>
          <p:cNvSpPr txBox="1"/>
          <p:nvPr/>
        </p:nvSpPr>
        <p:spPr>
          <a:xfrm>
            <a:off x="414683" y="1381637"/>
            <a:ext cx="2760692" cy="584775"/>
          </a:xfrm>
          <a:prstGeom prst="rect">
            <a:avLst/>
          </a:prstGeom>
          <a:noFill/>
        </p:spPr>
        <p:txBody>
          <a:bodyPr wrap="none" rtlCol="0">
            <a:spAutoFit/>
          </a:bodyPr>
          <a:lstStyle/>
          <a:p>
            <a:r>
              <a:rPr lang="en-US" sz="3200" dirty="0">
                <a:latin typeface="ADLaM Display" panose="02010000000000000000" pitchFamily="2" charset="0"/>
                <a:ea typeface="ADLaM Display" panose="02010000000000000000" pitchFamily="2" charset="0"/>
                <a:cs typeface="ADLaM Display" panose="02010000000000000000" pitchFamily="2" charset="0"/>
              </a:rPr>
              <a:t>MARKDOWN</a:t>
            </a:r>
          </a:p>
        </p:txBody>
      </p:sp>
      <p:sp>
        <p:nvSpPr>
          <p:cNvPr id="3" name="TextBox 2">
            <a:extLst>
              <a:ext uri="{FF2B5EF4-FFF2-40B4-BE49-F238E27FC236}">
                <a16:creationId xmlns:a16="http://schemas.microsoft.com/office/drawing/2014/main" id="{0BE0E2BD-8BD6-386A-378F-C53DCF2036D6}"/>
              </a:ext>
            </a:extLst>
          </p:cNvPr>
          <p:cNvSpPr txBox="1"/>
          <p:nvPr/>
        </p:nvSpPr>
        <p:spPr>
          <a:xfrm>
            <a:off x="4847452" y="1381637"/>
            <a:ext cx="2752677" cy="2185214"/>
          </a:xfrm>
          <a:prstGeom prst="rect">
            <a:avLst/>
          </a:prstGeom>
          <a:noFill/>
        </p:spPr>
        <p:txBody>
          <a:bodyPr wrap="none" rtlCol="0">
            <a:spAutoFit/>
          </a:bodyPr>
          <a:lstStyle/>
          <a:p>
            <a:r>
              <a:rPr lang="en-US" sz="3200" dirty="0">
                <a:latin typeface="ADLaM Display" panose="02010000000000000000" pitchFamily="2" charset="0"/>
                <a:ea typeface="ADLaM Display" panose="02010000000000000000" pitchFamily="2" charset="0"/>
                <a:cs typeface="ADLaM Display" panose="02010000000000000000" pitchFamily="2" charset="0"/>
              </a:rPr>
              <a:t>JEKYLL</a:t>
            </a:r>
          </a:p>
          <a:p>
            <a:endParaRPr lang="en-US" sz="3200" dirty="0">
              <a:latin typeface="ADLaM Display" panose="02010000000000000000" pitchFamily="2" charset="0"/>
              <a:ea typeface="ADLaM Display" panose="02010000000000000000" pitchFamily="2" charset="0"/>
              <a:cs typeface="ADLaM Display" panose="02010000000000000000" pitchFamily="2" charset="0"/>
            </a:endParaRPr>
          </a:p>
          <a:p>
            <a:pPr marL="457200" indent="-457200">
              <a:buFont typeface="Arial" panose="020B0604020202020204" pitchFamily="34" charset="0"/>
              <a:buChar char="•"/>
            </a:pPr>
            <a:r>
              <a:rPr lang="en-US" sz="2400" dirty="0">
                <a:latin typeface="ADLaM Display" panose="02010000000000000000" pitchFamily="2" charset="0"/>
                <a:ea typeface="ADLaM Display" panose="02010000000000000000" pitchFamily="2" charset="0"/>
                <a:cs typeface="ADLaM Display" panose="02010000000000000000" pitchFamily="2" charset="0"/>
              </a:rPr>
              <a:t>GH Pages</a:t>
            </a:r>
          </a:p>
          <a:p>
            <a:pPr marL="457200" indent="-457200">
              <a:buFont typeface="Arial" panose="020B0604020202020204" pitchFamily="34" charset="0"/>
              <a:buChar char="•"/>
            </a:pPr>
            <a:r>
              <a:rPr lang="en-US" sz="2400" dirty="0">
                <a:latin typeface="ADLaM Display" panose="02010000000000000000" pitchFamily="2" charset="0"/>
                <a:ea typeface="ADLaM Display" panose="02010000000000000000" pitchFamily="2" charset="0"/>
                <a:cs typeface="ADLaM Display" panose="02010000000000000000" pitchFamily="2" charset="0"/>
              </a:rPr>
              <a:t>YAML settings</a:t>
            </a:r>
          </a:p>
          <a:p>
            <a:pPr marL="457200" indent="-457200">
              <a:buFont typeface="Arial" panose="020B0604020202020204" pitchFamily="34" charset="0"/>
              <a:buChar char="•"/>
            </a:pPr>
            <a:r>
              <a:rPr lang="en-US" sz="2400" dirty="0">
                <a:latin typeface="ADLaM Display" panose="02010000000000000000" pitchFamily="2" charset="0"/>
                <a:ea typeface="ADLaM Display" panose="02010000000000000000" pitchFamily="2" charset="0"/>
                <a:cs typeface="ADLaM Display" panose="02010000000000000000" pitchFamily="2" charset="0"/>
              </a:rPr>
              <a:t>Liquid Tags</a:t>
            </a:r>
            <a:endParaRPr lang="en-US" sz="2000"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4" name="TextBox 3">
            <a:extLst>
              <a:ext uri="{FF2B5EF4-FFF2-40B4-BE49-F238E27FC236}">
                <a16:creationId xmlns:a16="http://schemas.microsoft.com/office/drawing/2014/main" id="{28010013-BBEF-D088-2BC1-34580D3C0F63}"/>
              </a:ext>
            </a:extLst>
          </p:cNvPr>
          <p:cNvSpPr txBox="1"/>
          <p:nvPr/>
        </p:nvSpPr>
        <p:spPr>
          <a:xfrm>
            <a:off x="8523592" y="1381637"/>
            <a:ext cx="3053709" cy="2923877"/>
          </a:xfrm>
          <a:prstGeom prst="rect">
            <a:avLst/>
          </a:prstGeom>
          <a:noFill/>
        </p:spPr>
        <p:txBody>
          <a:bodyPr wrap="square" rtlCol="0">
            <a:spAutoFit/>
          </a:bodyPr>
          <a:lstStyle/>
          <a:p>
            <a:r>
              <a:rPr lang="en-US" sz="3200" dirty="0">
                <a:latin typeface="ADLaM Display" panose="02010000000000000000" pitchFamily="2" charset="0"/>
                <a:ea typeface="ADLaM Display" panose="02010000000000000000" pitchFamily="2" charset="0"/>
                <a:cs typeface="ADLaM Display" panose="02010000000000000000" pitchFamily="2" charset="0"/>
              </a:rPr>
              <a:t>HTML</a:t>
            </a:r>
          </a:p>
          <a:p>
            <a:endParaRPr lang="en-US" sz="3200" dirty="0">
              <a:latin typeface="ADLaM Display" panose="02010000000000000000" pitchFamily="2" charset="0"/>
              <a:ea typeface="ADLaM Display" panose="02010000000000000000" pitchFamily="2" charset="0"/>
              <a:cs typeface="ADLaM Display" panose="02010000000000000000" pitchFamily="2" charset="0"/>
            </a:endParaRPr>
          </a:p>
          <a:p>
            <a:pPr marL="457200" indent="-457200">
              <a:buFont typeface="Arial" panose="020B0604020202020204" pitchFamily="34" charset="0"/>
              <a:buChar char="•"/>
            </a:pPr>
            <a:r>
              <a:rPr lang="en-US" sz="2400" dirty="0">
                <a:latin typeface="ADLaM Display" panose="02010000000000000000" pitchFamily="2" charset="0"/>
                <a:ea typeface="ADLaM Display" panose="02010000000000000000" pitchFamily="2" charset="0"/>
                <a:cs typeface="ADLaM Display" panose="02010000000000000000" pitchFamily="2" charset="0"/>
              </a:rPr>
              <a:t>Tags</a:t>
            </a:r>
          </a:p>
          <a:p>
            <a:pPr marL="457200" indent="-457200">
              <a:buFont typeface="Arial" panose="020B0604020202020204" pitchFamily="34" charset="0"/>
              <a:buChar char="•"/>
            </a:pPr>
            <a:r>
              <a:rPr lang="en-US" sz="2400" dirty="0">
                <a:latin typeface="ADLaM Display" panose="02010000000000000000" pitchFamily="2" charset="0"/>
                <a:ea typeface="ADLaM Display" panose="02010000000000000000" pitchFamily="2" charset="0"/>
                <a:cs typeface="ADLaM Display" panose="02010000000000000000" pitchFamily="2" charset="0"/>
              </a:rPr>
              <a:t>Style (CSS)</a:t>
            </a:r>
          </a:p>
          <a:p>
            <a:pPr marL="457200" indent="-457200">
              <a:buFont typeface="Arial" panose="020B0604020202020204" pitchFamily="34" charset="0"/>
              <a:buChar char="•"/>
            </a:pPr>
            <a:r>
              <a:rPr lang="en-US" sz="2400" dirty="0">
                <a:latin typeface="ADLaM Display" panose="02010000000000000000" pitchFamily="2" charset="0"/>
                <a:ea typeface="ADLaM Display" panose="02010000000000000000" pitchFamily="2" charset="0"/>
                <a:cs typeface="ADLaM Display" panose="02010000000000000000" pitchFamily="2" charset="0"/>
              </a:rPr>
              <a:t>Page elements (head, header, body, footer)</a:t>
            </a:r>
          </a:p>
        </p:txBody>
      </p:sp>
      <p:sp>
        <p:nvSpPr>
          <p:cNvPr id="5" name="TextBox 4">
            <a:extLst>
              <a:ext uri="{FF2B5EF4-FFF2-40B4-BE49-F238E27FC236}">
                <a16:creationId xmlns:a16="http://schemas.microsoft.com/office/drawing/2014/main" id="{63E5D2C5-287C-B872-8CB5-75ED8F7FD8B2}"/>
              </a:ext>
            </a:extLst>
          </p:cNvPr>
          <p:cNvSpPr txBox="1"/>
          <p:nvPr/>
        </p:nvSpPr>
        <p:spPr>
          <a:xfrm>
            <a:off x="1081532" y="4914947"/>
            <a:ext cx="1426994" cy="584775"/>
          </a:xfrm>
          <a:prstGeom prst="rect">
            <a:avLst/>
          </a:prstGeom>
          <a:noFill/>
        </p:spPr>
        <p:txBody>
          <a:bodyPr wrap="none" rtlCol="0">
            <a:spAutoFit/>
          </a:bodyPr>
          <a:lstStyle/>
          <a:p>
            <a:r>
              <a:rPr lang="en-US" sz="3200" dirty="0">
                <a:solidFill>
                  <a:schemeClr val="bg1">
                    <a:lumMod val="75000"/>
                  </a:schemeClr>
                </a:solidFill>
                <a:latin typeface="ADLaM Display" panose="02010000000000000000" pitchFamily="2" charset="0"/>
                <a:ea typeface="ADLaM Display" panose="02010000000000000000" pitchFamily="2" charset="0"/>
                <a:cs typeface="ADLaM Display" panose="02010000000000000000" pitchFamily="2" charset="0"/>
              </a:rPr>
              <a:t>KNITR</a:t>
            </a:r>
          </a:p>
        </p:txBody>
      </p:sp>
      <p:sp>
        <p:nvSpPr>
          <p:cNvPr id="6" name="TextBox 5">
            <a:extLst>
              <a:ext uri="{FF2B5EF4-FFF2-40B4-BE49-F238E27FC236}">
                <a16:creationId xmlns:a16="http://schemas.microsoft.com/office/drawing/2014/main" id="{A933D2BD-F193-C684-5656-8C793D623F6C}"/>
              </a:ext>
            </a:extLst>
          </p:cNvPr>
          <p:cNvSpPr txBox="1"/>
          <p:nvPr/>
        </p:nvSpPr>
        <p:spPr>
          <a:xfrm>
            <a:off x="5152595" y="4914947"/>
            <a:ext cx="1930337" cy="584775"/>
          </a:xfrm>
          <a:prstGeom prst="rect">
            <a:avLst/>
          </a:prstGeom>
          <a:noFill/>
        </p:spPr>
        <p:txBody>
          <a:bodyPr wrap="none" rtlCol="0">
            <a:spAutoFit/>
          </a:bodyPr>
          <a:lstStyle/>
          <a:p>
            <a:r>
              <a:rPr lang="en-US" sz="3200" dirty="0">
                <a:solidFill>
                  <a:schemeClr val="bg1">
                    <a:lumMod val="75000"/>
                  </a:schemeClr>
                </a:solidFill>
                <a:latin typeface="ADLaM Display" panose="02010000000000000000" pitchFamily="2" charset="0"/>
                <a:ea typeface="ADLaM Display" panose="02010000000000000000" pitchFamily="2" charset="0"/>
                <a:cs typeface="ADLaM Display" panose="02010000000000000000" pitchFamily="2" charset="0"/>
              </a:rPr>
              <a:t>PANDOC</a:t>
            </a:r>
          </a:p>
        </p:txBody>
      </p:sp>
      <p:cxnSp>
        <p:nvCxnSpPr>
          <p:cNvPr id="8" name="Straight Arrow Connector 7">
            <a:extLst>
              <a:ext uri="{FF2B5EF4-FFF2-40B4-BE49-F238E27FC236}">
                <a16:creationId xmlns:a16="http://schemas.microsoft.com/office/drawing/2014/main" id="{4F8AE22B-59D9-7686-BB6F-5473AD9E82E3}"/>
              </a:ext>
            </a:extLst>
          </p:cNvPr>
          <p:cNvCxnSpPr>
            <a:cxnSpLocks/>
            <a:stCxn id="24" idx="2"/>
            <a:endCxn id="5" idx="0"/>
          </p:cNvCxnSpPr>
          <p:nvPr/>
        </p:nvCxnSpPr>
        <p:spPr>
          <a:xfrm>
            <a:off x="1792625" y="4059294"/>
            <a:ext cx="2404" cy="855653"/>
          </a:xfrm>
          <a:prstGeom prst="straightConnector1">
            <a:avLst/>
          </a:prstGeom>
          <a:ln w="60325">
            <a:solidFill>
              <a:schemeClr val="bg1">
                <a:lumMod val="75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4826876F-7974-FA97-920A-1842DC6AFB8D}"/>
              </a:ext>
            </a:extLst>
          </p:cNvPr>
          <p:cNvCxnSpPr>
            <a:cxnSpLocks/>
            <a:stCxn id="5" idx="3"/>
            <a:endCxn id="6" idx="1"/>
          </p:cNvCxnSpPr>
          <p:nvPr/>
        </p:nvCxnSpPr>
        <p:spPr>
          <a:xfrm>
            <a:off x="2508526" y="5207335"/>
            <a:ext cx="2644069" cy="0"/>
          </a:xfrm>
          <a:prstGeom prst="straightConnector1">
            <a:avLst/>
          </a:prstGeom>
          <a:ln w="60325">
            <a:solidFill>
              <a:schemeClr val="bg1">
                <a:lumMod val="75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96D67904-D7E9-D7A6-5D90-A1B57B7AFAFF}"/>
              </a:ext>
            </a:extLst>
          </p:cNvPr>
          <p:cNvCxnSpPr>
            <a:cxnSpLocks/>
            <a:stCxn id="6" idx="3"/>
          </p:cNvCxnSpPr>
          <p:nvPr/>
        </p:nvCxnSpPr>
        <p:spPr>
          <a:xfrm flipV="1">
            <a:off x="7082932" y="4228569"/>
            <a:ext cx="1289548" cy="978766"/>
          </a:xfrm>
          <a:prstGeom prst="straightConnector1">
            <a:avLst/>
          </a:prstGeom>
          <a:ln w="60325">
            <a:solidFill>
              <a:schemeClr val="bg1">
                <a:lumMod val="75000"/>
              </a:schemeClr>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E5BACC7F-C12C-F9A6-BC08-2D066FA37654}"/>
              </a:ext>
            </a:extLst>
          </p:cNvPr>
          <p:cNvCxnSpPr>
            <a:cxnSpLocks/>
            <a:stCxn id="2" idx="3"/>
          </p:cNvCxnSpPr>
          <p:nvPr/>
        </p:nvCxnSpPr>
        <p:spPr>
          <a:xfrm>
            <a:off x="3175375" y="1674025"/>
            <a:ext cx="1440660" cy="0"/>
          </a:xfrm>
          <a:prstGeom prst="straightConnector1">
            <a:avLst/>
          </a:prstGeom>
          <a:ln w="60325">
            <a:solidFill>
              <a:schemeClr val="accent5"/>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6E2C0A15-DC49-9274-5161-5C01F066F304}"/>
              </a:ext>
            </a:extLst>
          </p:cNvPr>
          <p:cNvCxnSpPr>
            <a:cxnSpLocks/>
          </p:cNvCxnSpPr>
          <p:nvPr/>
        </p:nvCxnSpPr>
        <p:spPr>
          <a:xfrm>
            <a:off x="6429380" y="1674024"/>
            <a:ext cx="1943100" cy="0"/>
          </a:xfrm>
          <a:prstGeom prst="straightConnector1">
            <a:avLst/>
          </a:prstGeom>
          <a:ln w="60325">
            <a:solidFill>
              <a:schemeClr val="accent5"/>
            </a:solidFill>
            <a:tailEnd type="triangle" w="lg" len="lg"/>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6B8C8A51-9A96-2934-4305-2CF93EB342F0}"/>
              </a:ext>
            </a:extLst>
          </p:cNvPr>
          <p:cNvSpPr txBox="1"/>
          <p:nvPr/>
        </p:nvSpPr>
        <p:spPr>
          <a:xfrm>
            <a:off x="1076724" y="2982076"/>
            <a:ext cx="1431802" cy="1077218"/>
          </a:xfrm>
          <a:prstGeom prst="rect">
            <a:avLst/>
          </a:prstGeom>
          <a:noFill/>
        </p:spPr>
        <p:txBody>
          <a:bodyPr wrap="none" rtlCol="0">
            <a:spAutoFit/>
          </a:bodyPr>
          <a:lstStyle/>
          <a:p>
            <a:r>
              <a:rPr lang="en-US" sz="3200" dirty="0">
                <a:solidFill>
                  <a:schemeClr val="bg1">
                    <a:lumMod val="75000"/>
                  </a:schemeClr>
                </a:solidFill>
                <a:latin typeface="ADLaM Display" panose="02010000000000000000" pitchFamily="2" charset="0"/>
                <a:ea typeface="ADLaM Display" panose="02010000000000000000" pitchFamily="2" charset="0"/>
                <a:cs typeface="ADLaM Display" panose="02010000000000000000" pitchFamily="2" charset="0"/>
              </a:rPr>
              <a:t>MD+R</a:t>
            </a:r>
          </a:p>
          <a:p>
            <a:r>
              <a:rPr lang="en-US" sz="3200" dirty="0">
                <a:solidFill>
                  <a:schemeClr val="bg1">
                    <a:lumMod val="75000"/>
                  </a:schemeClr>
                </a:solidFill>
                <a:latin typeface="ADLaM Display" panose="02010000000000000000" pitchFamily="2" charset="0"/>
                <a:ea typeface="ADLaM Display" panose="02010000000000000000" pitchFamily="2" charset="0"/>
                <a:cs typeface="ADLaM Display" panose="02010000000000000000" pitchFamily="2" charset="0"/>
              </a:rPr>
              <a:t>=RMD</a:t>
            </a:r>
          </a:p>
        </p:txBody>
      </p:sp>
      <p:cxnSp>
        <p:nvCxnSpPr>
          <p:cNvPr id="29" name="Straight Arrow Connector 28">
            <a:extLst>
              <a:ext uri="{FF2B5EF4-FFF2-40B4-BE49-F238E27FC236}">
                <a16:creationId xmlns:a16="http://schemas.microsoft.com/office/drawing/2014/main" id="{032D526D-B017-F453-8E31-0D87F981B938}"/>
              </a:ext>
            </a:extLst>
          </p:cNvPr>
          <p:cNvCxnSpPr>
            <a:cxnSpLocks/>
            <a:stCxn id="2" idx="2"/>
            <a:endCxn id="24" idx="0"/>
          </p:cNvCxnSpPr>
          <p:nvPr/>
        </p:nvCxnSpPr>
        <p:spPr>
          <a:xfrm flipH="1">
            <a:off x="1792625" y="1966412"/>
            <a:ext cx="2404" cy="1015664"/>
          </a:xfrm>
          <a:prstGeom prst="straightConnector1">
            <a:avLst/>
          </a:prstGeom>
          <a:ln w="60325">
            <a:solidFill>
              <a:schemeClr val="bg1">
                <a:lumMod val="75000"/>
              </a:schemeClr>
            </a:solidFill>
            <a:tailEnd type="triangle" w="lg" len="lg"/>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CC7AFF59-C372-BFD5-56D6-281D77C2E3CA}"/>
              </a:ext>
            </a:extLst>
          </p:cNvPr>
          <p:cNvSpPr txBox="1"/>
          <p:nvPr/>
        </p:nvSpPr>
        <p:spPr>
          <a:xfrm>
            <a:off x="394491" y="165921"/>
            <a:ext cx="7909986" cy="1107996"/>
          </a:xfrm>
          <a:prstGeom prst="rect">
            <a:avLst/>
          </a:prstGeom>
          <a:noFill/>
        </p:spPr>
        <p:txBody>
          <a:bodyPr wrap="none" rtlCol="0">
            <a:spAutoFit/>
          </a:bodyPr>
          <a:lstStyle/>
          <a:p>
            <a:r>
              <a:rPr lang="en-US" sz="6600" cap="all" dirty="0">
                <a:latin typeface="Abadi ExtraLight" panose="020F0502020204030204" pitchFamily="34" charset="0"/>
                <a:ea typeface="ADLaM Display" panose="02010000000000000000" pitchFamily="2" charset="0"/>
                <a:cs typeface="Aharoni" panose="02010803020104030203" pitchFamily="2" charset="-79"/>
              </a:rPr>
              <a:t>MARKDOWN TO HTML</a:t>
            </a:r>
          </a:p>
        </p:txBody>
      </p:sp>
      <p:sp>
        <p:nvSpPr>
          <p:cNvPr id="34" name="TextBox 33">
            <a:extLst>
              <a:ext uri="{FF2B5EF4-FFF2-40B4-BE49-F238E27FC236}">
                <a16:creationId xmlns:a16="http://schemas.microsoft.com/office/drawing/2014/main" id="{3BA265BD-6386-3C2F-AF50-3B816DD13142}"/>
              </a:ext>
            </a:extLst>
          </p:cNvPr>
          <p:cNvSpPr txBox="1"/>
          <p:nvPr/>
        </p:nvSpPr>
        <p:spPr>
          <a:xfrm>
            <a:off x="2047039" y="4310974"/>
            <a:ext cx="1114408" cy="400110"/>
          </a:xfrm>
          <a:prstGeom prst="rect">
            <a:avLst/>
          </a:prstGeom>
          <a:noFill/>
        </p:spPr>
        <p:txBody>
          <a:bodyPr wrap="none" rtlCol="0">
            <a:spAutoFit/>
          </a:bodyPr>
          <a:lstStyle/>
          <a:p>
            <a:pPr algn="ctr"/>
            <a:r>
              <a:rPr lang="en-US" sz="2000" dirty="0">
                <a:solidFill>
                  <a:schemeClr val="bg1">
                    <a:lumMod val="75000"/>
                  </a:schemeClr>
                </a:solidFill>
                <a:latin typeface="Aharoni" panose="02010803020104030203" pitchFamily="2" charset="-79"/>
                <a:cs typeface="Aharoni" panose="02010803020104030203" pitchFamily="2" charset="-79"/>
              </a:rPr>
              <a:t>RStudio</a:t>
            </a:r>
          </a:p>
        </p:txBody>
      </p:sp>
      <p:sp>
        <p:nvSpPr>
          <p:cNvPr id="35" name="TextBox 34">
            <a:extLst>
              <a:ext uri="{FF2B5EF4-FFF2-40B4-BE49-F238E27FC236}">
                <a16:creationId xmlns:a16="http://schemas.microsoft.com/office/drawing/2014/main" id="{23FA70E7-E3B9-93DA-AE64-360F8E40918E}"/>
              </a:ext>
            </a:extLst>
          </p:cNvPr>
          <p:cNvSpPr txBox="1"/>
          <p:nvPr/>
        </p:nvSpPr>
        <p:spPr>
          <a:xfrm>
            <a:off x="3173298" y="1951023"/>
            <a:ext cx="1378904" cy="523220"/>
          </a:xfrm>
          <a:prstGeom prst="rect">
            <a:avLst/>
          </a:prstGeom>
          <a:noFill/>
        </p:spPr>
        <p:txBody>
          <a:bodyPr wrap="none" rtlCol="0">
            <a:spAutoFit/>
          </a:bodyPr>
          <a:lstStyle/>
          <a:p>
            <a:pPr algn="ctr"/>
            <a:r>
              <a:rPr lang="en-US" sz="2800" dirty="0">
                <a:solidFill>
                  <a:schemeClr val="accent5"/>
                </a:solidFill>
                <a:latin typeface="Aharoni" panose="02010803020104030203" pitchFamily="2" charset="-79"/>
                <a:cs typeface="Aharoni" panose="02010803020104030203" pitchFamily="2" charset="-79"/>
              </a:rPr>
              <a:t>GitHub</a:t>
            </a:r>
          </a:p>
        </p:txBody>
      </p:sp>
      <p:sp>
        <p:nvSpPr>
          <p:cNvPr id="40" name="TextBox 39">
            <a:extLst>
              <a:ext uri="{FF2B5EF4-FFF2-40B4-BE49-F238E27FC236}">
                <a16:creationId xmlns:a16="http://schemas.microsoft.com/office/drawing/2014/main" id="{3E422F94-D274-68B7-40F6-1E34CA7B5B8C}"/>
              </a:ext>
            </a:extLst>
          </p:cNvPr>
          <p:cNvSpPr txBox="1"/>
          <p:nvPr/>
        </p:nvSpPr>
        <p:spPr>
          <a:xfrm>
            <a:off x="7972425" y="4914947"/>
            <a:ext cx="3933946" cy="1754326"/>
          </a:xfrm>
          <a:prstGeom prst="rect">
            <a:avLst/>
          </a:prstGeom>
          <a:noFill/>
        </p:spPr>
        <p:txBody>
          <a:bodyPr wrap="square" rtlCol="0">
            <a:spAutoFit/>
          </a:bodyPr>
          <a:lstStyle/>
          <a:p>
            <a:pPr algn="ctr"/>
            <a:r>
              <a:rPr lang="en-US" b="1" dirty="0">
                <a:solidFill>
                  <a:srgbClr val="A02B93"/>
                </a:solidFill>
              </a:rPr>
              <a:t>Now, instead of knitting RMD docs, we will be converting Markdown files to HTML using GitHub pages. Jekyll is equivalent to the </a:t>
            </a:r>
            <a:r>
              <a:rPr lang="en-US" b="1" dirty="0" err="1">
                <a:solidFill>
                  <a:srgbClr val="A02B93"/>
                </a:solidFill>
              </a:rPr>
              <a:t>KnitR</a:t>
            </a:r>
            <a:r>
              <a:rPr lang="en-US" b="1" dirty="0">
                <a:solidFill>
                  <a:srgbClr val="A02B93"/>
                </a:solidFill>
              </a:rPr>
              <a:t>/</a:t>
            </a:r>
            <a:r>
              <a:rPr lang="en-US" b="1" dirty="0" err="1">
                <a:solidFill>
                  <a:srgbClr val="A02B93"/>
                </a:solidFill>
              </a:rPr>
              <a:t>Pandoc</a:t>
            </a:r>
            <a:r>
              <a:rPr lang="en-US" b="1" dirty="0">
                <a:solidFill>
                  <a:srgbClr val="A02B93"/>
                </a:solidFill>
              </a:rPr>
              <a:t> framework used to render RMD files into HTML.</a:t>
            </a:r>
          </a:p>
        </p:txBody>
      </p:sp>
    </p:spTree>
    <p:extLst>
      <p:ext uri="{BB962C8B-B14F-4D97-AF65-F5344CB8AC3E}">
        <p14:creationId xmlns:p14="http://schemas.microsoft.com/office/powerpoint/2010/main" val="33634491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246A6-0EF3-93A9-EF8F-CE4866A6FD8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A491B49-A0BF-AB70-C0CD-030FD3963A0E}"/>
              </a:ext>
            </a:extLst>
          </p:cNvPr>
          <p:cNvSpPr txBox="1"/>
          <p:nvPr/>
        </p:nvSpPr>
        <p:spPr>
          <a:xfrm>
            <a:off x="414683" y="1381637"/>
            <a:ext cx="2760692" cy="584775"/>
          </a:xfrm>
          <a:prstGeom prst="rect">
            <a:avLst/>
          </a:prstGeom>
          <a:noFill/>
        </p:spPr>
        <p:txBody>
          <a:bodyPr wrap="none" rtlCol="0">
            <a:spAutoFit/>
          </a:bodyPr>
          <a:lstStyle/>
          <a:p>
            <a:r>
              <a:rPr lang="en-US" sz="3200" dirty="0">
                <a:latin typeface="ADLaM Display" panose="02010000000000000000" pitchFamily="2" charset="0"/>
                <a:ea typeface="ADLaM Display" panose="02010000000000000000" pitchFamily="2" charset="0"/>
                <a:cs typeface="ADLaM Display" panose="02010000000000000000" pitchFamily="2" charset="0"/>
              </a:rPr>
              <a:t>MARKDOWN</a:t>
            </a:r>
          </a:p>
        </p:txBody>
      </p:sp>
      <p:sp>
        <p:nvSpPr>
          <p:cNvPr id="3" name="TextBox 2">
            <a:extLst>
              <a:ext uri="{FF2B5EF4-FFF2-40B4-BE49-F238E27FC236}">
                <a16:creationId xmlns:a16="http://schemas.microsoft.com/office/drawing/2014/main" id="{D43A7814-57C4-7647-0CDB-632C43BA47FD}"/>
              </a:ext>
            </a:extLst>
          </p:cNvPr>
          <p:cNvSpPr txBox="1"/>
          <p:nvPr/>
        </p:nvSpPr>
        <p:spPr>
          <a:xfrm>
            <a:off x="4847452" y="1381637"/>
            <a:ext cx="2752677" cy="2185214"/>
          </a:xfrm>
          <a:prstGeom prst="rect">
            <a:avLst/>
          </a:prstGeom>
          <a:noFill/>
        </p:spPr>
        <p:txBody>
          <a:bodyPr wrap="none" rtlCol="0">
            <a:spAutoFit/>
          </a:bodyPr>
          <a:lstStyle/>
          <a:p>
            <a:r>
              <a:rPr lang="en-US" sz="3200" dirty="0">
                <a:latin typeface="ADLaM Display" panose="02010000000000000000" pitchFamily="2" charset="0"/>
                <a:ea typeface="ADLaM Display" panose="02010000000000000000" pitchFamily="2" charset="0"/>
                <a:cs typeface="ADLaM Display" panose="02010000000000000000" pitchFamily="2" charset="0"/>
              </a:rPr>
              <a:t>JEKYLL</a:t>
            </a:r>
          </a:p>
          <a:p>
            <a:endParaRPr lang="en-US" sz="3200" dirty="0">
              <a:latin typeface="ADLaM Display" panose="02010000000000000000" pitchFamily="2" charset="0"/>
              <a:ea typeface="ADLaM Display" panose="02010000000000000000" pitchFamily="2" charset="0"/>
              <a:cs typeface="ADLaM Display" panose="02010000000000000000" pitchFamily="2" charset="0"/>
            </a:endParaRPr>
          </a:p>
          <a:p>
            <a:pPr marL="457200" indent="-457200">
              <a:buFont typeface="Arial" panose="020B0604020202020204" pitchFamily="34" charset="0"/>
              <a:buChar char="•"/>
            </a:pPr>
            <a:r>
              <a:rPr lang="en-US" sz="2400" dirty="0">
                <a:solidFill>
                  <a:srgbClr val="A02B93"/>
                </a:solidFill>
                <a:latin typeface="ADLaM Display" panose="02010000000000000000" pitchFamily="2" charset="0"/>
                <a:ea typeface="ADLaM Display" panose="02010000000000000000" pitchFamily="2" charset="0"/>
                <a:cs typeface="ADLaM Display" panose="02010000000000000000" pitchFamily="2" charset="0"/>
              </a:rPr>
              <a:t>GH Pages</a:t>
            </a:r>
          </a:p>
          <a:p>
            <a:pPr marL="457200" indent="-457200">
              <a:buFont typeface="Arial" panose="020B0604020202020204" pitchFamily="34" charset="0"/>
              <a:buChar char="•"/>
            </a:pPr>
            <a:r>
              <a:rPr lang="en-US" sz="2400" dirty="0">
                <a:solidFill>
                  <a:srgbClr val="A02B93"/>
                </a:solidFill>
                <a:latin typeface="ADLaM Display" panose="02010000000000000000" pitchFamily="2" charset="0"/>
                <a:ea typeface="ADLaM Display" panose="02010000000000000000" pitchFamily="2" charset="0"/>
                <a:cs typeface="ADLaM Display" panose="02010000000000000000" pitchFamily="2" charset="0"/>
              </a:rPr>
              <a:t>YAML settings</a:t>
            </a:r>
          </a:p>
          <a:p>
            <a:pPr marL="457200" indent="-457200">
              <a:buFont typeface="Arial" panose="020B0604020202020204" pitchFamily="34" charset="0"/>
              <a:buChar char="•"/>
            </a:pPr>
            <a:r>
              <a:rPr lang="en-US" sz="2400" dirty="0">
                <a:solidFill>
                  <a:srgbClr val="A02B93"/>
                </a:solidFill>
                <a:latin typeface="ADLaM Display" panose="02010000000000000000" pitchFamily="2" charset="0"/>
                <a:ea typeface="ADLaM Display" panose="02010000000000000000" pitchFamily="2" charset="0"/>
                <a:cs typeface="ADLaM Display" panose="02010000000000000000" pitchFamily="2" charset="0"/>
              </a:rPr>
              <a:t>Liquid Tags</a:t>
            </a:r>
            <a:endParaRPr lang="en-US" sz="2000" dirty="0">
              <a:solidFill>
                <a:srgbClr val="A02B93"/>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4" name="TextBox 3">
            <a:extLst>
              <a:ext uri="{FF2B5EF4-FFF2-40B4-BE49-F238E27FC236}">
                <a16:creationId xmlns:a16="http://schemas.microsoft.com/office/drawing/2014/main" id="{05BACFA0-B1B8-7E7D-6BD4-02755E7A27AA}"/>
              </a:ext>
            </a:extLst>
          </p:cNvPr>
          <p:cNvSpPr txBox="1"/>
          <p:nvPr/>
        </p:nvSpPr>
        <p:spPr>
          <a:xfrm>
            <a:off x="8523592" y="1381637"/>
            <a:ext cx="3053709" cy="2923877"/>
          </a:xfrm>
          <a:prstGeom prst="rect">
            <a:avLst/>
          </a:prstGeom>
          <a:noFill/>
        </p:spPr>
        <p:txBody>
          <a:bodyPr wrap="square" rtlCol="0">
            <a:spAutoFit/>
          </a:bodyPr>
          <a:lstStyle/>
          <a:p>
            <a:r>
              <a:rPr lang="en-US" sz="3200" dirty="0">
                <a:latin typeface="ADLaM Display" panose="02010000000000000000" pitchFamily="2" charset="0"/>
                <a:ea typeface="ADLaM Display" panose="02010000000000000000" pitchFamily="2" charset="0"/>
                <a:cs typeface="ADLaM Display" panose="02010000000000000000" pitchFamily="2" charset="0"/>
              </a:rPr>
              <a:t>HTML</a:t>
            </a:r>
          </a:p>
          <a:p>
            <a:endParaRPr lang="en-US" sz="3200" dirty="0">
              <a:latin typeface="ADLaM Display" panose="02010000000000000000" pitchFamily="2" charset="0"/>
              <a:ea typeface="ADLaM Display" panose="02010000000000000000" pitchFamily="2" charset="0"/>
              <a:cs typeface="ADLaM Display" panose="02010000000000000000" pitchFamily="2" charset="0"/>
            </a:endParaRPr>
          </a:p>
          <a:p>
            <a:pPr marL="457200" indent="-457200">
              <a:buFont typeface="Arial" panose="020B0604020202020204" pitchFamily="34" charset="0"/>
              <a:buChar char="•"/>
            </a:pPr>
            <a:r>
              <a:rPr lang="en-US" sz="2400" dirty="0">
                <a:solidFill>
                  <a:srgbClr val="A02B93"/>
                </a:solidFill>
                <a:latin typeface="ADLaM Display" panose="02010000000000000000" pitchFamily="2" charset="0"/>
                <a:ea typeface="ADLaM Display" panose="02010000000000000000" pitchFamily="2" charset="0"/>
                <a:cs typeface="ADLaM Display" panose="02010000000000000000" pitchFamily="2" charset="0"/>
              </a:rPr>
              <a:t>Tags</a:t>
            </a:r>
          </a:p>
          <a:p>
            <a:pPr marL="457200" indent="-457200">
              <a:buFont typeface="Arial" panose="020B0604020202020204" pitchFamily="34" charset="0"/>
              <a:buChar char="•"/>
            </a:pPr>
            <a:r>
              <a:rPr lang="en-US" sz="2400" dirty="0">
                <a:solidFill>
                  <a:srgbClr val="A02B93"/>
                </a:solidFill>
                <a:latin typeface="ADLaM Display" panose="02010000000000000000" pitchFamily="2" charset="0"/>
                <a:ea typeface="ADLaM Display" panose="02010000000000000000" pitchFamily="2" charset="0"/>
                <a:cs typeface="ADLaM Display" panose="02010000000000000000" pitchFamily="2" charset="0"/>
              </a:rPr>
              <a:t>Style (CSS)</a:t>
            </a:r>
          </a:p>
          <a:p>
            <a:pPr marL="457200" indent="-457200">
              <a:buFont typeface="Arial" panose="020B0604020202020204" pitchFamily="34" charset="0"/>
              <a:buChar char="•"/>
            </a:pPr>
            <a:r>
              <a:rPr lang="en-US" sz="2400" dirty="0">
                <a:solidFill>
                  <a:srgbClr val="A02B93"/>
                </a:solidFill>
                <a:latin typeface="ADLaM Display" panose="02010000000000000000" pitchFamily="2" charset="0"/>
                <a:ea typeface="ADLaM Display" panose="02010000000000000000" pitchFamily="2" charset="0"/>
                <a:cs typeface="ADLaM Display" panose="02010000000000000000" pitchFamily="2" charset="0"/>
              </a:rPr>
              <a:t>Page elements (head, header, body, footer)</a:t>
            </a:r>
          </a:p>
        </p:txBody>
      </p:sp>
      <p:cxnSp>
        <p:nvCxnSpPr>
          <p:cNvPr id="17" name="Straight Arrow Connector 16">
            <a:extLst>
              <a:ext uri="{FF2B5EF4-FFF2-40B4-BE49-F238E27FC236}">
                <a16:creationId xmlns:a16="http://schemas.microsoft.com/office/drawing/2014/main" id="{6CCD39BA-E054-AC5E-3E4B-4B51E397A2D0}"/>
              </a:ext>
            </a:extLst>
          </p:cNvPr>
          <p:cNvCxnSpPr>
            <a:cxnSpLocks/>
            <a:stCxn id="2" idx="3"/>
          </p:cNvCxnSpPr>
          <p:nvPr/>
        </p:nvCxnSpPr>
        <p:spPr>
          <a:xfrm>
            <a:off x="3175375" y="1674025"/>
            <a:ext cx="1440660" cy="0"/>
          </a:xfrm>
          <a:prstGeom prst="straightConnector1">
            <a:avLst/>
          </a:prstGeom>
          <a:ln w="60325">
            <a:solidFill>
              <a:schemeClr val="accent5"/>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9E172D35-5492-8329-D11A-FEFB0728B582}"/>
              </a:ext>
            </a:extLst>
          </p:cNvPr>
          <p:cNvCxnSpPr>
            <a:cxnSpLocks/>
          </p:cNvCxnSpPr>
          <p:nvPr/>
        </p:nvCxnSpPr>
        <p:spPr>
          <a:xfrm>
            <a:off x="6429380" y="1674024"/>
            <a:ext cx="1943100" cy="0"/>
          </a:xfrm>
          <a:prstGeom prst="straightConnector1">
            <a:avLst/>
          </a:prstGeom>
          <a:ln w="60325">
            <a:solidFill>
              <a:schemeClr val="accent5"/>
            </a:solidFill>
            <a:tailEnd type="triangle" w="lg" len="lg"/>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9C351A4D-2EFF-A9AE-9C5C-1F3B7BB701BB}"/>
              </a:ext>
            </a:extLst>
          </p:cNvPr>
          <p:cNvSpPr txBox="1"/>
          <p:nvPr/>
        </p:nvSpPr>
        <p:spPr>
          <a:xfrm>
            <a:off x="394491" y="165921"/>
            <a:ext cx="7909986" cy="1107996"/>
          </a:xfrm>
          <a:prstGeom prst="rect">
            <a:avLst/>
          </a:prstGeom>
          <a:noFill/>
        </p:spPr>
        <p:txBody>
          <a:bodyPr wrap="none" rtlCol="0">
            <a:spAutoFit/>
          </a:bodyPr>
          <a:lstStyle/>
          <a:p>
            <a:r>
              <a:rPr lang="en-US" sz="6600" cap="all" dirty="0">
                <a:latin typeface="Abadi ExtraLight" panose="020F0502020204030204" pitchFamily="34" charset="0"/>
                <a:ea typeface="ADLaM Display" panose="02010000000000000000" pitchFamily="2" charset="0"/>
                <a:cs typeface="Aharoni" panose="02010803020104030203" pitchFamily="2" charset="-79"/>
              </a:rPr>
              <a:t>MARKDOWN TO HTML</a:t>
            </a:r>
          </a:p>
        </p:txBody>
      </p:sp>
      <p:sp>
        <p:nvSpPr>
          <p:cNvPr id="35" name="TextBox 34">
            <a:extLst>
              <a:ext uri="{FF2B5EF4-FFF2-40B4-BE49-F238E27FC236}">
                <a16:creationId xmlns:a16="http://schemas.microsoft.com/office/drawing/2014/main" id="{C374E014-1A3D-7744-5A86-E318A4A4960A}"/>
              </a:ext>
            </a:extLst>
          </p:cNvPr>
          <p:cNvSpPr txBox="1"/>
          <p:nvPr/>
        </p:nvSpPr>
        <p:spPr>
          <a:xfrm>
            <a:off x="3173298" y="1951023"/>
            <a:ext cx="1378904" cy="523220"/>
          </a:xfrm>
          <a:prstGeom prst="rect">
            <a:avLst/>
          </a:prstGeom>
          <a:noFill/>
        </p:spPr>
        <p:txBody>
          <a:bodyPr wrap="none" rtlCol="0">
            <a:spAutoFit/>
          </a:bodyPr>
          <a:lstStyle/>
          <a:p>
            <a:pPr algn="ctr"/>
            <a:r>
              <a:rPr lang="en-US" sz="2800" dirty="0">
                <a:latin typeface="Aharoni" panose="02010803020104030203" pitchFamily="2" charset="-79"/>
                <a:cs typeface="Aharoni" panose="02010803020104030203" pitchFamily="2" charset="-79"/>
              </a:rPr>
              <a:t>GitHub</a:t>
            </a:r>
          </a:p>
        </p:txBody>
      </p:sp>
      <p:sp>
        <p:nvSpPr>
          <p:cNvPr id="40" name="TextBox 39">
            <a:extLst>
              <a:ext uri="{FF2B5EF4-FFF2-40B4-BE49-F238E27FC236}">
                <a16:creationId xmlns:a16="http://schemas.microsoft.com/office/drawing/2014/main" id="{654E8829-C543-F9DD-FFC2-73C49C869336}"/>
              </a:ext>
            </a:extLst>
          </p:cNvPr>
          <p:cNvSpPr txBox="1"/>
          <p:nvPr/>
        </p:nvSpPr>
        <p:spPr>
          <a:xfrm>
            <a:off x="792501" y="4029813"/>
            <a:ext cx="5751816" cy="2308324"/>
          </a:xfrm>
          <a:prstGeom prst="rect">
            <a:avLst/>
          </a:prstGeom>
          <a:noFill/>
        </p:spPr>
        <p:txBody>
          <a:bodyPr wrap="square" rtlCol="0">
            <a:spAutoFit/>
          </a:bodyPr>
          <a:lstStyle/>
          <a:p>
            <a:pPr algn="ctr"/>
            <a:r>
              <a:rPr lang="en-US" sz="2400" b="1" dirty="0"/>
              <a:t>In order to start building page templates, you will need to understand a few simple rules about how GitHub pages work, a few simple rules about how HTML files are organized, and some basic CSS. </a:t>
            </a:r>
          </a:p>
        </p:txBody>
      </p:sp>
    </p:spTree>
    <p:extLst>
      <p:ext uri="{BB962C8B-B14F-4D97-AF65-F5344CB8AC3E}">
        <p14:creationId xmlns:p14="http://schemas.microsoft.com/office/powerpoint/2010/main" val="31469692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D20FC-7275-B703-FDA1-4EA26D886AF6}"/>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HTML Pages</a:t>
            </a:r>
          </a:p>
        </p:txBody>
      </p:sp>
      <p:sp>
        <p:nvSpPr>
          <p:cNvPr id="3" name="Text Placeholder 2">
            <a:extLst>
              <a:ext uri="{FF2B5EF4-FFF2-40B4-BE49-F238E27FC236}">
                <a16:creationId xmlns:a16="http://schemas.microsoft.com/office/drawing/2014/main" id="{E630C537-EAD9-4DAC-C888-229BBE59887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0771339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E2F37BB-A252-0B81-D80C-72367ABFC150}"/>
              </a:ext>
            </a:extLst>
          </p:cNvPr>
          <p:cNvGrpSpPr/>
          <p:nvPr/>
        </p:nvGrpSpPr>
        <p:grpSpPr>
          <a:xfrm>
            <a:off x="703428" y="1106972"/>
            <a:ext cx="4488873" cy="5392730"/>
            <a:chOff x="6747968" y="1190099"/>
            <a:chExt cx="4488873" cy="5392730"/>
          </a:xfrm>
        </p:grpSpPr>
        <p:sp>
          <p:nvSpPr>
            <p:cNvPr id="3" name="TextBox 2">
              <a:extLst>
                <a:ext uri="{FF2B5EF4-FFF2-40B4-BE49-F238E27FC236}">
                  <a16:creationId xmlns:a16="http://schemas.microsoft.com/office/drawing/2014/main" id="{441611E5-03D4-3001-01B3-4A5F4E20B17E}"/>
                </a:ext>
              </a:extLst>
            </p:cNvPr>
            <p:cNvSpPr txBox="1"/>
            <p:nvPr/>
          </p:nvSpPr>
          <p:spPr>
            <a:xfrm>
              <a:off x="6906615" y="1388243"/>
              <a:ext cx="3945576" cy="4965462"/>
            </a:xfrm>
            <a:prstGeom prst="rect">
              <a:avLst/>
            </a:prstGeom>
            <a:noFill/>
          </p:spPr>
          <p:txBody>
            <a:bodyPr wrap="square">
              <a:spAutoFit/>
            </a:bodyPr>
            <a:lstStyle/>
            <a:p>
              <a:pPr algn="l">
                <a:spcAft>
                  <a:spcPts val="375"/>
                </a:spcAft>
                <a:buNone/>
              </a:pPr>
              <a:r>
                <a:rPr lang="en-US" b="0" i="0" dirty="0">
                  <a:solidFill>
                    <a:schemeClr val="accent1"/>
                  </a:solidFill>
                  <a:effectLst/>
                  <a:latin typeface="Courier New" panose="02070309020205020404" pitchFamily="49" charset="0"/>
                </a:rPr>
                <a:t> &lt;html&gt;</a:t>
              </a:r>
            </a:p>
            <a:p>
              <a:pPr algn="l">
                <a:spcAft>
                  <a:spcPts val="375"/>
                </a:spcAft>
                <a:buNone/>
              </a:pPr>
              <a:endParaRPr lang="en-US" b="0" i="0" dirty="0">
                <a:solidFill>
                  <a:srgbClr val="000000"/>
                </a:solidFill>
                <a:effectLst/>
                <a:latin typeface="Courier New" panose="02070309020205020404" pitchFamily="49" charset="0"/>
              </a:endParaRPr>
            </a:p>
            <a:p>
              <a:pPr lvl="1">
                <a:spcAft>
                  <a:spcPts val="375"/>
                </a:spcAft>
              </a:pPr>
              <a:r>
                <a:rPr lang="en-US" dirty="0">
                  <a:solidFill>
                    <a:schemeClr val="accent1"/>
                  </a:solidFill>
                  <a:latin typeface="Courier New" panose="02070309020205020404" pitchFamily="49" charset="0"/>
                </a:rPr>
                <a:t>&lt;head&gt;…&lt;/head&gt;</a:t>
              </a:r>
            </a:p>
            <a:p>
              <a:pPr lvl="1">
                <a:spcAft>
                  <a:spcPts val="375"/>
                </a:spcAft>
              </a:pPr>
              <a:endParaRPr lang="en-US" b="0" i="0" dirty="0">
                <a:solidFill>
                  <a:srgbClr val="000000"/>
                </a:solidFill>
                <a:effectLst/>
                <a:latin typeface="Courier New" panose="02070309020205020404" pitchFamily="49" charset="0"/>
              </a:endParaRPr>
            </a:p>
            <a:p>
              <a:pPr lvl="1">
                <a:spcAft>
                  <a:spcPts val="375"/>
                </a:spcAft>
              </a:pPr>
              <a:r>
                <a:rPr lang="en-US" b="1" i="0" dirty="0">
                  <a:solidFill>
                    <a:schemeClr val="accent2">
                      <a:lumMod val="75000"/>
                    </a:schemeClr>
                  </a:solidFill>
                  <a:effectLst/>
                  <a:latin typeface="Courier New" panose="02070309020205020404" pitchFamily="49" charset="0"/>
                </a:rPr>
                <a:t>&lt;body&gt; </a:t>
              </a:r>
            </a:p>
            <a:p>
              <a:pPr lvl="1">
                <a:spcAft>
                  <a:spcPts val="375"/>
                </a:spcAft>
              </a:pPr>
              <a:r>
                <a:rPr lang="en-US" b="1" i="0" dirty="0">
                  <a:solidFill>
                    <a:schemeClr val="accent2">
                      <a:lumMod val="75000"/>
                    </a:schemeClr>
                  </a:solidFill>
                  <a:effectLst/>
                  <a:latin typeface="Courier New" panose="02070309020205020404" pitchFamily="49" charset="0"/>
                </a:rPr>
                <a:t>  </a:t>
              </a:r>
            </a:p>
            <a:p>
              <a:pPr lvl="2">
                <a:spcAft>
                  <a:spcPts val="375"/>
                </a:spcAft>
              </a:pPr>
              <a:r>
                <a:rPr lang="en-US" b="1" dirty="0">
                  <a:solidFill>
                    <a:schemeClr val="accent2">
                      <a:lumMod val="75000"/>
                    </a:schemeClr>
                  </a:solidFill>
                  <a:latin typeface="Courier New" panose="02070309020205020404" pitchFamily="49" charset="0"/>
                </a:rPr>
                <a:t>&lt;header&gt;…&lt;/header&gt;</a:t>
              </a:r>
            </a:p>
            <a:p>
              <a:pPr lvl="2">
                <a:spcAft>
                  <a:spcPts val="375"/>
                </a:spcAft>
              </a:pPr>
              <a:endParaRPr lang="en-US" b="1" dirty="0">
                <a:solidFill>
                  <a:schemeClr val="accent2">
                    <a:lumMod val="75000"/>
                  </a:schemeClr>
                </a:solidFill>
                <a:latin typeface="Courier New" panose="02070309020205020404" pitchFamily="49" charset="0"/>
              </a:endParaRPr>
            </a:p>
            <a:p>
              <a:pPr lvl="2">
                <a:spcAft>
                  <a:spcPts val="375"/>
                </a:spcAft>
              </a:pPr>
              <a:r>
                <a:rPr lang="en-US" b="1" i="0" dirty="0">
                  <a:solidFill>
                    <a:schemeClr val="accent2">
                      <a:lumMod val="75000"/>
                    </a:schemeClr>
                  </a:solidFill>
                  <a:effectLst/>
                  <a:latin typeface="Courier New" panose="02070309020205020404" pitchFamily="49" charset="0"/>
                </a:rPr>
                <a:t>&lt;p&gt; ... &lt;/p&gt;</a:t>
              </a:r>
            </a:p>
            <a:p>
              <a:pPr lvl="2">
                <a:spcAft>
                  <a:spcPts val="375"/>
                </a:spcAft>
              </a:pPr>
              <a:r>
                <a:rPr lang="en-US" b="1" i="0" dirty="0">
                  <a:solidFill>
                    <a:schemeClr val="accent2">
                      <a:lumMod val="75000"/>
                    </a:schemeClr>
                  </a:solidFill>
                  <a:effectLst/>
                  <a:latin typeface="Courier New" panose="02070309020205020404" pitchFamily="49" charset="0"/>
                </a:rPr>
                <a:t>     </a:t>
              </a:r>
            </a:p>
            <a:p>
              <a:pPr lvl="2">
                <a:spcAft>
                  <a:spcPts val="375"/>
                </a:spcAft>
              </a:pPr>
              <a:r>
                <a:rPr lang="en-US" b="1" i="0" dirty="0">
                  <a:solidFill>
                    <a:schemeClr val="accent2">
                      <a:lumMod val="75000"/>
                    </a:schemeClr>
                  </a:solidFill>
                  <a:effectLst/>
                  <a:latin typeface="Courier New" panose="02070309020205020404" pitchFamily="49" charset="0"/>
                </a:rPr>
                <a:t>&lt;footer&gt;…&lt;/footer&gt;</a:t>
              </a:r>
            </a:p>
            <a:p>
              <a:pPr lvl="2">
                <a:spcAft>
                  <a:spcPts val="375"/>
                </a:spcAft>
              </a:pPr>
              <a:endParaRPr lang="en-US" b="1" i="0" dirty="0">
                <a:solidFill>
                  <a:schemeClr val="accent2">
                    <a:lumMod val="75000"/>
                  </a:schemeClr>
                </a:solidFill>
                <a:effectLst/>
                <a:latin typeface="Courier New" panose="02070309020205020404" pitchFamily="49" charset="0"/>
              </a:endParaRPr>
            </a:p>
            <a:p>
              <a:pPr lvl="1">
                <a:spcAft>
                  <a:spcPts val="375"/>
                </a:spcAft>
              </a:pPr>
              <a:r>
                <a:rPr lang="en-US" b="1" i="0" dirty="0">
                  <a:solidFill>
                    <a:schemeClr val="accent2">
                      <a:lumMod val="75000"/>
                    </a:schemeClr>
                  </a:solidFill>
                  <a:effectLst/>
                  <a:latin typeface="Courier New" panose="02070309020205020404" pitchFamily="49" charset="0"/>
                </a:rPr>
                <a:t>&lt;/body&gt; </a:t>
              </a:r>
            </a:p>
            <a:p>
              <a:pPr lvl="1">
                <a:spcAft>
                  <a:spcPts val="375"/>
                </a:spcAft>
              </a:pPr>
              <a:r>
                <a:rPr lang="en-US" b="0" i="0" dirty="0">
                  <a:solidFill>
                    <a:srgbClr val="000000"/>
                  </a:solidFill>
                  <a:effectLst/>
                  <a:latin typeface="Courier New" panose="02070309020205020404" pitchFamily="49" charset="0"/>
                </a:rPr>
                <a:t> </a:t>
              </a:r>
            </a:p>
            <a:p>
              <a:pPr algn="l">
                <a:spcAft>
                  <a:spcPts val="375"/>
                </a:spcAft>
                <a:buNone/>
              </a:pPr>
              <a:r>
                <a:rPr lang="en-US" b="0" i="0" dirty="0">
                  <a:solidFill>
                    <a:schemeClr val="accent1"/>
                  </a:solidFill>
                  <a:effectLst/>
                  <a:latin typeface="Courier New" panose="02070309020205020404" pitchFamily="49" charset="0"/>
                </a:rPr>
                <a:t>&lt;/html&gt; </a:t>
              </a:r>
              <a:endParaRPr lang="en-US" dirty="0">
                <a:solidFill>
                  <a:schemeClr val="accent1"/>
                </a:solidFill>
              </a:endParaRPr>
            </a:p>
          </p:txBody>
        </p:sp>
        <p:sp>
          <p:nvSpPr>
            <p:cNvPr id="4" name="Rectangle 3">
              <a:extLst>
                <a:ext uri="{FF2B5EF4-FFF2-40B4-BE49-F238E27FC236}">
                  <a16:creationId xmlns:a16="http://schemas.microsoft.com/office/drawing/2014/main" id="{0518CF1C-BEFC-3E6C-04F0-821BE46C4753}"/>
                </a:ext>
              </a:extLst>
            </p:cNvPr>
            <p:cNvSpPr/>
            <p:nvPr/>
          </p:nvSpPr>
          <p:spPr>
            <a:xfrm>
              <a:off x="6747968" y="1190099"/>
              <a:ext cx="4488873" cy="539273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8FE7193-A8CF-3F66-72EB-3854C3EDD63E}"/>
                </a:ext>
              </a:extLst>
            </p:cNvPr>
            <p:cNvSpPr/>
            <p:nvPr/>
          </p:nvSpPr>
          <p:spPr>
            <a:xfrm>
              <a:off x="7100393" y="2018251"/>
              <a:ext cx="3751798" cy="38576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9B26FDF5-4B59-B927-BC0B-15D043AB39F7}"/>
                </a:ext>
              </a:extLst>
            </p:cNvPr>
            <p:cNvSpPr/>
            <p:nvPr/>
          </p:nvSpPr>
          <p:spPr>
            <a:xfrm>
              <a:off x="7100392" y="2591106"/>
              <a:ext cx="3751799" cy="3141891"/>
            </a:xfrm>
            <a:prstGeom prst="rect">
              <a:avLst/>
            </a:prstGeom>
            <a:noFill/>
            <a:ln w="254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A4D24D5-6744-E85A-A4E2-1885BF5FACBA}"/>
                </a:ext>
              </a:extLst>
            </p:cNvPr>
            <p:cNvSpPr/>
            <p:nvPr/>
          </p:nvSpPr>
          <p:spPr>
            <a:xfrm>
              <a:off x="7467104" y="3321130"/>
              <a:ext cx="3062783" cy="385762"/>
            </a:xfrm>
            <a:prstGeom prst="rect">
              <a:avLst/>
            </a:prstGeom>
            <a:noFill/>
            <a:ln w="254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5990FCD9-B437-424D-6206-DD494AEDEBCA}"/>
                </a:ext>
              </a:extLst>
            </p:cNvPr>
            <p:cNvSpPr/>
            <p:nvPr/>
          </p:nvSpPr>
          <p:spPr>
            <a:xfrm>
              <a:off x="7467104" y="3809292"/>
              <a:ext cx="3062783" cy="699410"/>
            </a:xfrm>
            <a:prstGeom prst="rect">
              <a:avLst/>
            </a:prstGeom>
            <a:noFill/>
            <a:ln w="254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3797D09-DA21-4834-CBB8-3CB929F11A55}"/>
                </a:ext>
              </a:extLst>
            </p:cNvPr>
            <p:cNvSpPr/>
            <p:nvPr/>
          </p:nvSpPr>
          <p:spPr>
            <a:xfrm>
              <a:off x="7467104" y="4616536"/>
              <a:ext cx="3062783" cy="385762"/>
            </a:xfrm>
            <a:prstGeom prst="rect">
              <a:avLst/>
            </a:prstGeom>
            <a:noFill/>
            <a:ln w="254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 name="TextBox 9">
            <a:extLst>
              <a:ext uri="{FF2B5EF4-FFF2-40B4-BE49-F238E27FC236}">
                <a16:creationId xmlns:a16="http://schemas.microsoft.com/office/drawing/2014/main" id="{1228D474-A2F5-DD9B-3DF0-A95A9460054B}"/>
              </a:ext>
            </a:extLst>
          </p:cNvPr>
          <p:cNvSpPr txBox="1"/>
          <p:nvPr/>
        </p:nvSpPr>
        <p:spPr>
          <a:xfrm>
            <a:off x="1735320" y="282029"/>
            <a:ext cx="2419252" cy="584775"/>
          </a:xfrm>
          <a:prstGeom prst="rect">
            <a:avLst/>
          </a:prstGeom>
          <a:noFill/>
        </p:spPr>
        <p:txBody>
          <a:bodyPr wrap="none" rtlCol="0">
            <a:spAutoFit/>
          </a:bodyPr>
          <a:lstStyle/>
          <a:p>
            <a:r>
              <a:rPr lang="en-US" sz="3200" dirty="0">
                <a:latin typeface="Aharoni" panose="02010803020104030203" pitchFamily="2" charset="-79"/>
                <a:cs typeface="Aharoni" panose="02010803020104030203" pitchFamily="2" charset="-79"/>
              </a:rPr>
              <a:t>HTML PAGE</a:t>
            </a:r>
          </a:p>
        </p:txBody>
      </p:sp>
      <p:sp>
        <p:nvSpPr>
          <p:cNvPr id="11" name="TextBox 10">
            <a:extLst>
              <a:ext uri="{FF2B5EF4-FFF2-40B4-BE49-F238E27FC236}">
                <a16:creationId xmlns:a16="http://schemas.microsoft.com/office/drawing/2014/main" id="{653699D4-C8C9-32C8-602A-66FDCB5C6E3B}"/>
              </a:ext>
            </a:extLst>
          </p:cNvPr>
          <p:cNvSpPr txBox="1"/>
          <p:nvPr/>
        </p:nvSpPr>
        <p:spPr>
          <a:xfrm>
            <a:off x="6291696" y="1110191"/>
            <a:ext cx="4844451" cy="5355312"/>
          </a:xfrm>
          <a:prstGeom prst="rect">
            <a:avLst/>
          </a:prstGeom>
          <a:noFill/>
        </p:spPr>
        <p:txBody>
          <a:bodyPr wrap="square" rtlCol="0">
            <a:spAutoFit/>
          </a:bodyPr>
          <a:lstStyle/>
          <a:p>
            <a:r>
              <a:rPr lang="en-US" b="1" dirty="0"/>
              <a:t>First you must understand the bare minimum elements you need on an HTML page.</a:t>
            </a:r>
          </a:p>
          <a:p>
            <a:pPr algn="ctr"/>
            <a:endParaRPr lang="en-US" b="1" dirty="0"/>
          </a:p>
          <a:p>
            <a:pPr marL="285750" indent="-285750">
              <a:buFont typeface="Arial" panose="020B0604020202020204" pitchFamily="34" charset="0"/>
              <a:buChar char="•"/>
            </a:pPr>
            <a:r>
              <a:rPr lang="en-US" b="1" dirty="0"/>
              <a:t>HEAD: </a:t>
            </a:r>
            <a:r>
              <a:rPr lang="en-US" dirty="0"/>
              <a:t>load html packages, fonts, and other resources needed for the page</a:t>
            </a:r>
            <a:br>
              <a:rPr lang="en-US" b="1" dirty="0"/>
            </a:br>
            <a:endParaRPr lang="en-US" b="1" dirty="0"/>
          </a:p>
          <a:p>
            <a:pPr marL="285750" indent="-285750">
              <a:buFont typeface="Arial" panose="020B0604020202020204" pitchFamily="34" charset="0"/>
              <a:buChar char="•"/>
            </a:pPr>
            <a:r>
              <a:rPr lang="en-US" b="1" dirty="0"/>
              <a:t>BODY: </a:t>
            </a:r>
            <a:r>
              <a:rPr lang="en-US" dirty="0"/>
              <a:t>start of page content</a:t>
            </a:r>
            <a:br>
              <a:rPr lang="en-US" b="1" dirty="0"/>
            </a:br>
            <a:endParaRPr lang="en-US" b="1" dirty="0"/>
          </a:p>
          <a:p>
            <a:pPr marL="285750" indent="-285750">
              <a:buFont typeface="Arial" panose="020B0604020202020204" pitchFamily="34" charset="0"/>
              <a:buChar char="•"/>
            </a:pPr>
            <a:r>
              <a:rPr lang="en-US" b="1" dirty="0"/>
              <a:t>HEADER: </a:t>
            </a:r>
            <a:r>
              <a:rPr lang="en-US" dirty="0"/>
              <a:t>top of a page that often contains the page title and navigation bars</a:t>
            </a:r>
            <a:br>
              <a:rPr lang="en-US" b="1" dirty="0"/>
            </a:br>
            <a:endParaRPr lang="en-US" b="1" dirty="0"/>
          </a:p>
          <a:p>
            <a:pPr marL="285750" indent="-285750">
              <a:buFont typeface="Arial" panose="020B0604020202020204" pitchFamily="34" charset="0"/>
              <a:buChar char="•"/>
            </a:pPr>
            <a:r>
              <a:rPr lang="en-US" b="1" dirty="0"/>
              <a:t>MAIN or ARTICLE:</a:t>
            </a:r>
            <a:r>
              <a:rPr lang="en-US" dirty="0"/>
              <a:t> section that contains the actual text</a:t>
            </a:r>
            <a:br>
              <a:rPr lang="en-US" b="1" dirty="0"/>
            </a:br>
            <a:endParaRPr lang="en-US" b="1" dirty="0"/>
          </a:p>
          <a:p>
            <a:pPr marL="285750" indent="-285750">
              <a:buFont typeface="Arial" panose="020B0604020202020204" pitchFamily="34" charset="0"/>
              <a:buChar char="•"/>
            </a:pPr>
            <a:r>
              <a:rPr lang="en-US" b="1" dirty="0"/>
              <a:t>FOOTER: </a:t>
            </a:r>
            <a:r>
              <a:rPr lang="en-US" dirty="0"/>
              <a:t>elements at the bottom of a page</a:t>
            </a:r>
          </a:p>
          <a:p>
            <a:pPr marL="285750" indent="-285750">
              <a:buFont typeface="Arial" panose="020B0604020202020204" pitchFamily="34" charset="0"/>
              <a:buChar char="•"/>
            </a:pPr>
            <a:endParaRPr lang="en-US" b="1" dirty="0"/>
          </a:p>
          <a:p>
            <a:r>
              <a:rPr lang="en-US" dirty="0"/>
              <a:t>Note that elements are hierarchical – the body section contains the header, main, and footer sections. </a:t>
            </a:r>
          </a:p>
        </p:txBody>
      </p:sp>
    </p:spTree>
    <p:extLst>
      <p:ext uri="{BB962C8B-B14F-4D97-AF65-F5344CB8AC3E}">
        <p14:creationId xmlns:p14="http://schemas.microsoft.com/office/powerpoint/2010/main" val="19830582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a:extLst>
              <a:ext uri="{FF2B5EF4-FFF2-40B4-BE49-F238E27FC236}">
                <a16:creationId xmlns:a16="http://schemas.microsoft.com/office/drawing/2014/main" id="{B6A9D7BE-6158-FBCF-00FD-6EF4BD8A15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18166" y="3038476"/>
            <a:ext cx="2771250" cy="3276322"/>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HTML5 Semantics - GeeksforGeeks">
            <a:extLst>
              <a:ext uri="{FF2B5EF4-FFF2-40B4-BE49-F238E27FC236}">
                <a16:creationId xmlns:a16="http://schemas.microsoft.com/office/drawing/2014/main" id="{9D394CEB-5E13-BB0A-4571-3868245CF1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9346" y="3038476"/>
            <a:ext cx="2941914" cy="3360126"/>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HTML5 | Web design">
            <a:extLst>
              <a:ext uri="{FF2B5EF4-FFF2-40B4-BE49-F238E27FC236}">
                <a16:creationId xmlns:a16="http://schemas.microsoft.com/office/drawing/2014/main" id="{1403A788-1F69-E71B-DD2B-62475DB866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92" y="2074985"/>
            <a:ext cx="3260910" cy="4323617"/>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Arrow Connector 2">
            <a:extLst>
              <a:ext uri="{FF2B5EF4-FFF2-40B4-BE49-F238E27FC236}">
                <a16:creationId xmlns:a16="http://schemas.microsoft.com/office/drawing/2014/main" id="{6B0EA570-D118-FC20-ED9B-DF131F1B49AA}"/>
              </a:ext>
            </a:extLst>
          </p:cNvPr>
          <p:cNvCxnSpPr/>
          <p:nvPr/>
        </p:nvCxnSpPr>
        <p:spPr>
          <a:xfrm>
            <a:off x="3782083" y="4763599"/>
            <a:ext cx="562419" cy="0"/>
          </a:xfrm>
          <a:prstGeom prst="straightConnector1">
            <a:avLst/>
          </a:prstGeom>
          <a:ln w="85725">
            <a:solidFill>
              <a:schemeClr val="tx1">
                <a:lumMod val="65000"/>
                <a:lumOff val="3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 name="Straight Arrow Connector 3">
            <a:extLst>
              <a:ext uri="{FF2B5EF4-FFF2-40B4-BE49-F238E27FC236}">
                <a16:creationId xmlns:a16="http://schemas.microsoft.com/office/drawing/2014/main" id="{A22B0089-F9B7-110D-5A6F-55620D4C9779}"/>
              </a:ext>
            </a:extLst>
          </p:cNvPr>
          <p:cNvCxnSpPr/>
          <p:nvPr/>
        </p:nvCxnSpPr>
        <p:spPr>
          <a:xfrm>
            <a:off x="7920697" y="4763599"/>
            <a:ext cx="562419" cy="0"/>
          </a:xfrm>
          <a:prstGeom prst="straightConnector1">
            <a:avLst/>
          </a:prstGeom>
          <a:ln w="85725">
            <a:solidFill>
              <a:schemeClr val="tx1">
                <a:lumMod val="65000"/>
                <a:lumOff val="3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C2F9908F-B78E-20D4-CA11-1DFA35747BE8}"/>
              </a:ext>
            </a:extLst>
          </p:cNvPr>
          <p:cNvSpPr txBox="1"/>
          <p:nvPr/>
        </p:nvSpPr>
        <p:spPr>
          <a:xfrm>
            <a:off x="3537735" y="320659"/>
            <a:ext cx="4945381" cy="1754326"/>
          </a:xfrm>
          <a:prstGeom prst="rect">
            <a:avLst/>
          </a:prstGeom>
          <a:noFill/>
        </p:spPr>
        <p:txBody>
          <a:bodyPr wrap="square" rtlCol="0">
            <a:spAutoFit/>
          </a:bodyPr>
          <a:lstStyle/>
          <a:p>
            <a:pPr algn="ctr"/>
            <a:r>
              <a:rPr lang="en-US" b="1" dirty="0"/>
              <a:t>As you get more comfortable with HTML you can create more sophisticated layouts and add new page elements. Page layout is an advanced CSS skill and also an easy task to contract out to someone that specializes in website design. </a:t>
            </a:r>
          </a:p>
        </p:txBody>
      </p:sp>
    </p:spTree>
    <p:extLst>
      <p:ext uri="{BB962C8B-B14F-4D97-AF65-F5344CB8AC3E}">
        <p14:creationId xmlns:p14="http://schemas.microsoft.com/office/powerpoint/2010/main" val="15483265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E126-2147-F2D2-18E1-CD5ACC33CE6B}"/>
            </a:ext>
          </a:extLst>
        </p:cNvPr>
        <p:cNvGrpSpPr/>
        <p:nvPr/>
      </p:nvGrpSpPr>
      <p:grpSpPr>
        <a:xfrm>
          <a:off x="0" y="0"/>
          <a:ext cx="0" cy="0"/>
          <a:chOff x="0" y="0"/>
          <a:chExt cx="0" cy="0"/>
        </a:xfrm>
      </p:grpSpPr>
      <p:pic>
        <p:nvPicPr>
          <p:cNvPr id="4100" name="Picture 4" descr="Web page showing &lt;title&gt;, &lt;p&gt;, &lt;h1&gt;, &lt;ol&gt;, and other basic HTML elements">
            <a:extLst>
              <a:ext uri="{FF2B5EF4-FFF2-40B4-BE49-F238E27FC236}">
                <a16:creationId xmlns:a16="http://schemas.microsoft.com/office/drawing/2014/main" id="{24597613-71BC-888F-BC67-1D52681B9B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8765" y="947770"/>
            <a:ext cx="3692123" cy="5704568"/>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1">
            <a:extLst>
              <a:ext uri="{FF2B5EF4-FFF2-40B4-BE49-F238E27FC236}">
                <a16:creationId xmlns:a16="http://schemas.microsoft.com/office/drawing/2014/main" id="{BD0B3FD7-EEB6-29FD-8690-03D037F8DBC5}"/>
              </a:ext>
            </a:extLst>
          </p:cNvPr>
          <p:cNvGrpSpPr/>
          <p:nvPr/>
        </p:nvGrpSpPr>
        <p:grpSpPr>
          <a:xfrm>
            <a:off x="703428" y="1106972"/>
            <a:ext cx="4488873" cy="5392730"/>
            <a:chOff x="6747968" y="1190099"/>
            <a:chExt cx="4488873" cy="5392730"/>
          </a:xfrm>
        </p:grpSpPr>
        <p:sp>
          <p:nvSpPr>
            <p:cNvPr id="3" name="TextBox 2">
              <a:extLst>
                <a:ext uri="{FF2B5EF4-FFF2-40B4-BE49-F238E27FC236}">
                  <a16:creationId xmlns:a16="http://schemas.microsoft.com/office/drawing/2014/main" id="{9C509AE8-11A8-F1C6-2DA6-23D9F2698F18}"/>
                </a:ext>
              </a:extLst>
            </p:cNvPr>
            <p:cNvSpPr txBox="1"/>
            <p:nvPr/>
          </p:nvSpPr>
          <p:spPr>
            <a:xfrm>
              <a:off x="6906615" y="1388243"/>
              <a:ext cx="3945576" cy="4965462"/>
            </a:xfrm>
            <a:prstGeom prst="rect">
              <a:avLst/>
            </a:prstGeom>
            <a:noFill/>
          </p:spPr>
          <p:txBody>
            <a:bodyPr wrap="square">
              <a:spAutoFit/>
            </a:bodyPr>
            <a:lstStyle/>
            <a:p>
              <a:pPr algn="l">
                <a:spcAft>
                  <a:spcPts val="375"/>
                </a:spcAft>
                <a:buNone/>
              </a:pPr>
              <a:r>
                <a:rPr lang="en-US" b="0" i="0" dirty="0">
                  <a:solidFill>
                    <a:schemeClr val="accent1"/>
                  </a:solidFill>
                  <a:effectLst/>
                  <a:latin typeface="Courier New" panose="02070309020205020404" pitchFamily="49" charset="0"/>
                </a:rPr>
                <a:t> &lt;html&gt;</a:t>
              </a:r>
            </a:p>
            <a:p>
              <a:pPr algn="l">
                <a:spcAft>
                  <a:spcPts val="375"/>
                </a:spcAft>
                <a:buNone/>
              </a:pPr>
              <a:endParaRPr lang="en-US" b="0" i="0" dirty="0">
                <a:solidFill>
                  <a:srgbClr val="000000"/>
                </a:solidFill>
                <a:effectLst/>
                <a:latin typeface="Courier New" panose="02070309020205020404" pitchFamily="49" charset="0"/>
              </a:endParaRPr>
            </a:p>
            <a:p>
              <a:pPr lvl="1">
                <a:spcAft>
                  <a:spcPts val="375"/>
                </a:spcAft>
              </a:pPr>
              <a:r>
                <a:rPr lang="en-US" dirty="0">
                  <a:solidFill>
                    <a:schemeClr val="accent1"/>
                  </a:solidFill>
                  <a:latin typeface="Courier New" panose="02070309020205020404" pitchFamily="49" charset="0"/>
                </a:rPr>
                <a:t>&lt;head&gt;…&lt;/head&gt;</a:t>
              </a:r>
            </a:p>
            <a:p>
              <a:pPr lvl="1">
                <a:spcAft>
                  <a:spcPts val="375"/>
                </a:spcAft>
              </a:pPr>
              <a:endParaRPr lang="en-US" b="0" i="0" dirty="0">
                <a:solidFill>
                  <a:srgbClr val="000000"/>
                </a:solidFill>
                <a:effectLst/>
                <a:latin typeface="Courier New" panose="02070309020205020404" pitchFamily="49" charset="0"/>
              </a:endParaRPr>
            </a:p>
            <a:p>
              <a:pPr lvl="1">
                <a:spcAft>
                  <a:spcPts val="375"/>
                </a:spcAft>
              </a:pPr>
              <a:r>
                <a:rPr lang="en-US" b="1" i="0" dirty="0">
                  <a:solidFill>
                    <a:schemeClr val="accent2">
                      <a:lumMod val="75000"/>
                    </a:schemeClr>
                  </a:solidFill>
                  <a:effectLst/>
                  <a:latin typeface="Courier New" panose="02070309020205020404" pitchFamily="49" charset="0"/>
                </a:rPr>
                <a:t>&lt;body&gt; </a:t>
              </a:r>
            </a:p>
            <a:p>
              <a:pPr lvl="1">
                <a:spcAft>
                  <a:spcPts val="375"/>
                </a:spcAft>
              </a:pPr>
              <a:r>
                <a:rPr lang="en-US" b="1" i="0" dirty="0">
                  <a:solidFill>
                    <a:schemeClr val="accent2">
                      <a:lumMod val="75000"/>
                    </a:schemeClr>
                  </a:solidFill>
                  <a:effectLst/>
                  <a:latin typeface="Courier New" panose="02070309020205020404" pitchFamily="49" charset="0"/>
                </a:rPr>
                <a:t>  </a:t>
              </a:r>
            </a:p>
            <a:p>
              <a:pPr lvl="2">
                <a:spcAft>
                  <a:spcPts val="375"/>
                </a:spcAft>
              </a:pPr>
              <a:r>
                <a:rPr lang="en-US" b="1" dirty="0">
                  <a:solidFill>
                    <a:schemeClr val="accent2">
                      <a:lumMod val="75000"/>
                    </a:schemeClr>
                  </a:solidFill>
                  <a:latin typeface="Courier New" panose="02070309020205020404" pitchFamily="49" charset="0"/>
                </a:rPr>
                <a:t>&lt;header&gt;…&lt;/header&gt;</a:t>
              </a:r>
            </a:p>
            <a:p>
              <a:pPr lvl="2">
                <a:spcAft>
                  <a:spcPts val="375"/>
                </a:spcAft>
              </a:pPr>
              <a:endParaRPr lang="en-US" b="1" dirty="0">
                <a:solidFill>
                  <a:schemeClr val="accent2">
                    <a:lumMod val="75000"/>
                  </a:schemeClr>
                </a:solidFill>
                <a:latin typeface="Courier New" panose="02070309020205020404" pitchFamily="49" charset="0"/>
              </a:endParaRPr>
            </a:p>
            <a:p>
              <a:pPr lvl="2">
                <a:spcAft>
                  <a:spcPts val="375"/>
                </a:spcAft>
              </a:pPr>
              <a:r>
                <a:rPr lang="en-US" b="1" i="0" dirty="0">
                  <a:solidFill>
                    <a:schemeClr val="accent2">
                      <a:lumMod val="75000"/>
                    </a:schemeClr>
                  </a:solidFill>
                  <a:effectLst/>
                  <a:latin typeface="Courier New" panose="02070309020205020404" pitchFamily="49" charset="0"/>
                </a:rPr>
                <a:t>&lt;p&gt; ... &lt;/p&gt;</a:t>
              </a:r>
            </a:p>
            <a:p>
              <a:pPr lvl="2">
                <a:spcAft>
                  <a:spcPts val="375"/>
                </a:spcAft>
              </a:pPr>
              <a:r>
                <a:rPr lang="en-US" b="1" i="0" dirty="0">
                  <a:solidFill>
                    <a:schemeClr val="accent2">
                      <a:lumMod val="75000"/>
                    </a:schemeClr>
                  </a:solidFill>
                  <a:effectLst/>
                  <a:latin typeface="Courier New" panose="02070309020205020404" pitchFamily="49" charset="0"/>
                </a:rPr>
                <a:t>     </a:t>
              </a:r>
            </a:p>
            <a:p>
              <a:pPr lvl="2">
                <a:spcAft>
                  <a:spcPts val="375"/>
                </a:spcAft>
              </a:pPr>
              <a:r>
                <a:rPr lang="en-US" b="1" i="0" dirty="0">
                  <a:solidFill>
                    <a:schemeClr val="accent2">
                      <a:lumMod val="75000"/>
                    </a:schemeClr>
                  </a:solidFill>
                  <a:effectLst/>
                  <a:latin typeface="Courier New" panose="02070309020205020404" pitchFamily="49" charset="0"/>
                </a:rPr>
                <a:t>&lt;footer&gt;…&lt;/footer&gt;</a:t>
              </a:r>
            </a:p>
            <a:p>
              <a:pPr lvl="2">
                <a:spcAft>
                  <a:spcPts val="375"/>
                </a:spcAft>
              </a:pPr>
              <a:endParaRPr lang="en-US" b="1" i="0" dirty="0">
                <a:solidFill>
                  <a:schemeClr val="accent2">
                    <a:lumMod val="75000"/>
                  </a:schemeClr>
                </a:solidFill>
                <a:effectLst/>
                <a:latin typeface="Courier New" panose="02070309020205020404" pitchFamily="49" charset="0"/>
              </a:endParaRPr>
            </a:p>
            <a:p>
              <a:pPr lvl="1">
                <a:spcAft>
                  <a:spcPts val="375"/>
                </a:spcAft>
              </a:pPr>
              <a:r>
                <a:rPr lang="en-US" b="1" i="0" dirty="0">
                  <a:solidFill>
                    <a:schemeClr val="accent2">
                      <a:lumMod val="75000"/>
                    </a:schemeClr>
                  </a:solidFill>
                  <a:effectLst/>
                  <a:latin typeface="Courier New" panose="02070309020205020404" pitchFamily="49" charset="0"/>
                </a:rPr>
                <a:t>&lt;/body&gt; </a:t>
              </a:r>
            </a:p>
            <a:p>
              <a:pPr lvl="1">
                <a:spcAft>
                  <a:spcPts val="375"/>
                </a:spcAft>
              </a:pPr>
              <a:r>
                <a:rPr lang="en-US" b="0" i="0" dirty="0">
                  <a:solidFill>
                    <a:srgbClr val="000000"/>
                  </a:solidFill>
                  <a:effectLst/>
                  <a:latin typeface="Courier New" panose="02070309020205020404" pitchFamily="49" charset="0"/>
                </a:rPr>
                <a:t> </a:t>
              </a:r>
            </a:p>
            <a:p>
              <a:pPr algn="l">
                <a:spcAft>
                  <a:spcPts val="375"/>
                </a:spcAft>
                <a:buNone/>
              </a:pPr>
              <a:r>
                <a:rPr lang="en-US" b="0" i="0" dirty="0">
                  <a:solidFill>
                    <a:schemeClr val="accent1"/>
                  </a:solidFill>
                  <a:effectLst/>
                  <a:latin typeface="Courier New" panose="02070309020205020404" pitchFamily="49" charset="0"/>
                </a:rPr>
                <a:t>&lt;/html&gt; </a:t>
              </a:r>
              <a:endParaRPr lang="en-US" dirty="0">
                <a:solidFill>
                  <a:schemeClr val="accent1"/>
                </a:solidFill>
              </a:endParaRPr>
            </a:p>
          </p:txBody>
        </p:sp>
        <p:sp>
          <p:nvSpPr>
            <p:cNvPr id="4" name="Rectangle 3">
              <a:extLst>
                <a:ext uri="{FF2B5EF4-FFF2-40B4-BE49-F238E27FC236}">
                  <a16:creationId xmlns:a16="http://schemas.microsoft.com/office/drawing/2014/main" id="{FF804DFE-CF02-674A-98A3-1F55476B626E}"/>
                </a:ext>
              </a:extLst>
            </p:cNvPr>
            <p:cNvSpPr/>
            <p:nvPr/>
          </p:nvSpPr>
          <p:spPr>
            <a:xfrm>
              <a:off x="6747968" y="1190099"/>
              <a:ext cx="4488873" cy="539273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D0748F0-7663-3542-ED09-E2835CA7A98D}"/>
                </a:ext>
              </a:extLst>
            </p:cNvPr>
            <p:cNvSpPr/>
            <p:nvPr/>
          </p:nvSpPr>
          <p:spPr>
            <a:xfrm>
              <a:off x="7100393" y="2018251"/>
              <a:ext cx="3751798" cy="38576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86180921-C58E-1A9E-A29D-B681C4B54CF8}"/>
                </a:ext>
              </a:extLst>
            </p:cNvPr>
            <p:cNvSpPr/>
            <p:nvPr/>
          </p:nvSpPr>
          <p:spPr>
            <a:xfrm>
              <a:off x="7100392" y="2591106"/>
              <a:ext cx="3751799" cy="3141891"/>
            </a:xfrm>
            <a:prstGeom prst="rect">
              <a:avLst/>
            </a:prstGeom>
            <a:noFill/>
            <a:ln w="254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0CC4D2A-989C-8A80-D31E-384088088EA5}"/>
                </a:ext>
              </a:extLst>
            </p:cNvPr>
            <p:cNvSpPr/>
            <p:nvPr/>
          </p:nvSpPr>
          <p:spPr>
            <a:xfrm>
              <a:off x="7467104" y="3321130"/>
              <a:ext cx="3062783" cy="385762"/>
            </a:xfrm>
            <a:prstGeom prst="rect">
              <a:avLst/>
            </a:prstGeom>
            <a:noFill/>
            <a:ln w="254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C824F0D5-70F5-7C99-075A-85D50D8FA55E}"/>
                </a:ext>
              </a:extLst>
            </p:cNvPr>
            <p:cNvSpPr/>
            <p:nvPr/>
          </p:nvSpPr>
          <p:spPr>
            <a:xfrm>
              <a:off x="7467104" y="3809292"/>
              <a:ext cx="3062783" cy="699410"/>
            </a:xfrm>
            <a:prstGeom prst="rect">
              <a:avLst/>
            </a:prstGeom>
            <a:noFill/>
            <a:ln w="254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F67BEB73-D3B5-6F2B-08BD-1D9A14A8EC9D}"/>
                </a:ext>
              </a:extLst>
            </p:cNvPr>
            <p:cNvSpPr/>
            <p:nvPr/>
          </p:nvSpPr>
          <p:spPr>
            <a:xfrm>
              <a:off x="7467104" y="4616536"/>
              <a:ext cx="3062783" cy="385762"/>
            </a:xfrm>
            <a:prstGeom prst="rect">
              <a:avLst/>
            </a:prstGeom>
            <a:noFill/>
            <a:ln w="254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 name="TextBox 9">
            <a:extLst>
              <a:ext uri="{FF2B5EF4-FFF2-40B4-BE49-F238E27FC236}">
                <a16:creationId xmlns:a16="http://schemas.microsoft.com/office/drawing/2014/main" id="{31B838C2-61FF-774F-94C7-DDF97381E65F}"/>
              </a:ext>
            </a:extLst>
          </p:cNvPr>
          <p:cNvSpPr txBox="1"/>
          <p:nvPr/>
        </p:nvSpPr>
        <p:spPr>
          <a:xfrm>
            <a:off x="1055852" y="355329"/>
            <a:ext cx="3281668" cy="584775"/>
          </a:xfrm>
          <a:prstGeom prst="rect">
            <a:avLst/>
          </a:prstGeom>
          <a:noFill/>
        </p:spPr>
        <p:txBody>
          <a:bodyPr wrap="none" rtlCol="0">
            <a:spAutoFit/>
          </a:bodyPr>
          <a:lstStyle/>
          <a:p>
            <a:r>
              <a:rPr lang="en-US" sz="3200" dirty="0">
                <a:latin typeface="Aharoni" panose="02010803020104030203" pitchFamily="2" charset="-79"/>
                <a:cs typeface="Aharoni" panose="02010803020104030203" pitchFamily="2" charset="-79"/>
              </a:rPr>
              <a:t>PAGE ELEMENTS</a:t>
            </a:r>
          </a:p>
        </p:txBody>
      </p:sp>
      <p:sp>
        <p:nvSpPr>
          <p:cNvPr id="11" name="TextBox 10">
            <a:extLst>
              <a:ext uri="{FF2B5EF4-FFF2-40B4-BE49-F238E27FC236}">
                <a16:creationId xmlns:a16="http://schemas.microsoft.com/office/drawing/2014/main" id="{94D6920E-123F-77F9-0E80-7BDE7B2274C3}"/>
              </a:ext>
            </a:extLst>
          </p:cNvPr>
          <p:cNvSpPr txBox="1"/>
          <p:nvPr/>
        </p:nvSpPr>
        <p:spPr>
          <a:xfrm>
            <a:off x="7209806" y="319301"/>
            <a:ext cx="4051109" cy="584775"/>
          </a:xfrm>
          <a:prstGeom prst="rect">
            <a:avLst/>
          </a:prstGeom>
          <a:noFill/>
        </p:spPr>
        <p:txBody>
          <a:bodyPr wrap="none" rtlCol="0">
            <a:spAutoFit/>
          </a:bodyPr>
          <a:lstStyle/>
          <a:p>
            <a:r>
              <a:rPr lang="en-US" sz="3200" dirty="0">
                <a:latin typeface="Aharoni" panose="02010803020104030203" pitchFamily="2" charset="-79"/>
                <a:cs typeface="Aharoni" panose="02010803020104030203" pitchFamily="2" charset="-79"/>
              </a:rPr>
              <a:t>CONTENT ELEMENTS</a:t>
            </a:r>
          </a:p>
        </p:txBody>
      </p:sp>
      <p:sp>
        <p:nvSpPr>
          <p:cNvPr id="12" name="TextBox 11">
            <a:extLst>
              <a:ext uri="{FF2B5EF4-FFF2-40B4-BE49-F238E27FC236}">
                <a16:creationId xmlns:a16="http://schemas.microsoft.com/office/drawing/2014/main" id="{FB055D49-C0D7-426E-9C9E-9C32AE0518A0}"/>
              </a:ext>
            </a:extLst>
          </p:cNvPr>
          <p:cNvSpPr txBox="1"/>
          <p:nvPr/>
        </p:nvSpPr>
        <p:spPr>
          <a:xfrm>
            <a:off x="11060888" y="1407010"/>
            <a:ext cx="755335" cy="400110"/>
          </a:xfrm>
          <a:prstGeom prst="rect">
            <a:avLst/>
          </a:prstGeom>
          <a:noFill/>
        </p:spPr>
        <p:txBody>
          <a:bodyPr wrap="none" rtlCol="0">
            <a:spAutoFit/>
          </a:bodyPr>
          <a:lstStyle/>
          <a:p>
            <a:r>
              <a:rPr lang="en-US" sz="2000" dirty="0">
                <a:latin typeface="Aharoni" panose="02010803020104030203" pitchFamily="2" charset="-79"/>
                <a:cs typeface="Aharoni" panose="02010803020104030203" pitchFamily="2" charset="-79"/>
              </a:rPr>
              <a:t>titles</a:t>
            </a:r>
          </a:p>
        </p:txBody>
      </p:sp>
      <p:sp>
        <p:nvSpPr>
          <p:cNvPr id="13" name="TextBox 12">
            <a:extLst>
              <a:ext uri="{FF2B5EF4-FFF2-40B4-BE49-F238E27FC236}">
                <a16:creationId xmlns:a16="http://schemas.microsoft.com/office/drawing/2014/main" id="{DAE2DCD1-4895-3FF6-5F73-9E3F3D4CE215}"/>
              </a:ext>
            </a:extLst>
          </p:cNvPr>
          <p:cNvSpPr txBox="1"/>
          <p:nvPr/>
        </p:nvSpPr>
        <p:spPr>
          <a:xfrm>
            <a:off x="11060888" y="2778410"/>
            <a:ext cx="638316" cy="400110"/>
          </a:xfrm>
          <a:prstGeom prst="rect">
            <a:avLst/>
          </a:prstGeom>
          <a:noFill/>
        </p:spPr>
        <p:txBody>
          <a:bodyPr wrap="none" rtlCol="0">
            <a:spAutoFit/>
          </a:bodyPr>
          <a:lstStyle/>
          <a:p>
            <a:r>
              <a:rPr lang="en-US" sz="2000" dirty="0">
                <a:latin typeface="Aharoni" panose="02010803020104030203" pitchFamily="2" charset="-79"/>
                <a:cs typeface="Aharoni" panose="02010803020104030203" pitchFamily="2" charset="-79"/>
              </a:rPr>
              <a:t>lists</a:t>
            </a:r>
          </a:p>
        </p:txBody>
      </p:sp>
      <p:sp>
        <p:nvSpPr>
          <p:cNvPr id="14" name="TextBox 13">
            <a:extLst>
              <a:ext uri="{FF2B5EF4-FFF2-40B4-BE49-F238E27FC236}">
                <a16:creationId xmlns:a16="http://schemas.microsoft.com/office/drawing/2014/main" id="{FD22BAD2-21A1-C3B8-1980-8A2F7040D818}"/>
              </a:ext>
            </a:extLst>
          </p:cNvPr>
          <p:cNvSpPr txBox="1"/>
          <p:nvPr/>
        </p:nvSpPr>
        <p:spPr>
          <a:xfrm>
            <a:off x="11060888" y="4094429"/>
            <a:ext cx="918841" cy="400110"/>
          </a:xfrm>
          <a:prstGeom prst="rect">
            <a:avLst/>
          </a:prstGeom>
          <a:noFill/>
        </p:spPr>
        <p:txBody>
          <a:bodyPr wrap="none" rtlCol="0">
            <a:spAutoFit/>
          </a:bodyPr>
          <a:lstStyle/>
          <a:p>
            <a:r>
              <a:rPr lang="en-US" sz="2000" dirty="0">
                <a:latin typeface="Aharoni" panose="02010803020104030203" pitchFamily="2" charset="-79"/>
                <a:cs typeface="Aharoni" panose="02010803020104030203" pitchFamily="2" charset="-79"/>
              </a:rPr>
              <a:t>tables</a:t>
            </a:r>
          </a:p>
        </p:txBody>
      </p:sp>
      <p:sp>
        <p:nvSpPr>
          <p:cNvPr id="15" name="TextBox 14">
            <a:extLst>
              <a:ext uri="{FF2B5EF4-FFF2-40B4-BE49-F238E27FC236}">
                <a16:creationId xmlns:a16="http://schemas.microsoft.com/office/drawing/2014/main" id="{C9BD7A03-8B79-B306-E9E2-4BD0E408C733}"/>
              </a:ext>
            </a:extLst>
          </p:cNvPr>
          <p:cNvSpPr txBox="1"/>
          <p:nvPr/>
        </p:nvSpPr>
        <p:spPr>
          <a:xfrm>
            <a:off x="11060888" y="2066305"/>
            <a:ext cx="670376" cy="400110"/>
          </a:xfrm>
          <a:prstGeom prst="rect">
            <a:avLst/>
          </a:prstGeom>
          <a:noFill/>
        </p:spPr>
        <p:txBody>
          <a:bodyPr wrap="none" rtlCol="0">
            <a:spAutoFit/>
          </a:bodyPr>
          <a:lstStyle/>
          <a:p>
            <a:r>
              <a:rPr lang="en-US" sz="2000" dirty="0">
                <a:latin typeface="Aharoni" panose="02010803020104030203" pitchFamily="2" charset="-79"/>
                <a:cs typeface="Aharoni" panose="02010803020104030203" pitchFamily="2" charset="-79"/>
              </a:rPr>
              <a:t>text</a:t>
            </a:r>
          </a:p>
        </p:txBody>
      </p:sp>
      <p:sp>
        <p:nvSpPr>
          <p:cNvPr id="16" name="TextBox 15">
            <a:extLst>
              <a:ext uri="{FF2B5EF4-FFF2-40B4-BE49-F238E27FC236}">
                <a16:creationId xmlns:a16="http://schemas.microsoft.com/office/drawing/2014/main" id="{BCCCF478-AFB0-76AE-FAB7-07B2278E3CC4}"/>
              </a:ext>
            </a:extLst>
          </p:cNvPr>
          <p:cNvSpPr txBox="1"/>
          <p:nvPr/>
        </p:nvSpPr>
        <p:spPr>
          <a:xfrm>
            <a:off x="11060888" y="4806534"/>
            <a:ext cx="729687" cy="400110"/>
          </a:xfrm>
          <a:prstGeom prst="rect">
            <a:avLst/>
          </a:prstGeom>
          <a:noFill/>
        </p:spPr>
        <p:txBody>
          <a:bodyPr wrap="none" rtlCol="0">
            <a:spAutoFit/>
          </a:bodyPr>
          <a:lstStyle/>
          <a:p>
            <a:r>
              <a:rPr lang="en-US" sz="2000" dirty="0">
                <a:latin typeface="Aharoni" panose="02010803020104030203" pitchFamily="2" charset="-79"/>
                <a:cs typeface="Aharoni" panose="02010803020104030203" pitchFamily="2" charset="-79"/>
              </a:rPr>
              <a:t>bold</a:t>
            </a:r>
          </a:p>
        </p:txBody>
      </p:sp>
      <p:sp>
        <p:nvSpPr>
          <p:cNvPr id="17" name="TextBox 16">
            <a:extLst>
              <a:ext uri="{FF2B5EF4-FFF2-40B4-BE49-F238E27FC236}">
                <a16:creationId xmlns:a16="http://schemas.microsoft.com/office/drawing/2014/main" id="{EF1A8F70-8380-4B40-5B7D-6C014045AAAC}"/>
              </a:ext>
            </a:extLst>
          </p:cNvPr>
          <p:cNvSpPr txBox="1"/>
          <p:nvPr/>
        </p:nvSpPr>
        <p:spPr>
          <a:xfrm>
            <a:off x="11060888" y="5249760"/>
            <a:ext cx="861133" cy="400110"/>
          </a:xfrm>
          <a:prstGeom prst="rect">
            <a:avLst/>
          </a:prstGeom>
          <a:noFill/>
        </p:spPr>
        <p:txBody>
          <a:bodyPr wrap="none" rtlCol="0">
            <a:spAutoFit/>
          </a:bodyPr>
          <a:lstStyle/>
          <a:p>
            <a:r>
              <a:rPr lang="en-US" sz="2000" dirty="0">
                <a:latin typeface="Aharoni" panose="02010803020104030203" pitchFamily="2" charset="-79"/>
                <a:cs typeface="Aharoni" panose="02010803020104030203" pitchFamily="2" charset="-79"/>
              </a:rPr>
              <a:t>italics</a:t>
            </a:r>
          </a:p>
        </p:txBody>
      </p:sp>
      <p:sp>
        <p:nvSpPr>
          <p:cNvPr id="18" name="TextBox 17">
            <a:extLst>
              <a:ext uri="{FF2B5EF4-FFF2-40B4-BE49-F238E27FC236}">
                <a16:creationId xmlns:a16="http://schemas.microsoft.com/office/drawing/2014/main" id="{A8BB6E54-7697-5571-DD09-78C6F1D63AE7}"/>
              </a:ext>
            </a:extLst>
          </p:cNvPr>
          <p:cNvSpPr txBox="1"/>
          <p:nvPr/>
        </p:nvSpPr>
        <p:spPr>
          <a:xfrm>
            <a:off x="5688270" y="1676664"/>
            <a:ext cx="1638723" cy="1323439"/>
          </a:xfrm>
          <a:prstGeom prst="rect">
            <a:avLst/>
          </a:prstGeom>
          <a:noFill/>
        </p:spPr>
        <p:txBody>
          <a:bodyPr wrap="square" rtlCol="0">
            <a:spAutoFit/>
          </a:bodyPr>
          <a:lstStyle/>
          <a:p>
            <a:pPr algn="ctr"/>
            <a:r>
              <a:rPr lang="en-US" sz="2000" dirty="0">
                <a:latin typeface="Aharoni" panose="02010803020104030203" pitchFamily="2" charset="-79"/>
                <a:cs typeface="Aharoni" panose="02010803020104030203" pitchFamily="2" charset="-79"/>
              </a:rPr>
              <a:t>tags that organize content into sections</a:t>
            </a:r>
          </a:p>
        </p:txBody>
      </p:sp>
      <p:sp>
        <p:nvSpPr>
          <p:cNvPr id="19" name="TextBox 18">
            <a:extLst>
              <a:ext uri="{FF2B5EF4-FFF2-40B4-BE49-F238E27FC236}">
                <a16:creationId xmlns:a16="http://schemas.microsoft.com/office/drawing/2014/main" id="{F6E1DB15-DF85-530F-61A7-E41AC1506B3D}"/>
              </a:ext>
            </a:extLst>
          </p:cNvPr>
          <p:cNvSpPr txBox="1"/>
          <p:nvPr/>
        </p:nvSpPr>
        <p:spPr>
          <a:xfrm>
            <a:off x="5730042" y="3731911"/>
            <a:ext cx="1638723" cy="1631216"/>
          </a:xfrm>
          <a:prstGeom prst="rect">
            <a:avLst/>
          </a:prstGeom>
          <a:noFill/>
        </p:spPr>
        <p:txBody>
          <a:bodyPr wrap="square" rtlCol="0">
            <a:spAutoFit/>
          </a:bodyPr>
          <a:lstStyle/>
          <a:p>
            <a:pPr algn="ctr"/>
            <a:r>
              <a:rPr lang="en-US" sz="2000" dirty="0">
                <a:latin typeface="Aharoni" panose="02010803020104030203" pitchFamily="2" charset="-79"/>
                <a:cs typeface="Aharoni" panose="02010803020104030203" pitchFamily="2" charset="-79"/>
              </a:rPr>
              <a:t>tags that define content types and formatting</a:t>
            </a:r>
          </a:p>
        </p:txBody>
      </p:sp>
      <p:cxnSp>
        <p:nvCxnSpPr>
          <p:cNvPr id="20" name="Straight Arrow Connector 19">
            <a:extLst>
              <a:ext uri="{FF2B5EF4-FFF2-40B4-BE49-F238E27FC236}">
                <a16:creationId xmlns:a16="http://schemas.microsoft.com/office/drawing/2014/main" id="{E9A242A0-024E-666A-EDF2-CDF57E674687}"/>
              </a:ext>
            </a:extLst>
          </p:cNvPr>
          <p:cNvCxnSpPr>
            <a:cxnSpLocks/>
          </p:cNvCxnSpPr>
          <p:nvPr/>
        </p:nvCxnSpPr>
        <p:spPr>
          <a:xfrm flipV="1">
            <a:off x="6055554" y="5647231"/>
            <a:ext cx="944147" cy="2639"/>
          </a:xfrm>
          <a:prstGeom prst="straightConnector1">
            <a:avLst/>
          </a:prstGeom>
          <a:ln w="47625">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6C51CC9D-717B-E971-3657-80B30679965A}"/>
              </a:ext>
            </a:extLst>
          </p:cNvPr>
          <p:cNvCxnSpPr>
            <a:cxnSpLocks/>
          </p:cNvCxnSpPr>
          <p:nvPr/>
        </p:nvCxnSpPr>
        <p:spPr>
          <a:xfrm flipH="1" flipV="1">
            <a:off x="5974300" y="3177200"/>
            <a:ext cx="944147" cy="2639"/>
          </a:xfrm>
          <a:prstGeom prst="straightConnector1">
            <a:avLst/>
          </a:prstGeom>
          <a:ln w="47625">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8362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008CC8-3927-0434-0013-0744C0F859F5}"/>
              </a:ext>
            </a:extLst>
          </p:cNvPr>
          <p:cNvSpPr txBox="1"/>
          <p:nvPr/>
        </p:nvSpPr>
        <p:spPr>
          <a:xfrm>
            <a:off x="785811" y="2139878"/>
            <a:ext cx="11558587" cy="2308324"/>
          </a:xfrm>
          <a:prstGeom prst="rect">
            <a:avLst/>
          </a:prstGeom>
          <a:noFill/>
        </p:spPr>
        <p:txBody>
          <a:bodyPr wrap="square">
            <a:spAutoFit/>
          </a:bodyPr>
          <a:lstStyle/>
          <a:p>
            <a:pPr algn="l">
              <a:buNone/>
            </a:pPr>
            <a:r>
              <a:rPr lang="en-US" b="0" i="0" dirty="0">
                <a:solidFill>
                  <a:srgbClr val="0A0A0A"/>
                </a:solidFill>
                <a:effectLst/>
                <a:latin typeface="Courier New" panose="02070309020205020404" pitchFamily="49" charset="0"/>
              </a:rPr>
              <a:t>h2 {</a:t>
            </a:r>
          </a:p>
          <a:p>
            <a:pPr algn="l">
              <a:buNone/>
            </a:pPr>
            <a:r>
              <a:rPr lang="en-US" b="0" i="0" dirty="0">
                <a:solidFill>
                  <a:srgbClr val="0A0A0A"/>
                </a:solidFill>
                <a:effectLst/>
                <a:latin typeface="Courier New" panose="02070309020205020404" pitchFamily="49" charset="0"/>
              </a:rPr>
              <a:t>  color: #333333;                      </a:t>
            </a:r>
            <a:r>
              <a:rPr lang="en-US" b="0" i="1" dirty="0">
                <a:solidFill>
                  <a:srgbClr val="80868B"/>
                </a:solidFill>
                <a:effectLst/>
                <a:latin typeface="Courier New" panose="02070309020205020404" pitchFamily="49" charset="0"/>
              </a:rPr>
              <a:t>/* Changes text color to a dark gray */</a:t>
            </a:r>
            <a:endParaRPr lang="en-US" b="0" i="0" dirty="0">
              <a:solidFill>
                <a:srgbClr val="0A0A0A"/>
              </a:solidFill>
              <a:effectLst/>
              <a:latin typeface="Courier New" panose="02070309020205020404" pitchFamily="49" charset="0"/>
            </a:endParaRPr>
          </a:p>
          <a:p>
            <a:pPr algn="l">
              <a:buNone/>
            </a:pPr>
            <a:r>
              <a:rPr lang="en-US" b="0" i="0" dirty="0">
                <a:solidFill>
                  <a:srgbClr val="0A0A0A"/>
                </a:solidFill>
                <a:effectLst/>
                <a:latin typeface="Courier New" panose="02070309020205020404" pitchFamily="49" charset="0"/>
              </a:rPr>
              <a:t>  font-size: </a:t>
            </a:r>
            <a:r>
              <a:rPr lang="en-US" b="0" i="0" dirty="0">
                <a:solidFill>
                  <a:srgbClr val="B45908"/>
                </a:solidFill>
                <a:effectLst/>
                <a:latin typeface="Courier New" panose="02070309020205020404" pitchFamily="49" charset="0"/>
              </a:rPr>
              <a:t>1.5rem</a:t>
            </a:r>
            <a:r>
              <a:rPr lang="en-US" b="0" i="0" dirty="0">
                <a:solidFill>
                  <a:srgbClr val="0A0A0A"/>
                </a:solidFill>
                <a:effectLst/>
                <a:latin typeface="Courier New" panose="02070309020205020404" pitchFamily="49" charset="0"/>
              </a:rPr>
              <a:t>;                   </a:t>
            </a:r>
            <a:r>
              <a:rPr lang="en-US" b="0" i="1" dirty="0">
                <a:solidFill>
                  <a:srgbClr val="80868B"/>
                </a:solidFill>
                <a:effectLst/>
                <a:latin typeface="Courier New" panose="02070309020205020404" pitchFamily="49" charset="0"/>
              </a:rPr>
              <a:t>/* Sets the font size */</a:t>
            </a:r>
            <a:endParaRPr lang="en-US" b="0" i="0" dirty="0">
              <a:solidFill>
                <a:srgbClr val="0A0A0A"/>
              </a:solidFill>
              <a:effectLst/>
              <a:latin typeface="Courier New" panose="02070309020205020404" pitchFamily="49" charset="0"/>
            </a:endParaRPr>
          </a:p>
          <a:p>
            <a:pPr algn="l">
              <a:buNone/>
            </a:pPr>
            <a:r>
              <a:rPr lang="en-US" b="0" i="0" dirty="0">
                <a:solidFill>
                  <a:srgbClr val="0A0A0A"/>
                </a:solidFill>
                <a:effectLst/>
                <a:latin typeface="Courier New" panose="02070309020205020404" pitchFamily="49" charset="0"/>
              </a:rPr>
              <a:t>  font-family: Arial, sans-serif;      </a:t>
            </a:r>
            <a:r>
              <a:rPr lang="en-US" b="0" i="1" dirty="0">
                <a:solidFill>
                  <a:srgbClr val="80868B"/>
                </a:solidFill>
                <a:effectLst/>
                <a:latin typeface="Courier New" panose="02070309020205020404" pitchFamily="49" charset="0"/>
              </a:rPr>
              <a:t>/* Specifies the font */</a:t>
            </a:r>
            <a:endParaRPr lang="en-US" b="0" i="0" dirty="0">
              <a:solidFill>
                <a:srgbClr val="0A0A0A"/>
              </a:solidFill>
              <a:effectLst/>
              <a:latin typeface="Courier New" panose="02070309020205020404" pitchFamily="49" charset="0"/>
            </a:endParaRPr>
          </a:p>
          <a:p>
            <a:pPr algn="l">
              <a:buNone/>
            </a:pPr>
            <a:r>
              <a:rPr lang="en-US" b="0" i="0" dirty="0">
                <a:solidFill>
                  <a:srgbClr val="0A0A0A"/>
                </a:solidFill>
                <a:effectLst/>
                <a:latin typeface="Courier New" panose="02070309020205020404" pitchFamily="49" charset="0"/>
              </a:rPr>
              <a:t>  margin-top: </a:t>
            </a:r>
            <a:r>
              <a:rPr lang="en-US" b="0" i="0" dirty="0">
                <a:solidFill>
                  <a:srgbClr val="B45908"/>
                </a:solidFill>
                <a:effectLst/>
                <a:latin typeface="Courier New" panose="02070309020205020404" pitchFamily="49" charset="0"/>
              </a:rPr>
              <a:t>1em</a:t>
            </a:r>
            <a:r>
              <a:rPr lang="en-US" b="0" i="0" dirty="0">
                <a:solidFill>
                  <a:srgbClr val="0A0A0A"/>
                </a:solidFill>
                <a:effectLst/>
                <a:latin typeface="Courier New" panose="02070309020205020404" pitchFamily="49" charset="0"/>
              </a:rPr>
              <a:t>;                     </a:t>
            </a:r>
            <a:r>
              <a:rPr lang="en-US" b="0" i="1" dirty="0">
                <a:solidFill>
                  <a:srgbClr val="80868B"/>
                </a:solidFill>
                <a:effectLst/>
                <a:latin typeface="Courier New" panose="02070309020205020404" pitchFamily="49" charset="0"/>
              </a:rPr>
              <a:t>/* Adds space above the heading */</a:t>
            </a:r>
            <a:endParaRPr lang="en-US" b="0" i="0" dirty="0">
              <a:solidFill>
                <a:srgbClr val="0A0A0A"/>
              </a:solidFill>
              <a:effectLst/>
              <a:latin typeface="Courier New" panose="02070309020205020404" pitchFamily="49" charset="0"/>
            </a:endParaRPr>
          </a:p>
          <a:p>
            <a:pPr algn="l">
              <a:buNone/>
            </a:pPr>
            <a:r>
              <a:rPr lang="en-US" b="0" i="0" dirty="0">
                <a:solidFill>
                  <a:srgbClr val="0A0A0A"/>
                </a:solidFill>
                <a:effectLst/>
                <a:latin typeface="Courier New" panose="02070309020205020404" pitchFamily="49" charset="0"/>
              </a:rPr>
              <a:t>  margin-bottom: </a:t>
            </a:r>
            <a:r>
              <a:rPr lang="en-US" b="0" i="0" dirty="0">
                <a:solidFill>
                  <a:srgbClr val="B45908"/>
                </a:solidFill>
                <a:effectLst/>
                <a:latin typeface="Courier New" panose="02070309020205020404" pitchFamily="49" charset="0"/>
              </a:rPr>
              <a:t>0.5em</a:t>
            </a:r>
            <a:r>
              <a:rPr lang="en-US" b="0" i="0" dirty="0">
                <a:solidFill>
                  <a:srgbClr val="0A0A0A"/>
                </a:solidFill>
                <a:effectLst/>
                <a:latin typeface="Courier New" panose="02070309020205020404" pitchFamily="49" charset="0"/>
              </a:rPr>
              <a:t>;                </a:t>
            </a:r>
            <a:r>
              <a:rPr lang="en-US" b="0" i="1" dirty="0">
                <a:solidFill>
                  <a:srgbClr val="80868B"/>
                </a:solidFill>
                <a:effectLst/>
                <a:latin typeface="Courier New" panose="02070309020205020404" pitchFamily="49" charset="0"/>
              </a:rPr>
              <a:t>/* Adds space below the heading */</a:t>
            </a:r>
            <a:endParaRPr lang="en-US" b="0" i="0" dirty="0">
              <a:solidFill>
                <a:srgbClr val="0A0A0A"/>
              </a:solidFill>
              <a:effectLst/>
              <a:latin typeface="Courier New" panose="02070309020205020404" pitchFamily="49" charset="0"/>
            </a:endParaRPr>
          </a:p>
          <a:p>
            <a:pPr algn="l">
              <a:buNone/>
            </a:pPr>
            <a:r>
              <a:rPr lang="en-US" b="0" i="0" dirty="0">
                <a:solidFill>
                  <a:srgbClr val="0A0A0A"/>
                </a:solidFill>
                <a:effectLst/>
                <a:latin typeface="Courier New" panose="02070309020205020404" pitchFamily="49" charset="0"/>
              </a:rPr>
              <a:t>  border-bottom: </a:t>
            </a:r>
            <a:r>
              <a:rPr lang="en-US" b="0" i="0" dirty="0">
                <a:solidFill>
                  <a:srgbClr val="B45908"/>
                </a:solidFill>
                <a:effectLst/>
                <a:latin typeface="Courier New" panose="02070309020205020404" pitchFamily="49" charset="0"/>
              </a:rPr>
              <a:t>2px</a:t>
            </a:r>
            <a:r>
              <a:rPr lang="en-US" b="0" i="0" dirty="0">
                <a:solidFill>
                  <a:srgbClr val="0A0A0A"/>
                </a:solidFill>
                <a:effectLst/>
                <a:latin typeface="Courier New" panose="02070309020205020404" pitchFamily="49" charset="0"/>
              </a:rPr>
              <a:t> solid #333333;    </a:t>
            </a:r>
            <a:r>
              <a:rPr lang="en-US" b="0" i="1" dirty="0">
                <a:solidFill>
                  <a:srgbClr val="80868B"/>
                </a:solidFill>
                <a:effectLst/>
                <a:latin typeface="Courier New" panose="02070309020205020404" pitchFamily="49" charset="0"/>
              </a:rPr>
              <a:t>/* Adds a border to the bottom */</a:t>
            </a:r>
            <a:endParaRPr lang="en-US" b="0" i="0" dirty="0">
              <a:solidFill>
                <a:srgbClr val="0A0A0A"/>
              </a:solidFill>
              <a:effectLst/>
              <a:latin typeface="Courier New" panose="02070309020205020404" pitchFamily="49" charset="0"/>
            </a:endParaRPr>
          </a:p>
          <a:p>
            <a:pPr algn="l">
              <a:buNone/>
            </a:pPr>
            <a:r>
              <a:rPr lang="en-US" b="0" i="0" dirty="0">
                <a:solidFill>
                  <a:srgbClr val="0A0A0A"/>
                </a:solidFill>
                <a:effectLst/>
                <a:latin typeface="Courier New" panose="02070309020205020404" pitchFamily="49" charset="0"/>
              </a:rPr>
              <a:t>}</a:t>
            </a:r>
          </a:p>
        </p:txBody>
      </p:sp>
      <p:sp>
        <p:nvSpPr>
          <p:cNvPr id="4" name="TextBox 3">
            <a:extLst>
              <a:ext uri="{FF2B5EF4-FFF2-40B4-BE49-F238E27FC236}">
                <a16:creationId xmlns:a16="http://schemas.microsoft.com/office/drawing/2014/main" id="{858E7060-8CCD-505E-DE0F-48E03208C1D2}"/>
              </a:ext>
            </a:extLst>
          </p:cNvPr>
          <p:cNvSpPr txBox="1"/>
          <p:nvPr/>
        </p:nvSpPr>
        <p:spPr>
          <a:xfrm>
            <a:off x="6899804" y="224585"/>
            <a:ext cx="2866490" cy="707886"/>
          </a:xfrm>
          <a:prstGeom prst="rect">
            <a:avLst/>
          </a:prstGeom>
          <a:noFill/>
        </p:spPr>
        <p:txBody>
          <a:bodyPr wrap="none" rtlCol="0">
            <a:spAutoFit/>
          </a:bodyPr>
          <a:lstStyle/>
          <a:p>
            <a:r>
              <a:rPr lang="en-US" sz="4000" dirty="0">
                <a:latin typeface="Aharoni" panose="02010803020104030203" pitchFamily="2" charset="-79"/>
                <a:cs typeface="Aharoni" panose="02010803020104030203" pitchFamily="2" charset="-79"/>
              </a:rPr>
              <a:t>CSS STYLES</a:t>
            </a:r>
          </a:p>
        </p:txBody>
      </p:sp>
      <p:sp>
        <p:nvSpPr>
          <p:cNvPr id="5" name="TextBox 4">
            <a:extLst>
              <a:ext uri="{FF2B5EF4-FFF2-40B4-BE49-F238E27FC236}">
                <a16:creationId xmlns:a16="http://schemas.microsoft.com/office/drawing/2014/main" id="{51E0C2D2-75C6-D3A5-D62E-DC136E9B6B4F}"/>
              </a:ext>
            </a:extLst>
          </p:cNvPr>
          <p:cNvSpPr txBox="1"/>
          <p:nvPr/>
        </p:nvSpPr>
        <p:spPr>
          <a:xfrm>
            <a:off x="785812" y="1326781"/>
            <a:ext cx="4620176" cy="584775"/>
          </a:xfrm>
          <a:prstGeom prst="rect">
            <a:avLst/>
          </a:prstGeom>
          <a:noFill/>
        </p:spPr>
        <p:txBody>
          <a:bodyPr wrap="none" rtlCol="0">
            <a:spAutoFit/>
          </a:bodyPr>
          <a:lstStyle/>
          <a:p>
            <a:r>
              <a:rPr lang="en-US" sz="3200" dirty="0">
                <a:solidFill>
                  <a:schemeClr val="tx1">
                    <a:lumMod val="50000"/>
                    <a:lumOff val="50000"/>
                  </a:schemeClr>
                </a:solidFill>
                <a:latin typeface="ADLaM Display" panose="02010000000000000000" pitchFamily="2" charset="0"/>
                <a:ea typeface="ADLaM Display" panose="02010000000000000000" pitchFamily="2" charset="0"/>
                <a:cs typeface="ADLaM Display" panose="02010000000000000000" pitchFamily="2" charset="0"/>
              </a:rPr>
              <a:t>h2 = ## header 2 style</a:t>
            </a:r>
          </a:p>
        </p:txBody>
      </p:sp>
      <p:sp>
        <p:nvSpPr>
          <p:cNvPr id="6" name="TextBox 5">
            <a:extLst>
              <a:ext uri="{FF2B5EF4-FFF2-40B4-BE49-F238E27FC236}">
                <a16:creationId xmlns:a16="http://schemas.microsoft.com/office/drawing/2014/main" id="{B9395C16-3CF4-F026-C3BC-DA169D057CCF}"/>
              </a:ext>
            </a:extLst>
          </p:cNvPr>
          <p:cNvSpPr txBox="1"/>
          <p:nvPr/>
        </p:nvSpPr>
        <p:spPr>
          <a:xfrm>
            <a:off x="6565104" y="895893"/>
            <a:ext cx="3535889" cy="1015663"/>
          </a:xfrm>
          <a:prstGeom prst="rect">
            <a:avLst/>
          </a:prstGeom>
          <a:noFill/>
        </p:spPr>
        <p:txBody>
          <a:bodyPr wrap="square" rtlCol="0">
            <a:spAutoFit/>
          </a:bodyPr>
          <a:lstStyle/>
          <a:p>
            <a:pPr algn="ctr"/>
            <a:r>
              <a:rPr lang="en-US" sz="2000" dirty="0">
                <a:latin typeface="Aharoni" panose="02010803020104030203" pitchFamily="2" charset="-79"/>
                <a:cs typeface="Aharoni" panose="02010803020104030203" pitchFamily="2" charset="-79"/>
              </a:rPr>
              <a:t>the CSS defines the aesthetics of each type of content on the page</a:t>
            </a:r>
          </a:p>
        </p:txBody>
      </p:sp>
      <p:sp>
        <p:nvSpPr>
          <p:cNvPr id="7" name="TextBox 6">
            <a:extLst>
              <a:ext uri="{FF2B5EF4-FFF2-40B4-BE49-F238E27FC236}">
                <a16:creationId xmlns:a16="http://schemas.microsoft.com/office/drawing/2014/main" id="{DDFB302D-7C21-F3BB-03B9-C2378122A2D5}"/>
              </a:ext>
            </a:extLst>
          </p:cNvPr>
          <p:cNvSpPr txBox="1"/>
          <p:nvPr/>
        </p:nvSpPr>
        <p:spPr>
          <a:xfrm>
            <a:off x="2124074" y="5048395"/>
            <a:ext cx="7943851" cy="1384995"/>
          </a:xfrm>
          <a:prstGeom prst="rect">
            <a:avLst/>
          </a:prstGeom>
          <a:noFill/>
        </p:spPr>
        <p:txBody>
          <a:bodyPr wrap="square" rtlCol="0">
            <a:spAutoFit/>
          </a:bodyPr>
          <a:lstStyle/>
          <a:p>
            <a:pPr algn="ctr"/>
            <a:r>
              <a:rPr lang="en-US" sz="2400" b="1" dirty="0"/>
              <a:t>Templates = content types (markdown) + styles (CSS) </a:t>
            </a:r>
          </a:p>
          <a:p>
            <a:pPr algn="ctr"/>
            <a:r>
              <a:rPr lang="en-US" sz="2000" dirty="0"/>
              <a:t>Templates allow you to separate CONTENT from STYLE so that when you are creating text, tables, and images you don’t have to think about how they look on the page.</a:t>
            </a:r>
          </a:p>
        </p:txBody>
      </p:sp>
    </p:spTree>
    <p:extLst>
      <p:ext uri="{BB962C8B-B14F-4D97-AF65-F5344CB8AC3E}">
        <p14:creationId xmlns:p14="http://schemas.microsoft.com/office/powerpoint/2010/main" val="38436200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C761E-0C80-2DE7-DD42-B8ED51E8E4E1}"/>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THE JEKYLL FRAMEWORK</a:t>
            </a:r>
          </a:p>
        </p:txBody>
      </p:sp>
      <p:sp>
        <p:nvSpPr>
          <p:cNvPr id="3" name="Text Placeholder 2">
            <a:extLst>
              <a:ext uri="{FF2B5EF4-FFF2-40B4-BE49-F238E27FC236}">
                <a16:creationId xmlns:a16="http://schemas.microsoft.com/office/drawing/2014/main" id="{B9D49328-451A-7310-53E8-E1FCFA96823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658712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HTML5 Semantics - GeeksforGeeks">
            <a:extLst>
              <a:ext uri="{FF2B5EF4-FFF2-40B4-BE49-F238E27FC236}">
                <a16:creationId xmlns:a16="http://schemas.microsoft.com/office/drawing/2014/main" id="{D63EBA34-819B-9678-82B7-46C697F4A0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0141" y="983592"/>
            <a:ext cx="4761553" cy="543843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BC6FC58-D662-8AD7-E4D0-A9A8D2265F4A}"/>
              </a:ext>
            </a:extLst>
          </p:cNvPr>
          <p:cNvSpPr txBox="1"/>
          <p:nvPr/>
        </p:nvSpPr>
        <p:spPr>
          <a:xfrm>
            <a:off x="550780" y="1392508"/>
            <a:ext cx="3629527" cy="523220"/>
          </a:xfrm>
          <a:prstGeom prst="rect">
            <a:avLst/>
          </a:prstGeom>
          <a:noFill/>
        </p:spPr>
        <p:txBody>
          <a:bodyPr wrap="square">
            <a:spAutoFit/>
          </a:bodyPr>
          <a:lstStyle/>
          <a:p>
            <a:pPr marL="0" lvl="2">
              <a:spcAft>
                <a:spcPts val="375"/>
              </a:spcAft>
            </a:pPr>
            <a:r>
              <a:rPr lang="en-US" sz="2800" dirty="0">
                <a:latin typeface="ADLaM Display" panose="02010000000000000000" pitchFamily="2" charset="0"/>
                <a:ea typeface="ADLaM Display" panose="02010000000000000000" pitchFamily="2" charset="0"/>
                <a:cs typeface="ADLaM Display" panose="02010000000000000000" pitchFamily="2" charset="0"/>
              </a:rPr>
              <a:t>header.html</a:t>
            </a:r>
          </a:p>
        </p:txBody>
      </p:sp>
      <p:sp>
        <p:nvSpPr>
          <p:cNvPr id="4" name="TextBox 3">
            <a:extLst>
              <a:ext uri="{FF2B5EF4-FFF2-40B4-BE49-F238E27FC236}">
                <a16:creationId xmlns:a16="http://schemas.microsoft.com/office/drawing/2014/main" id="{39550922-6B0E-7D28-6EA9-4782733CF4F3}"/>
              </a:ext>
            </a:extLst>
          </p:cNvPr>
          <p:cNvSpPr txBox="1"/>
          <p:nvPr/>
        </p:nvSpPr>
        <p:spPr>
          <a:xfrm>
            <a:off x="550781" y="3429000"/>
            <a:ext cx="3629527" cy="523220"/>
          </a:xfrm>
          <a:prstGeom prst="rect">
            <a:avLst/>
          </a:prstGeom>
          <a:noFill/>
        </p:spPr>
        <p:txBody>
          <a:bodyPr wrap="square">
            <a:spAutoFit/>
          </a:bodyPr>
          <a:lstStyle/>
          <a:p>
            <a:pPr marL="0" lvl="2">
              <a:spcAft>
                <a:spcPts val="375"/>
              </a:spcAft>
            </a:pPr>
            <a:r>
              <a:rPr lang="en-US" sz="2800" dirty="0">
                <a:latin typeface="ADLaM Display" panose="02010000000000000000" pitchFamily="2" charset="0"/>
                <a:ea typeface="ADLaM Display" panose="02010000000000000000" pitchFamily="2" charset="0"/>
                <a:cs typeface="ADLaM Display" panose="02010000000000000000" pitchFamily="2" charset="0"/>
              </a:rPr>
              <a:t>nav.html</a:t>
            </a:r>
          </a:p>
        </p:txBody>
      </p:sp>
      <p:sp>
        <p:nvSpPr>
          <p:cNvPr id="5" name="TextBox 4">
            <a:extLst>
              <a:ext uri="{FF2B5EF4-FFF2-40B4-BE49-F238E27FC236}">
                <a16:creationId xmlns:a16="http://schemas.microsoft.com/office/drawing/2014/main" id="{E4633C63-F8FC-6822-C732-E6237FFD2DD4}"/>
              </a:ext>
            </a:extLst>
          </p:cNvPr>
          <p:cNvSpPr txBox="1"/>
          <p:nvPr/>
        </p:nvSpPr>
        <p:spPr>
          <a:xfrm>
            <a:off x="550779" y="5612798"/>
            <a:ext cx="3629527" cy="523220"/>
          </a:xfrm>
          <a:prstGeom prst="rect">
            <a:avLst/>
          </a:prstGeom>
          <a:noFill/>
        </p:spPr>
        <p:txBody>
          <a:bodyPr wrap="square">
            <a:spAutoFit/>
          </a:bodyPr>
          <a:lstStyle/>
          <a:p>
            <a:pPr marL="0" lvl="2">
              <a:spcAft>
                <a:spcPts val="375"/>
              </a:spcAft>
            </a:pPr>
            <a:r>
              <a:rPr lang="en-US" sz="2800" dirty="0">
                <a:latin typeface="ADLaM Display" panose="02010000000000000000" pitchFamily="2" charset="0"/>
                <a:ea typeface="ADLaM Display" panose="02010000000000000000" pitchFamily="2" charset="0"/>
                <a:cs typeface="ADLaM Display" panose="02010000000000000000" pitchFamily="2" charset="0"/>
              </a:rPr>
              <a:t>footer.html</a:t>
            </a:r>
          </a:p>
        </p:txBody>
      </p:sp>
      <p:sp>
        <p:nvSpPr>
          <p:cNvPr id="6" name="TextBox 5">
            <a:extLst>
              <a:ext uri="{FF2B5EF4-FFF2-40B4-BE49-F238E27FC236}">
                <a16:creationId xmlns:a16="http://schemas.microsoft.com/office/drawing/2014/main" id="{9F89ADC1-CF8D-24B6-1A44-D20CB306D9CE}"/>
              </a:ext>
            </a:extLst>
          </p:cNvPr>
          <p:cNvSpPr txBox="1"/>
          <p:nvPr/>
        </p:nvSpPr>
        <p:spPr>
          <a:xfrm>
            <a:off x="8665825" y="1506808"/>
            <a:ext cx="2975394" cy="3693319"/>
          </a:xfrm>
          <a:prstGeom prst="rect">
            <a:avLst/>
          </a:prstGeom>
          <a:noFill/>
        </p:spPr>
        <p:txBody>
          <a:bodyPr wrap="square" rtlCol="0">
            <a:spAutoFit/>
          </a:bodyPr>
          <a:lstStyle/>
          <a:p>
            <a:r>
              <a:rPr lang="en-US" dirty="0"/>
              <a:t>Generic page elements that are reused throughout the site are defined and saved as separate files. They are imported wherever needed. These are the templated elements. </a:t>
            </a:r>
          </a:p>
          <a:p>
            <a:endParaRPr lang="en-US" dirty="0"/>
          </a:p>
          <a:p>
            <a:r>
              <a:rPr lang="en-US" dirty="0"/>
              <a:t>Page content comes from the text contained in the markdown file itself and is specific to the page. Content is NOT templated. </a:t>
            </a:r>
          </a:p>
        </p:txBody>
      </p:sp>
      <p:sp>
        <p:nvSpPr>
          <p:cNvPr id="7" name="TextBox 6">
            <a:extLst>
              <a:ext uri="{FF2B5EF4-FFF2-40B4-BE49-F238E27FC236}">
                <a16:creationId xmlns:a16="http://schemas.microsoft.com/office/drawing/2014/main" id="{8A0A7DD1-7E49-5573-7DEA-ADC5DA0B28E7}"/>
              </a:ext>
            </a:extLst>
          </p:cNvPr>
          <p:cNvSpPr txBox="1"/>
          <p:nvPr/>
        </p:nvSpPr>
        <p:spPr>
          <a:xfrm>
            <a:off x="550780" y="177420"/>
            <a:ext cx="3158237" cy="584775"/>
          </a:xfrm>
          <a:prstGeom prst="rect">
            <a:avLst/>
          </a:prstGeom>
          <a:noFill/>
        </p:spPr>
        <p:txBody>
          <a:bodyPr wrap="none" rtlCol="0">
            <a:spAutoFit/>
          </a:bodyPr>
          <a:lstStyle/>
          <a:p>
            <a:r>
              <a:rPr lang="en-US" sz="3200" dirty="0">
                <a:latin typeface="Aharoni" panose="02010803020104030203" pitchFamily="2" charset="-79"/>
                <a:cs typeface="Aharoni" panose="02010803020104030203" pitchFamily="2" charset="-79"/>
              </a:rPr>
              <a:t>/includes folder</a:t>
            </a:r>
          </a:p>
        </p:txBody>
      </p:sp>
    </p:spTree>
    <p:extLst>
      <p:ext uri="{BB962C8B-B14F-4D97-AF65-F5344CB8AC3E}">
        <p14:creationId xmlns:p14="http://schemas.microsoft.com/office/powerpoint/2010/main" val="3185370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9370105B-F3C0-30E3-2BA8-6EF51EC62C48}"/>
              </a:ext>
            </a:extLst>
          </p:cNvPr>
          <p:cNvGrpSpPr/>
          <p:nvPr/>
        </p:nvGrpSpPr>
        <p:grpSpPr>
          <a:xfrm>
            <a:off x="6747968" y="1190099"/>
            <a:ext cx="4488873" cy="5392730"/>
            <a:chOff x="6747968" y="1190099"/>
            <a:chExt cx="4488873" cy="5392730"/>
          </a:xfrm>
        </p:grpSpPr>
        <p:sp>
          <p:nvSpPr>
            <p:cNvPr id="3" name="TextBox 2">
              <a:extLst>
                <a:ext uri="{FF2B5EF4-FFF2-40B4-BE49-F238E27FC236}">
                  <a16:creationId xmlns:a16="http://schemas.microsoft.com/office/drawing/2014/main" id="{C38F8E42-DF73-AC3F-EF40-7940D33F6E14}"/>
                </a:ext>
              </a:extLst>
            </p:cNvPr>
            <p:cNvSpPr txBox="1"/>
            <p:nvPr/>
          </p:nvSpPr>
          <p:spPr>
            <a:xfrm>
              <a:off x="6906615" y="1388243"/>
              <a:ext cx="3945576" cy="4965462"/>
            </a:xfrm>
            <a:prstGeom prst="rect">
              <a:avLst/>
            </a:prstGeom>
            <a:noFill/>
          </p:spPr>
          <p:txBody>
            <a:bodyPr wrap="square">
              <a:spAutoFit/>
            </a:bodyPr>
            <a:lstStyle/>
            <a:p>
              <a:pPr algn="l">
                <a:spcAft>
                  <a:spcPts val="375"/>
                </a:spcAft>
                <a:buNone/>
              </a:pPr>
              <a:r>
                <a:rPr lang="en-US" b="0" i="0" dirty="0">
                  <a:solidFill>
                    <a:schemeClr val="accent1"/>
                  </a:solidFill>
                  <a:effectLst/>
                  <a:latin typeface="Courier New" panose="02070309020205020404" pitchFamily="49" charset="0"/>
                </a:rPr>
                <a:t> &lt;html&gt;</a:t>
              </a:r>
            </a:p>
            <a:p>
              <a:pPr algn="l">
                <a:spcAft>
                  <a:spcPts val="375"/>
                </a:spcAft>
                <a:buNone/>
              </a:pPr>
              <a:endParaRPr lang="en-US" b="0" i="0" dirty="0">
                <a:solidFill>
                  <a:srgbClr val="000000"/>
                </a:solidFill>
                <a:effectLst/>
                <a:latin typeface="Courier New" panose="02070309020205020404" pitchFamily="49" charset="0"/>
              </a:endParaRPr>
            </a:p>
            <a:p>
              <a:pPr lvl="1">
                <a:spcAft>
                  <a:spcPts val="375"/>
                </a:spcAft>
              </a:pPr>
              <a:r>
                <a:rPr lang="en-US" dirty="0">
                  <a:solidFill>
                    <a:schemeClr val="accent1"/>
                  </a:solidFill>
                  <a:latin typeface="Courier New" panose="02070309020205020404" pitchFamily="49" charset="0"/>
                </a:rPr>
                <a:t>&lt;head&gt;…&lt;/head&gt;</a:t>
              </a:r>
            </a:p>
            <a:p>
              <a:pPr lvl="1">
                <a:spcAft>
                  <a:spcPts val="375"/>
                </a:spcAft>
              </a:pPr>
              <a:endParaRPr lang="en-US" b="0" i="0" dirty="0">
                <a:solidFill>
                  <a:srgbClr val="000000"/>
                </a:solidFill>
                <a:effectLst/>
                <a:latin typeface="Courier New" panose="02070309020205020404" pitchFamily="49" charset="0"/>
              </a:endParaRPr>
            </a:p>
            <a:p>
              <a:pPr lvl="1">
                <a:spcAft>
                  <a:spcPts val="375"/>
                </a:spcAft>
              </a:pPr>
              <a:r>
                <a:rPr lang="en-US" b="1" i="0" dirty="0">
                  <a:solidFill>
                    <a:schemeClr val="accent2">
                      <a:lumMod val="75000"/>
                    </a:schemeClr>
                  </a:solidFill>
                  <a:effectLst/>
                  <a:latin typeface="Courier New" panose="02070309020205020404" pitchFamily="49" charset="0"/>
                </a:rPr>
                <a:t>&lt;body&gt; </a:t>
              </a:r>
            </a:p>
            <a:p>
              <a:pPr lvl="1">
                <a:spcAft>
                  <a:spcPts val="375"/>
                </a:spcAft>
              </a:pPr>
              <a:r>
                <a:rPr lang="en-US" b="1" i="0" dirty="0">
                  <a:solidFill>
                    <a:schemeClr val="accent2">
                      <a:lumMod val="75000"/>
                    </a:schemeClr>
                  </a:solidFill>
                  <a:effectLst/>
                  <a:latin typeface="Courier New" panose="02070309020205020404" pitchFamily="49" charset="0"/>
                </a:rPr>
                <a:t>  </a:t>
              </a:r>
            </a:p>
            <a:p>
              <a:pPr lvl="2">
                <a:spcAft>
                  <a:spcPts val="375"/>
                </a:spcAft>
              </a:pPr>
              <a:r>
                <a:rPr lang="en-US" b="1" dirty="0">
                  <a:solidFill>
                    <a:schemeClr val="accent2">
                      <a:lumMod val="75000"/>
                    </a:schemeClr>
                  </a:solidFill>
                  <a:latin typeface="Courier New" panose="02070309020205020404" pitchFamily="49" charset="0"/>
                </a:rPr>
                <a:t>&lt;header&gt;…&lt;/header&gt;</a:t>
              </a:r>
            </a:p>
            <a:p>
              <a:pPr lvl="2">
                <a:spcAft>
                  <a:spcPts val="375"/>
                </a:spcAft>
              </a:pPr>
              <a:endParaRPr lang="en-US" b="1" dirty="0">
                <a:solidFill>
                  <a:schemeClr val="accent2">
                    <a:lumMod val="75000"/>
                  </a:schemeClr>
                </a:solidFill>
                <a:latin typeface="Courier New" panose="02070309020205020404" pitchFamily="49" charset="0"/>
              </a:endParaRPr>
            </a:p>
            <a:p>
              <a:pPr lvl="2">
                <a:spcAft>
                  <a:spcPts val="375"/>
                </a:spcAft>
              </a:pPr>
              <a:r>
                <a:rPr lang="en-US" b="1" i="0" dirty="0">
                  <a:solidFill>
                    <a:schemeClr val="accent2">
                      <a:lumMod val="75000"/>
                    </a:schemeClr>
                  </a:solidFill>
                  <a:effectLst/>
                  <a:latin typeface="Courier New" panose="02070309020205020404" pitchFamily="49" charset="0"/>
                </a:rPr>
                <a:t>&lt;p&gt; ... &lt;/p&gt;</a:t>
              </a:r>
            </a:p>
            <a:p>
              <a:pPr lvl="2">
                <a:spcAft>
                  <a:spcPts val="375"/>
                </a:spcAft>
              </a:pPr>
              <a:r>
                <a:rPr lang="en-US" b="1" i="0" dirty="0">
                  <a:solidFill>
                    <a:schemeClr val="accent2">
                      <a:lumMod val="75000"/>
                    </a:schemeClr>
                  </a:solidFill>
                  <a:effectLst/>
                  <a:latin typeface="Courier New" panose="02070309020205020404" pitchFamily="49" charset="0"/>
                </a:rPr>
                <a:t>     </a:t>
              </a:r>
            </a:p>
            <a:p>
              <a:pPr lvl="2">
                <a:spcAft>
                  <a:spcPts val="375"/>
                </a:spcAft>
              </a:pPr>
              <a:r>
                <a:rPr lang="en-US" b="1" i="0" dirty="0">
                  <a:solidFill>
                    <a:schemeClr val="accent2">
                      <a:lumMod val="75000"/>
                    </a:schemeClr>
                  </a:solidFill>
                  <a:effectLst/>
                  <a:latin typeface="Courier New" panose="02070309020205020404" pitchFamily="49" charset="0"/>
                </a:rPr>
                <a:t>&lt;footer&gt;…&lt;/footer&gt;</a:t>
              </a:r>
            </a:p>
            <a:p>
              <a:pPr lvl="2">
                <a:spcAft>
                  <a:spcPts val="375"/>
                </a:spcAft>
              </a:pPr>
              <a:endParaRPr lang="en-US" b="1" i="0" dirty="0">
                <a:solidFill>
                  <a:schemeClr val="accent2">
                    <a:lumMod val="75000"/>
                  </a:schemeClr>
                </a:solidFill>
                <a:effectLst/>
                <a:latin typeface="Courier New" panose="02070309020205020404" pitchFamily="49" charset="0"/>
              </a:endParaRPr>
            </a:p>
            <a:p>
              <a:pPr lvl="1">
                <a:spcAft>
                  <a:spcPts val="375"/>
                </a:spcAft>
              </a:pPr>
              <a:r>
                <a:rPr lang="en-US" b="1" i="0" dirty="0">
                  <a:solidFill>
                    <a:schemeClr val="accent2">
                      <a:lumMod val="75000"/>
                    </a:schemeClr>
                  </a:solidFill>
                  <a:effectLst/>
                  <a:latin typeface="Courier New" panose="02070309020205020404" pitchFamily="49" charset="0"/>
                </a:rPr>
                <a:t>&lt;/body&gt; </a:t>
              </a:r>
            </a:p>
            <a:p>
              <a:pPr lvl="1">
                <a:spcAft>
                  <a:spcPts val="375"/>
                </a:spcAft>
              </a:pPr>
              <a:r>
                <a:rPr lang="en-US" b="0" i="0" dirty="0">
                  <a:solidFill>
                    <a:srgbClr val="000000"/>
                  </a:solidFill>
                  <a:effectLst/>
                  <a:latin typeface="Courier New" panose="02070309020205020404" pitchFamily="49" charset="0"/>
                </a:rPr>
                <a:t> </a:t>
              </a:r>
            </a:p>
            <a:p>
              <a:pPr algn="l">
                <a:spcAft>
                  <a:spcPts val="375"/>
                </a:spcAft>
                <a:buNone/>
              </a:pPr>
              <a:r>
                <a:rPr lang="en-US" b="0" i="0" dirty="0">
                  <a:solidFill>
                    <a:schemeClr val="accent1"/>
                  </a:solidFill>
                  <a:effectLst/>
                  <a:latin typeface="Courier New" panose="02070309020205020404" pitchFamily="49" charset="0"/>
                </a:rPr>
                <a:t>&lt;/html&gt; </a:t>
              </a:r>
              <a:endParaRPr lang="en-US" dirty="0">
                <a:solidFill>
                  <a:schemeClr val="accent1"/>
                </a:solidFill>
              </a:endParaRPr>
            </a:p>
          </p:txBody>
        </p:sp>
        <p:sp>
          <p:nvSpPr>
            <p:cNvPr id="4" name="Rectangle 3">
              <a:extLst>
                <a:ext uri="{FF2B5EF4-FFF2-40B4-BE49-F238E27FC236}">
                  <a16:creationId xmlns:a16="http://schemas.microsoft.com/office/drawing/2014/main" id="{BC71575B-7A78-C7F3-215A-D499557CF5F1}"/>
                </a:ext>
              </a:extLst>
            </p:cNvPr>
            <p:cNvSpPr/>
            <p:nvPr/>
          </p:nvSpPr>
          <p:spPr>
            <a:xfrm>
              <a:off x="6747968" y="1190099"/>
              <a:ext cx="4488873" cy="539273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6A66116-706D-8D3F-2225-6E9CAB924B15}"/>
                </a:ext>
              </a:extLst>
            </p:cNvPr>
            <p:cNvSpPr/>
            <p:nvPr/>
          </p:nvSpPr>
          <p:spPr>
            <a:xfrm>
              <a:off x="7100393" y="2018251"/>
              <a:ext cx="3751798" cy="38576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C43D7E05-5133-0CF8-8270-2614D416E2CE}"/>
                </a:ext>
              </a:extLst>
            </p:cNvPr>
            <p:cNvSpPr/>
            <p:nvPr/>
          </p:nvSpPr>
          <p:spPr>
            <a:xfrm>
              <a:off x="7100392" y="2591106"/>
              <a:ext cx="3751799" cy="3141891"/>
            </a:xfrm>
            <a:prstGeom prst="rect">
              <a:avLst/>
            </a:prstGeom>
            <a:noFill/>
            <a:ln w="254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F0677DB-A5A3-4A41-2B3F-F8715307A71B}"/>
                </a:ext>
              </a:extLst>
            </p:cNvPr>
            <p:cNvSpPr/>
            <p:nvPr/>
          </p:nvSpPr>
          <p:spPr>
            <a:xfrm>
              <a:off x="7467104" y="3321130"/>
              <a:ext cx="3062783" cy="385762"/>
            </a:xfrm>
            <a:prstGeom prst="rect">
              <a:avLst/>
            </a:prstGeom>
            <a:noFill/>
            <a:ln w="254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6A86F098-5ED0-96ED-0060-6EAE01201B85}"/>
                </a:ext>
              </a:extLst>
            </p:cNvPr>
            <p:cNvSpPr/>
            <p:nvPr/>
          </p:nvSpPr>
          <p:spPr>
            <a:xfrm>
              <a:off x="7467104" y="3809292"/>
              <a:ext cx="3062783" cy="699410"/>
            </a:xfrm>
            <a:prstGeom prst="rect">
              <a:avLst/>
            </a:prstGeom>
            <a:noFill/>
            <a:ln w="254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06101944-45C4-81D2-D8EF-D42507AF2485}"/>
                </a:ext>
              </a:extLst>
            </p:cNvPr>
            <p:cNvSpPr/>
            <p:nvPr/>
          </p:nvSpPr>
          <p:spPr>
            <a:xfrm>
              <a:off x="7467104" y="4616536"/>
              <a:ext cx="3062783" cy="385762"/>
            </a:xfrm>
            <a:prstGeom prst="rect">
              <a:avLst/>
            </a:prstGeom>
            <a:noFill/>
            <a:ln w="254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 name="TextBox 10">
            <a:extLst>
              <a:ext uri="{FF2B5EF4-FFF2-40B4-BE49-F238E27FC236}">
                <a16:creationId xmlns:a16="http://schemas.microsoft.com/office/drawing/2014/main" id="{26646478-C5E9-386C-C648-24C75BE33558}"/>
              </a:ext>
            </a:extLst>
          </p:cNvPr>
          <p:cNvSpPr txBox="1"/>
          <p:nvPr/>
        </p:nvSpPr>
        <p:spPr>
          <a:xfrm>
            <a:off x="490693" y="1388243"/>
            <a:ext cx="6093618" cy="4965462"/>
          </a:xfrm>
          <a:prstGeom prst="rect">
            <a:avLst/>
          </a:prstGeom>
          <a:noFill/>
        </p:spPr>
        <p:txBody>
          <a:bodyPr wrap="square">
            <a:spAutoFit/>
          </a:bodyPr>
          <a:lstStyle/>
          <a:p>
            <a:pPr algn="l">
              <a:spcAft>
                <a:spcPts val="375"/>
              </a:spcAft>
              <a:buNone/>
            </a:pPr>
            <a:r>
              <a:rPr lang="en-US" b="0" i="0" dirty="0">
                <a:solidFill>
                  <a:srgbClr val="000000"/>
                </a:solidFill>
                <a:effectLst/>
                <a:latin typeface="Courier New" panose="02070309020205020404" pitchFamily="49" charset="0"/>
              </a:rPr>
              <a:t> &lt;html&gt;</a:t>
            </a:r>
          </a:p>
          <a:p>
            <a:pPr algn="l">
              <a:spcAft>
                <a:spcPts val="375"/>
              </a:spcAft>
              <a:buNone/>
            </a:pPr>
            <a:endParaRPr lang="en-US" b="0" i="0" dirty="0">
              <a:solidFill>
                <a:srgbClr val="000000"/>
              </a:solidFill>
              <a:effectLst/>
              <a:latin typeface="Courier New" panose="02070309020205020404" pitchFamily="49" charset="0"/>
            </a:endParaRPr>
          </a:p>
          <a:p>
            <a:pPr lvl="1">
              <a:spcAft>
                <a:spcPts val="375"/>
              </a:spcAft>
            </a:pPr>
            <a:r>
              <a:rPr lang="en-US" b="0" i="0" dirty="0">
                <a:solidFill>
                  <a:srgbClr val="000000"/>
                </a:solidFill>
                <a:effectLst/>
                <a:latin typeface="Courier New" panose="02070309020205020404" pitchFamily="49" charset="0"/>
              </a:rPr>
              <a:t>{% include head.html %}</a:t>
            </a:r>
          </a:p>
          <a:p>
            <a:pPr lvl="1">
              <a:spcAft>
                <a:spcPts val="375"/>
              </a:spcAft>
            </a:pPr>
            <a:endParaRPr lang="en-US" b="0" i="0" dirty="0">
              <a:solidFill>
                <a:srgbClr val="000000"/>
              </a:solidFill>
              <a:effectLst/>
              <a:latin typeface="Courier New" panose="02070309020205020404" pitchFamily="49" charset="0"/>
            </a:endParaRPr>
          </a:p>
          <a:p>
            <a:pPr lvl="1">
              <a:spcAft>
                <a:spcPts val="375"/>
              </a:spcAft>
            </a:pPr>
            <a:r>
              <a:rPr lang="en-US" b="0" i="0" dirty="0">
                <a:solidFill>
                  <a:srgbClr val="000000"/>
                </a:solidFill>
                <a:effectLst/>
                <a:latin typeface="Courier New" panose="02070309020205020404" pitchFamily="49" charset="0"/>
              </a:rPr>
              <a:t>&lt;body&gt;   </a:t>
            </a:r>
          </a:p>
          <a:p>
            <a:pPr lvl="1">
              <a:spcAft>
                <a:spcPts val="375"/>
              </a:spcAft>
            </a:pPr>
            <a:endParaRPr lang="en-US" b="0" i="0" dirty="0">
              <a:solidFill>
                <a:srgbClr val="000000"/>
              </a:solidFill>
              <a:effectLst/>
              <a:latin typeface="Courier New" panose="02070309020205020404" pitchFamily="49" charset="0"/>
            </a:endParaRPr>
          </a:p>
          <a:p>
            <a:pPr lvl="2">
              <a:spcAft>
                <a:spcPts val="375"/>
              </a:spcAft>
            </a:pPr>
            <a:r>
              <a:rPr lang="en-US" b="0" i="0" dirty="0">
                <a:solidFill>
                  <a:srgbClr val="000000"/>
                </a:solidFill>
                <a:effectLst/>
                <a:latin typeface="Courier New" panose="02070309020205020404" pitchFamily="49" charset="0"/>
              </a:rPr>
              <a:t>{% include header.html %}   </a:t>
            </a:r>
          </a:p>
          <a:p>
            <a:pPr lvl="2">
              <a:spcAft>
                <a:spcPts val="375"/>
              </a:spcAft>
            </a:pPr>
            <a:endParaRPr lang="en-US" b="0" i="0" dirty="0">
              <a:solidFill>
                <a:srgbClr val="000000"/>
              </a:solidFill>
              <a:effectLst/>
              <a:latin typeface="Courier New" panose="02070309020205020404" pitchFamily="49" charset="0"/>
            </a:endParaRPr>
          </a:p>
          <a:p>
            <a:pPr lvl="2">
              <a:spcAft>
                <a:spcPts val="375"/>
              </a:spcAft>
            </a:pPr>
            <a:r>
              <a:rPr lang="en-US" b="0" i="0" dirty="0">
                <a:solidFill>
                  <a:srgbClr val="000000"/>
                </a:solidFill>
                <a:effectLst/>
                <a:latin typeface="Courier New" panose="02070309020205020404" pitchFamily="49" charset="0"/>
              </a:rPr>
              <a:t>{{ content }}     </a:t>
            </a:r>
          </a:p>
          <a:p>
            <a:pPr lvl="2">
              <a:spcAft>
                <a:spcPts val="375"/>
              </a:spcAft>
            </a:pPr>
            <a:endParaRPr lang="en-US" b="0" i="0" dirty="0">
              <a:solidFill>
                <a:srgbClr val="000000"/>
              </a:solidFill>
              <a:effectLst/>
              <a:latin typeface="Courier New" panose="02070309020205020404" pitchFamily="49" charset="0"/>
            </a:endParaRPr>
          </a:p>
          <a:p>
            <a:pPr lvl="2">
              <a:spcAft>
                <a:spcPts val="375"/>
              </a:spcAft>
            </a:pPr>
            <a:r>
              <a:rPr lang="en-US" b="0" i="0" dirty="0">
                <a:solidFill>
                  <a:srgbClr val="000000"/>
                </a:solidFill>
                <a:effectLst/>
                <a:latin typeface="Courier New" panose="02070309020205020404" pitchFamily="49" charset="0"/>
              </a:rPr>
              <a:t>{% include footer.html %}   </a:t>
            </a:r>
          </a:p>
          <a:p>
            <a:pPr lvl="1">
              <a:spcAft>
                <a:spcPts val="375"/>
              </a:spcAft>
            </a:pPr>
            <a:endParaRPr lang="en-US" b="0" i="0" dirty="0">
              <a:solidFill>
                <a:srgbClr val="000000"/>
              </a:solidFill>
              <a:effectLst/>
              <a:latin typeface="Courier New" panose="02070309020205020404" pitchFamily="49" charset="0"/>
            </a:endParaRPr>
          </a:p>
          <a:p>
            <a:pPr lvl="1">
              <a:spcAft>
                <a:spcPts val="375"/>
              </a:spcAft>
            </a:pPr>
            <a:r>
              <a:rPr lang="en-US" b="0" i="0" dirty="0">
                <a:solidFill>
                  <a:srgbClr val="000000"/>
                </a:solidFill>
                <a:effectLst/>
                <a:latin typeface="Courier New" panose="02070309020205020404" pitchFamily="49" charset="0"/>
              </a:rPr>
              <a:t>&lt;/body&gt; </a:t>
            </a:r>
          </a:p>
          <a:p>
            <a:pPr lvl="1">
              <a:spcAft>
                <a:spcPts val="375"/>
              </a:spcAft>
            </a:pPr>
            <a:r>
              <a:rPr lang="en-US" b="0" i="0" dirty="0">
                <a:solidFill>
                  <a:srgbClr val="000000"/>
                </a:solidFill>
                <a:effectLst/>
                <a:latin typeface="Courier New" panose="02070309020205020404" pitchFamily="49" charset="0"/>
              </a:rPr>
              <a:t> </a:t>
            </a:r>
          </a:p>
          <a:p>
            <a:pPr algn="l">
              <a:spcAft>
                <a:spcPts val="375"/>
              </a:spcAft>
              <a:buNone/>
            </a:pPr>
            <a:r>
              <a:rPr lang="en-US" b="0" i="0" dirty="0">
                <a:solidFill>
                  <a:srgbClr val="000000"/>
                </a:solidFill>
                <a:effectLst/>
                <a:latin typeface="Courier New" panose="02070309020205020404" pitchFamily="49" charset="0"/>
              </a:rPr>
              <a:t>&lt;/html&gt; </a:t>
            </a:r>
            <a:endParaRPr lang="en-US" dirty="0"/>
          </a:p>
        </p:txBody>
      </p:sp>
      <p:sp>
        <p:nvSpPr>
          <p:cNvPr id="12" name="TextBox 11">
            <a:extLst>
              <a:ext uri="{FF2B5EF4-FFF2-40B4-BE49-F238E27FC236}">
                <a16:creationId xmlns:a16="http://schemas.microsoft.com/office/drawing/2014/main" id="{E4E6EF72-E70B-3265-32EE-E785334D92CA}"/>
              </a:ext>
            </a:extLst>
          </p:cNvPr>
          <p:cNvSpPr txBox="1"/>
          <p:nvPr/>
        </p:nvSpPr>
        <p:spPr>
          <a:xfrm>
            <a:off x="1285876" y="211907"/>
            <a:ext cx="3241593" cy="584775"/>
          </a:xfrm>
          <a:prstGeom prst="rect">
            <a:avLst/>
          </a:prstGeom>
          <a:noFill/>
        </p:spPr>
        <p:txBody>
          <a:bodyPr wrap="none" rtlCol="0">
            <a:spAutoFit/>
          </a:bodyPr>
          <a:lstStyle/>
          <a:p>
            <a:r>
              <a:rPr lang="en-US" sz="3200" dirty="0">
                <a:latin typeface="Aharoni" panose="02010803020104030203" pitchFamily="2" charset="-79"/>
                <a:cs typeface="Aharoni" panose="02010803020104030203" pitchFamily="2" charset="-79"/>
              </a:rPr>
              <a:t>LIQUID / JEKYLL</a:t>
            </a:r>
          </a:p>
        </p:txBody>
      </p:sp>
      <p:sp>
        <p:nvSpPr>
          <p:cNvPr id="13" name="TextBox 12">
            <a:extLst>
              <a:ext uri="{FF2B5EF4-FFF2-40B4-BE49-F238E27FC236}">
                <a16:creationId xmlns:a16="http://schemas.microsoft.com/office/drawing/2014/main" id="{16B1F187-86E7-9E6E-2359-D4292005747E}"/>
              </a:ext>
            </a:extLst>
          </p:cNvPr>
          <p:cNvSpPr txBox="1"/>
          <p:nvPr/>
        </p:nvSpPr>
        <p:spPr>
          <a:xfrm>
            <a:off x="8254873" y="240312"/>
            <a:ext cx="1249060" cy="584775"/>
          </a:xfrm>
          <a:prstGeom prst="rect">
            <a:avLst/>
          </a:prstGeom>
          <a:noFill/>
        </p:spPr>
        <p:txBody>
          <a:bodyPr wrap="none" rtlCol="0">
            <a:spAutoFit/>
          </a:bodyPr>
          <a:lstStyle/>
          <a:p>
            <a:r>
              <a:rPr lang="en-US" sz="3200" dirty="0">
                <a:latin typeface="Aharoni" panose="02010803020104030203" pitchFamily="2" charset="-79"/>
                <a:cs typeface="Aharoni" panose="02010803020104030203" pitchFamily="2" charset="-79"/>
              </a:rPr>
              <a:t>HTML</a:t>
            </a:r>
          </a:p>
        </p:txBody>
      </p:sp>
      <p:cxnSp>
        <p:nvCxnSpPr>
          <p:cNvPr id="15" name="Straight Arrow Connector 14">
            <a:extLst>
              <a:ext uri="{FF2B5EF4-FFF2-40B4-BE49-F238E27FC236}">
                <a16:creationId xmlns:a16="http://schemas.microsoft.com/office/drawing/2014/main" id="{80213D0F-9D44-456C-9E32-E2838C16767E}"/>
              </a:ext>
            </a:extLst>
          </p:cNvPr>
          <p:cNvCxnSpPr/>
          <p:nvPr/>
        </p:nvCxnSpPr>
        <p:spPr>
          <a:xfrm>
            <a:off x="4957763" y="504294"/>
            <a:ext cx="2728912" cy="0"/>
          </a:xfrm>
          <a:prstGeom prst="straightConnector1">
            <a:avLst/>
          </a:prstGeom>
          <a:ln w="5080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266409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C05A8-0FC0-EDB2-EB56-93BAAA18D5F5}"/>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2F85ACB8-DCC8-89C6-85DA-74B28107AD8A}"/>
              </a:ext>
            </a:extLst>
          </p:cNvPr>
          <p:cNvSpPr txBox="1"/>
          <p:nvPr/>
        </p:nvSpPr>
        <p:spPr>
          <a:xfrm>
            <a:off x="533556" y="2731260"/>
            <a:ext cx="6093618" cy="2995692"/>
          </a:xfrm>
          <a:prstGeom prst="rect">
            <a:avLst/>
          </a:prstGeom>
          <a:noFill/>
        </p:spPr>
        <p:txBody>
          <a:bodyPr wrap="square">
            <a:spAutoFit/>
          </a:bodyPr>
          <a:lstStyle/>
          <a:p>
            <a:pPr>
              <a:spcAft>
                <a:spcPts val="375"/>
              </a:spcAft>
            </a:pPr>
            <a:endParaRPr lang="en-US" dirty="0">
              <a:solidFill>
                <a:srgbClr val="000000"/>
              </a:solidFill>
              <a:latin typeface="Courier New" panose="02070309020205020404" pitchFamily="49" charset="0"/>
            </a:endParaRPr>
          </a:p>
          <a:p>
            <a:pPr>
              <a:spcAft>
                <a:spcPts val="375"/>
              </a:spcAft>
            </a:pPr>
            <a:endParaRPr lang="en-US" b="0" i="0" dirty="0">
              <a:solidFill>
                <a:srgbClr val="000000"/>
              </a:solidFill>
              <a:effectLst/>
              <a:latin typeface="Courier New" panose="02070309020205020404" pitchFamily="49" charset="0"/>
            </a:endParaRPr>
          </a:p>
          <a:p>
            <a:pPr>
              <a:spcAft>
                <a:spcPts val="375"/>
              </a:spcAft>
            </a:pPr>
            <a:r>
              <a:rPr lang="en-US" dirty="0">
                <a:solidFill>
                  <a:srgbClr val="000000"/>
                </a:solidFill>
                <a:latin typeface="Courier New" panose="02070309020205020404" pitchFamily="49" charset="0"/>
              </a:rPr>
              <a:t>&lt;html&gt;</a:t>
            </a:r>
          </a:p>
          <a:p>
            <a:pPr>
              <a:spcAft>
                <a:spcPts val="375"/>
              </a:spcAft>
            </a:pPr>
            <a:r>
              <a:rPr lang="en-US" b="0" i="0" dirty="0">
                <a:solidFill>
                  <a:srgbClr val="000000"/>
                </a:solidFill>
                <a:effectLst/>
                <a:latin typeface="Courier New" panose="02070309020205020404" pitchFamily="49" charset="0"/>
              </a:rPr>
              <a:t>&lt;body&gt;</a:t>
            </a:r>
          </a:p>
          <a:p>
            <a:pPr>
              <a:spcAft>
                <a:spcPts val="375"/>
              </a:spcAft>
            </a:pPr>
            <a:endParaRPr lang="en-US" b="0" i="0" dirty="0">
              <a:solidFill>
                <a:srgbClr val="000000"/>
              </a:solidFill>
              <a:effectLst/>
              <a:latin typeface="Courier New" panose="02070309020205020404" pitchFamily="49" charset="0"/>
            </a:endParaRPr>
          </a:p>
          <a:p>
            <a:pPr>
              <a:spcAft>
                <a:spcPts val="375"/>
              </a:spcAft>
            </a:pPr>
            <a:r>
              <a:rPr lang="en-US" b="0" i="0" dirty="0">
                <a:solidFill>
                  <a:srgbClr val="000000"/>
                </a:solidFill>
                <a:effectLst/>
                <a:latin typeface="Courier New" panose="02070309020205020404" pitchFamily="49" charset="0"/>
              </a:rPr>
              <a:t>{% include </a:t>
            </a:r>
            <a:r>
              <a:rPr lang="en-US" b="1" i="0" dirty="0">
                <a:solidFill>
                  <a:schemeClr val="accent2">
                    <a:lumMod val="75000"/>
                  </a:schemeClr>
                </a:solidFill>
                <a:effectLst/>
                <a:latin typeface="Courier New" panose="02070309020205020404" pitchFamily="49" charset="0"/>
              </a:rPr>
              <a:t>header.html </a:t>
            </a:r>
            <a:r>
              <a:rPr lang="en-US" b="0" i="0" dirty="0">
                <a:solidFill>
                  <a:srgbClr val="000000"/>
                </a:solidFill>
                <a:effectLst/>
                <a:latin typeface="Courier New" panose="02070309020205020404" pitchFamily="49" charset="0"/>
              </a:rPr>
              <a:t>%} </a:t>
            </a:r>
          </a:p>
          <a:p>
            <a:pPr lvl="2">
              <a:spcAft>
                <a:spcPts val="375"/>
              </a:spcAft>
            </a:pPr>
            <a:endParaRPr lang="en-US" dirty="0">
              <a:solidFill>
                <a:srgbClr val="000000"/>
              </a:solidFill>
              <a:latin typeface="Courier New" panose="02070309020205020404" pitchFamily="49" charset="0"/>
            </a:endParaRPr>
          </a:p>
          <a:p>
            <a:pPr>
              <a:spcAft>
                <a:spcPts val="375"/>
              </a:spcAft>
            </a:pPr>
            <a:r>
              <a:rPr lang="en-US" b="0" i="0" dirty="0">
                <a:solidFill>
                  <a:srgbClr val="000000"/>
                </a:solidFill>
                <a:effectLst/>
                <a:latin typeface="Courier New" panose="02070309020205020404" pitchFamily="49" charset="0"/>
              </a:rPr>
              <a:t>&lt;/body&gt;</a:t>
            </a:r>
          </a:p>
          <a:p>
            <a:pPr algn="l">
              <a:spcAft>
                <a:spcPts val="375"/>
              </a:spcAft>
              <a:buNone/>
            </a:pPr>
            <a:r>
              <a:rPr lang="en-US" b="0" i="0" dirty="0">
                <a:solidFill>
                  <a:srgbClr val="000000"/>
                </a:solidFill>
                <a:effectLst/>
                <a:latin typeface="Courier New" panose="02070309020205020404" pitchFamily="49" charset="0"/>
              </a:rPr>
              <a:t>&lt;/html&gt; </a:t>
            </a:r>
            <a:endParaRPr lang="en-US" dirty="0"/>
          </a:p>
        </p:txBody>
      </p:sp>
      <p:sp>
        <p:nvSpPr>
          <p:cNvPr id="12" name="TextBox 11">
            <a:extLst>
              <a:ext uri="{FF2B5EF4-FFF2-40B4-BE49-F238E27FC236}">
                <a16:creationId xmlns:a16="http://schemas.microsoft.com/office/drawing/2014/main" id="{EB4165C8-F138-6971-18C0-B0F711BF34E6}"/>
              </a:ext>
            </a:extLst>
          </p:cNvPr>
          <p:cNvSpPr txBox="1"/>
          <p:nvPr/>
        </p:nvSpPr>
        <p:spPr>
          <a:xfrm>
            <a:off x="1285876" y="211907"/>
            <a:ext cx="3241593" cy="584775"/>
          </a:xfrm>
          <a:prstGeom prst="rect">
            <a:avLst/>
          </a:prstGeom>
          <a:noFill/>
        </p:spPr>
        <p:txBody>
          <a:bodyPr wrap="none" rtlCol="0">
            <a:spAutoFit/>
          </a:bodyPr>
          <a:lstStyle/>
          <a:p>
            <a:r>
              <a:rPr lang="en-US" sz="3200" dirty="0">
                <a:latin typeface="Aharoni" panose="02010803020104030203" pitchFamily="2" charset="-79"/>
                <a:cs typeface="Aharoni" panose="02010803020104030203" pitchFamily="2" charset="-79"/>
              </a:rPr>
              <a:t>LIQUID / JEKYLL</a:t>
            </a:r>
          </a:p>
        </p:txBody>
      </p:sp>
      <p:sp>
        <p:nvSpPr>
          <p:cNvPr id="13" name="TextBox 12">
            <a:extLst>
              <a:ext uri="{FF2B5EF4-FFF2-40B4-BE49-F238E27FC236}">
                <a16:creationId xmlns:a16="http://schemas.microsoft.com/office/drawing/2014/main" id="{EAC46756-24F4-081A-8411-9C65D7A74569}"/>
              </a:ext>
            </a:extLst>
          </p:cNvPr>
          <p:cNvSpPr txBox="1"/>
          <p:nvPr/>
        </p:nvSpPr>
        <p:spPr>
          <a:xfrm>
            <a:off x="8254873" y="240312"/>
            <a:ext cx="1249060" cy="584775"/>
          </a:xfrm>
          <a:prstGeom prst="rect">
            <a:avLst/>
          </a:prstGeom>
          <a:noFill/>
        </p:spPr>
        <p:txBody>
          <a:bodyPr wrap="none" rtlCol="0">
            <a:spAutoFit/>
          </a:bodyPr>
          <a:lstStyle/>
          <a:p>
            <a:r>
              <a:rPr lang="en-US" sz="3200" dirty="0">
                <a:latin typeface="Aharoni" panose="02010803020104030203" pitchFamily="2" charset="-79"/>
                <a:cs typeface="Aharoni" panose="02010803020104030203" pitchFamily="2" charset="-79"/>
              </a:rPr>
              <a:t>HTML</a:t>
            </a:r>
          </a:p>
        </p:txBody>
      </p:sp>
      <p:cxnSp>
        <p:nvCxnSpPr>
          <p:cNvPr id="15" name="Straight Arrow Connector 14">
            <a:extLst>
              <a:ext uri="{FF2B5EF4-FFF2-40B4-BE49-F238E27FC236}">
                <a16:creationId xmlns:a16="http://schemas.microsoft.com/office/drawing/2014/main" id="{56DDECEE-E8A3-3CB6-3E87-4247CEE369B6}"/>
              </a:ext>
            </a:extLst>
          </p:cNvPr>
          <p:cNvCxnSpPr>
            <a:cxnSpLocks/>
          </p:cNvCxnSpPr>
          <p:nvPr/>
        </p:nvCxnSpPr>
        <p:spPr>
          <a:xfrm flipH="1">
            <a:off x="4957763" y="504294"/>
            <a:ext cx="2728912" cy="0"/>
          </a:xfrm>
          <a:prstGeom prst="straightConnector1">
            <a:avLst/>
          </a:prstGeom>
          <a:ln w="508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69AEA5C-71E7-051B-0D99-62998695FF5E}"/>
              </a:ext>
            </a:extLst>
          </p:cNvPr>
          <p:cNvSpPr txBox="1"/>
          <p:nvPr/>
        </p:nvSpPr>
        <p:spPr>
          <a:xfrm>
            <a:off x="4656056" y="2316766"/>
            <a:ext cx="6773944" cy="523220"/>
          </a:xfrm>
          <a:prstGeom prst="rect">
            <a:avLst/>
          </a:prstGeom>
          <a:noFill/>
        </p:spPr>
        <p:txBody>
          <a:bodyPr wrap="square">
            <a:spAutoFit/>
          </a:bodyPr>
          <a:lstStyle/>
          <a:p>
            <a:pPr lvl="2">
              <a:spcAft>
                <a:spcPts val="375"/>
              </a:spcAft>
            </a:pPr>
            <a:r>
              <a:rPr lang="en-US" sz="2800" b="1" dirty="0">
                <a:solidFill>
                  <a:schemeClr val="accent2">
                    <a:lumMod val="75000"/>
                  </a:schemeClr>
                </a:solidFill>
                <a:latin typeface="Courier New" panose="02070309020205020404" pitchFamily="49" charset="0"/>
              </a:rPr>
              <a:t>header.html file content: </a:t>
            </a:r>
          </a:p>
        </p:txBody>
      </p:sp>
      <p:sp>
        <p:nvSpPr>
          <p:cNvPr id="17" name="TextBox 16">
            <a:extLst>
              <a:ext uri="{FF2B5EF4-FFF2-40B4-BE49-F238E27FC236}">
                <a16:creationId xmlns:a16="http://schemas.microsoft.com/office/drawing/2014/main" id="{78F5D681-70F8-ECF3-00B3-5D649006682D}"/>
              </a:ext>
            </a:extLst>
          </p:cNvPr>
          <p:cNvSpPr txBox="1"/>
          <p:nvPr/>
        </p:nvSpPr>
        <p:spPr>
          <a:xfrm>
            <a:off x="5661421" y="3020351"/>
            <a:ext cx="8711803" cy="3416320"/>
          </a:xfrm>
          <a:prstGeom prst="rect">
            <a:avLst/>
          </a:prstGeom>
          <a:noFill/>
        </p:spPr>
        <p:txBody>
          <a:bodyPr wrap="square">
            <a:spAutoFit/>
          </a:bodyPr>
          <a:lstStyle/>
          <a:p>
            <a:r>
              <a:rPr lang="en-US" dirty="0">
                <a:latin typeface="Biome Light" panose="020B0303030204020804" pitchFamily="34" charset="0"/>
                <a:cs typeface="Biome Light" panose="020B0303030204020804" pitchFamily="34" charset="0"/>
              </a:rPr>
              <a:t>&lt;header&gt;</a:t>
            </a:r>
          </a:p>
          <a:p>
            <a:r>
              <a:rPr lang="en-US" dirty="0">
                <a:latin typeface="Biome Light" panose="020B0303030204020804" pitchFamily="34" charset="0"/>
                <a:cs typeface="Biome Light" panose="020B0303030204020804" pitchFamily="34" charset="0"/>
              </a:rPr>
              <a:t>&lt;div class="navbar"&gt;</a:t>
            </a:r>
          </a:p>
          <a:p>
            <a:r>
              <a:rPr lang="en-US" dirty="0">
                <a:latin typeface="Biome Light" panose="020B0303030204020804" pitchFamily="34" charset="0"/>
                <a:cs typeface="Biome Light" panose="020B0303030204020804" pitchFamily="34" charset="0"/>
              </a:rPr>
              <a:t>  </a:t>
            </a:r>
          </a:p>
          <a:p>
            <a:r>
              <a:rPr lang="en-US" dirty="0">
                <a:latin typeface="Biome Light" panose="020B0303030204020804" pitchFamily="34" charset="0"/>
                <a:cs typeface="Biome Light" panose="020B0303030204020804" pitchFamily="34" charset="0"/>
              </a:rPr>
              <a:t>  &lt;a id="site-title" </a:t>
            </a:r>
            <a:r>
              <a:rPr lang="en-US" dirty="0" err="1">
                <a:latin typeface="Biome Light" panose="020B0303030204020804" pitchFamily="34" charset="0"/>
                <a:cs typeface="Biome Light" panose="020B0303030204020804" pitchFamily="34" charset="0"/>
              </a:rPr>
              <a:t>href</a:t>
            </a:r>
            <a:r>
              <a:rPr lang="en-US" dirty="0">
                <a:latin typeface="Biome Light" panose="020B0303030204020804" pitchFamily="34" charset="0"/>
                <a:cs typeface="Biome Light" panose="020B0303030204020804" pitchFamily="34" charset="0"/>
              </a:rPr>
              <a:t>="index"&gt;  {{ </a:t>
            </a:r>
            <a:r>
              <a:rPr lang="en-US" dirty="0" err="1">
                <a:latin typeface="Biome Light" panose="020B0303030204020804" pitchFamily="34" charset="0"/>
                <a:cs typeface="Biome Light" panose="020B0303030204020804" pitchFamily="34" charset="0"/>
              </a:rPr>
              <a:t>site.title</a:t>
            </a:r>
            <a:r>
              <a:rPr lang="en-US" dirty="0">
                <a:latin typeface="Biome Light" panose="020B0303030204020804" pitchFamily="34" charset="0"/>
                <a:cs typeface="Biome Light" panose="020B0303030204020804" pitchFamily="34" charset="0"/>
              </a:rPr>
              <a:t> }}  &lt;/a&gt;</a:t>
            </a:r>
          </a:p>
          <a:p>
            <a:r>
              <a:rPr lang="en-US" dirty="0">
                <a:latin typeface="Biome Light" panose="020B0303030204020804" pitchFamily="34" charset="0"/>
                <a:cs typeface="Biome Light" panose="020B0303030204020804" pitchFamily="34" charset="0"/>
              </a:rPr>
              <a:t>  </a:t>
            </a:r>
          </a:p>
          <a:p>
            <a:r>
              <a:rPr lang="en-US" dirty="0">
                <a:latin typeface="Biome Light" panose="020B0303030204020804" pitchFamily="34" charset="0"/>
                <a:cs typeface="Biome Light" panose="020B0303030204020804" pitchFamily="34" charset="0"/>
              </a:rPr>
              <a:t>  &lt;a </a:t>
            </a:r>
            <a:r>
              <a:rPr lang="en-US" dirty="0" err="1">
                <a:latin typeface="Biome Light" panose="020B0303030204020804" pitchFamily="34" charset="0"/>
                <a:cs typeface="Biome Light" panose="020B0303030204020804" pitchFamily="34" charset="0"/>
              </a:rPr>
              <a:t>href</a:t>
            </a:r>
            <a:r>
              <a:rPr lang="en-US" dirty="0">
                <a:latin typeface="Biome Light" panose="020B0303030204020804" pitchFamily="34" charset="0"/>
                <a:cs typeface="Biome Light" panose="020B0303030204020804" pitchFamily="34" charset="0"/>
              </a:rPr>
              <a:t>="index"&gt;   Home             &lt;/a&gt;</a:t>
            </a:r>
          </a:p>
          <a:p>
            <a:r>
              <a:rPr lang="en-US" dirty="0">
                <a:latin typeface="Biome Light" panose="020B0303030204020804" pitchFamily="34" charset="0"/>
                <a:cs typeface="Biome Light" panose="020B0303030204020804" pitchFamily="34" charset="0"/>
              </a:rPr>
              <a:t>  &lt;a </a:t>
            </a:r>
            <a:r>
              <a:rPr lang="en-US" dirty="0" err="1">
                <a:latin typeface="Biome Light" panose="020B0303030204020804" pitchFamily="34" charset="0"/>
                <a:cs typeface="Biome Light" panose="020B0303030204020804" pitchFamily="34" charset="0"/>
              </a:rPr>
              <a:t>href</a:t>
            </a:r>
            <a:r>
              <a:rPr lang="en-US" dirty="0">
                <a:latin typeface="Biome Light" panose="020B0303030204020804" pitchFamily="34" charset="0"/>
                <a:cs typeface="Biome Light" panose="020B0303030204020804" pitchFamily="34" charset="0"/>
              </a:rPr>
              <a:t>="page1"&gt;   Layout Example   &lt;/a&gt;  </a:t>
            </a:r>
          </a:p>
          <a:p>
            <a:r>
              <a:rPr lang="en-US" dirty="0">
                <a:latin typeface="Biome Light" panose="020B0303030204020804" pitchFamily="34" charset="0"/>
                <a:cs typeface="Biome Light" panose="020B0303030204020804" pitchFamily="34" charset="0"/>
              </a:rPr>
              <a:t>  &lt;a </a:t>
            </a:r>
            <a:r>
              <a:rPr lang="en-US" dirty="0" err="1">
                <a:latin typeface="Biome Light" panose="020B0303030204020804" pitchFamily="34" charset="0"/>
                <a:cs typeface="Biome Light" panose="020B0303030204020804" pitchFamily="34" charset="0"/>
              </a:rPr>
              <a:t>href</a:t>
            </a:r>
            <a:r>
              <a:rPr lang="en-US" dirty="0">
                <a:latin typeface="Biome Light" panose="020B0303030204020804" pitchFamily="34" charset="0"/>
                <a:cs typeface="Biome Light" panose="020B0303030204020804" pitchFamily="34" charset="0"/>
              </a:rPr>
              <a:t>="page2"&gt;   Table Example    &lt;/a&gt; </a:t>
            </a:r>
          </a:p>
          <a:p>
            <a:r>
              <a:rPr lang="en-US" dirty="0">
                <a:latin typeface="Biome Light" panose="020B0303030204020804" pitchFamily="34" charset="0"/>
                <a:cs typeface="Biome Light" panose="020B0303030204020804" pitchFamily="34" charset="0"/>
              </a:rPr>
              <a:t>  &lt;a </a:t>
            </a:r>
            <a:r>
              <a:rPr lang="en-US" dirty="0" err="1">
                <a:latin typeface="Biome Light" panose="020B0303030204020804" pitchFamily="34" charset="0"/>
                <a:cs typeface="Biome Light" panose="020B0303030204020804" pitchFamily="34" charset="0"/>
              </a:rPr>
              <a:t>href</a:t>
            </a:r>
            <a:r>
              <a:rPr lang="en-US" dirty="0">
                <a:latin typeface="Biome Light" panose="020B0303030204020804" pitchFamily="34" charset="0"/>
                <a:cs typeface="Biome Light" panose="020B0303030204020804" pitchFamily="34" charset="0"/>
              </a:rPr>
              <a:t>="about"&gt;   About            &lt;/a&gt;  </a:t>
            </a:r>
          </a:p>
          <a:p>
            <a:r>
              <a:rPr lang="en-US" dirty="0">
                <a:latin typeface="Biome Light" panose="020B0303030204020804" pitchFamily="34" charset="0"/>
                <a:cs typeface="Biome Light" panose="020B0303030204020804" pitchFamily="34" charset="0"/>
              </a:rPr>
              <a:t>  </a:t>
            </a:r>
          </a:p>
          <a:p>
            <a:r>
              <a:rPr lang="en-US" dirty="0">
                <a:latin typeface="Biome Light" panose="020B0303030204020804" pitchFamily="34" charset="0"/>
                <a:cs typeface="Biome Light" panose="020B0303030204020804" pitchFamily="34" charset="0"/>
              </a:rPr>
              <a:t>&lt;/div&gt;</a:t>
            </a:r>
          </a:p>
          <a:p>
            <a:r>
              <a:rPr lang="en-US" dirty="0">
                <a:latin typeface="Biome Light" panose="020B0303030204020804" pitchFamily="34" charset="0"/>
                <a:cs typeface="Biome Light" panose="020B0303030204020804" pitchFamily="34" charset="0"/>
              </a:rPr>
              <a:t>&lt;/header&gt;</a:t>
            </a:r>
          </a:p>
        </p:txBody>
      </p:sp>
      <p:sp>
        <p:nvSpPr>
          <p:cNvPr id="18" name="Rectangle 17">
            <a:extLst>
              <a:ext uri="{FF2B5EF4-FFF2-40B4-BE49-F238E27FC236}">
                <a16:creationId xmlns:a16="http://schemas.microsoft.com/office/drawing/2014/main" id="{C9FA5BD8-7FB8-1EF6-B100-1A765B4197D5}"/>
              </a:ext>
            </a:extLst>
          </p:cNvPr>
          <p:cNvSpPr/>
          <p:nvPr/>
        </p:nvSpPr>
        <p:spPr>
          <a:xfrm>
            <a:off x="5661421" y="3020350"/>
            <a:ext cx="5768579" cy="3416319"/>
          </a:xfrm>
          <a:prstGeom prst="rect">
            <a:avLst/>
          </a:prstGeom>
          <a:noFill/>
          <a:ln w="254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9" name="Straight Arrow Connector 18">
            <a:extLst>
              <a:ext uri="{FF2B5EF4-FFF2-40B4-BE49-F238E27FC236}">
                <a16:creationId xmlns:a16="http://schemas.microsoft.com/office/drawing/2014/main" id="{DE10C129-9CE7-255F-5C9E-DE378D34154B}"/>
              </a:ext>
            </a:extLst>
          </p:cNvPr>
          <p:cNvCxnSpPr>
            <a:cxnSpLocks/>
          </p:cNvCxnSpPr>
          <p:nvPr/>
        </p:nvCxnSpPr>
        <p:spPr>
          <a:xfrm flipH="1">
            <a:off x="4238626" y="4557187"/>
            <a:ext cx="1212056" cy="0"/>
          </a:xfrm>
          <a:prstGeom prst="straightConnector1">
            <a:avLst/>
          </a:prstGeom>
          <a:ln w="44450">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F16A91EB-C232-EBA8-27BC-BEDE3D7D4CA3}"/>
              </a:ext>
            </a:extLst>
          </p:cNvPr>
          <p:cNvSpPr txBox="1"/>
          <p:nvPr/>
        </p:nvSpPr>
        <p:spPr>
          <a:xfrm>
            <a:off x="1285876" y="1117639"/>
            <a:ext cx="8472488" cy="646331"/>
          </a:xfrm>
          <a:prstGeom prst="rect">
            <a:avLst/>
          </a:prstGeom>
          <a:noFill/>
        </p:spPr>
        <p:txBody>
          <a:bodyPr wrap="square" rtlCol="0">
            <a:spAutoFit/>
          </a:bodyPr>
          <a:lstStyle/>
          <a:p>
            <a:r>
              <a:rPr lang="en-US" b="1" dirty="0"/>
              <a:t>The </a:t>
            </a:r>
            <a:r>
              <a:rPr lang="en-US" b="1" dirty="0">
                <a:solidFill>
                  <a:schemeClr val="accent2">
                    <a:lumMod val="75000"/>
                  </a:schemeClr>
                </a:solidFill>
              </a:rPr>
              <a:t>{% include %} </a:t>
            </a:r>
            <a:r>
              <a:rPr lang="en-US" b="1" dirty="0"/>
              <a:t>liquid tag is the way that Jekyll combines page elements by replacing the tag with the actual HTML code contained within the referenced file</a:t>
            </a:r>
          </a:p>
        </p:txBody>
      </p:sp>
    </p:spTree>
    <p:extLst>
      <p:ext uri="{BB962C8B-B14F-4D97-AF65-F5344CB8AC3E}">
        <p14:creationId xmlns:p14="http://schemas.microsoft.com/office/powerpoint/2010/main" val="11491355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4096</TotalTime>
  <Words>936</Words>
  <Application>Microsoft Office PowerPoint</Application>
  <PresentationFormat>Widescreen</PresentationFormat>
  <Paragraphs>180</Paragraphs>
  <Slides>17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Abadi ExtraLight</vt:lpstr>
      <vt:lpstr>ADLaM Display</vt:lpstr>
      <vt:lpstr>Aharoni</vt:lpstr>
      <vt:lpstr>Aptos</vt:lpstr>
      <vt:lpstr>Aptos Display</vt:lpstr>
      <vt:lpstr>Arial</vt:lpstr>
      <vt:lpstr>Biome Light</vt:lpstr>
      <vt:lpstr>Courier New</vt:lpstr>
      <vt:lpstr>Office Theme</vt:lpstr>
      <vt:lpstr>TEMPLATES AND  GITHUB PAGES</vt:lpstr>
      <vt:lpstr>THE BIG PICTURE</vt:lpstr>
      <vt:lpstr>PowerPoint Presentation</vt:lpstr>
      <vt:lpstr>PowerPoint Presentation</vt:lpstr>
      <vt:lpstr>PowerPoint Presentation</vt:lpstr>
      <vt:lpstr>PowerPoint Presentation</vt:lpstr>
      <vt:lpstr>PowerPoint Presentation</vt:lpstr>
      <vt:lpstr>PowerPoint Presentation</vt:lpstr>
      <vt:lpstr>HTML Pages</vt:lpstr>
      <vt:lpstr>PowerPoint Presentation</vt:lpstr>
      <vt:lpstr>PowerPoint Presentation</vt:lpstr>
      <vt:lpstr>PowerPoint Presentation</vt:lpstr>
      <vt:lpstr>PowerPoint Presentation</vt:lpstr>
      <vt:lpstr>THE JEKYLL FRAMEWORK</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Jesse Lecy</dc:creator>
  <cp:lastModifiedBy>Jesse Lecy</cp:lastModifiedBy>
  <cp:revision>2</cp:revision>
  <dcterms:created xsi:type="dcterms:W3CDTF">2026-02-11T16:48:48Z</dcterms:created>
  <dcterms:modified xsi:type="dcterms:W3CDTF">2026-02-17T03:57:45Z</dcterms:modified>
</cp:coreProperties>
</file>