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70" r:id="rId3"/>
    <p:sldId id="271" r:id="rId4"/>
    <p:sldId id="272" r:id="rId5"/>
    <p:sldId id="273" r:id="rId6"/>
    <p:sldId id="274" r:id="rId7"/>
    <p:sldId id="262" r:id="rId8"/>
    <p:sldId id="275" r:id="rId9"/>
    <p:sldId id="276" r:id="rId10"/>
    <p:sldId id="258" r:id="rId11"/>
    <p:sldId id="259" r:id="rId12"/>
    <p:sldId id="257" r:id="rId13"/>
    <p:sldId id="267" r:id="rId14"/>
    <p:sldId id="260" r:id="rId15"/>
    <p:sldId id="277" r:id="rId16"/>
    <p:sldId id="279" r:id="rId17"/>
    <p:sldId id="278" r:id="rId18"/>
    <p:sldId id="269" r:id="rId19"/>
    <p:sldId id="280" r:id="rId20"/>
    <p:sldId id="281" r:id="rId21"/>
    <p:sldId id="282" r:id="rId22"/>
    <p:sldId id="261" r:id="rId23"/>
    <p:sldId id="265" r:id="rId24"/>
    <p:sldId id="26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6" d="100"/>
          <a:sy n="86" d="100"/>
        </p:scale>
        <p:origin x="1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640CFC7-8E0A-41C7-9CAB-E03B39C271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1910345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latin typeface="Century Gothic" panose="020B0502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640CFC7-8E0A-41C7-9CAB-E03B39C271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800340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cap="all" baseline="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40CFC7-8E0A-41C7-9CAB-E03B39C271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4210458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40CFC7-8E0A-41C7-9CAB-E03B39C271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346887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40CFC7-8E0A-41C7-9CAB-E03B39C271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3525199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40CFC7-8E0A-41C7-9CAB-E03B39C271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3987668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40CFC7-8E0A-41C7-9CAB-E03B39C271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1919599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640CFC7-8E0A-41C7-9CAB-E03B39C271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2430736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640CFC7-8E0A-41C7-9CAB-E03B39C271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2911699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40CFC7-8E0A-41C7-9CAB-E03B39C271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1630311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40CFC7-8E0A-41C7-9CAB-E03B39C271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AEF22-A458-4590-9051-7CEBE629C9F3}" type="slidenum">
              <a:rPr lang="en-US" smtClean="0"/>
              <a:t>‹#›</a:t>
            </a:fld>
            <a:endParaRPr lang="en-US"/>
          </a:p>
        </p:txBody>
      </p:sp>
    </p:spTree>
    <p:extLst>
      <p:ext uri="{BB962C8B-B14F-4D97-AF65-F5344CB8AC3E}">
        <p14:creationId xmlns:p14="http://schemas.microsoft.com/office/powerpoint/2010/main" val="1432531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AAF4-4DD8-1198-4B32-F8256F5A48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CFE8FD-E872-6205-56FE-6A31963B82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E03666-F741-F831-E4CA-61BBACDFC06F}"/>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40DE0D44-C310-F6B1-EFFB-CF1CB9C80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9580E-0689-2D3C-BA13-6A0A6F0D458D}"/>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2314477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82AE0-DB98-D772-1570-F4DA74814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B04662-31F7-0418-18FA-4F73BF9CD3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B0428-8D40-2ACE-B3F7-EFDCC5D83E0A}"/>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8B40CE03-E499-7178-5806-D0390BA98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EF4E3-3906-D2EB-258C-DC10682EB974}"/>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1528243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5092-B3E3-8579-41C1-5C7AABD673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96A45A-41EC-55F9-9350-38C0E33FB4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26F874-CD61-1772-2BA4-9200BC9996FE}"/>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73CE10BC-0CFF-0ACF-C244-F24457DE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238BD-5353-AD82-A4B8-EF103C56CC83}"/>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825385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E56E3-56F7-5CAC-BFAF-84EE88FEE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25045B-B602-6C5D-C6F8-95E0004392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5DC66-1B87-03C5-19A1-E2C380FC5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BC381E-E852-A8C4-6493-20AC22B5C28A}"/>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6" name="Footer Placeholder 5">
            <a:extLst>
              <a:ext uri="{FF2B5EF4-FFF2-40B4-BE49-F238E27FC236}">
                <a16:creationId xmlns:a16="http://schemas.microsoft.com/office/drawing/2014/main" id="{687A92BB-3088-1559-3719-92DC395189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60EAA5-39D1-B62A-F600-1B63F48F86C0}"/>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1614684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8ECC-02D5-C905-0725-A396BEB733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8AF13E-7ABA-D9CE-8BEA-969F16B45A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0C40ED-87C0-E995-F415-5385298F17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3E8518-7FB0-461C-A939-3BDF3DE58A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9E1787-A46B-6734-4F76-9ADA5B672D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FA3875-06D5-A577-9231-515AB6A768B1}"/>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8" name="Footer Placeholder 7">
            <a:extLst>
              <a:ext uri="{FF2B5EF4-FFF2-40B4-BE49-F238E27FC236}">
                <a16:creationId xmlns:a16="http://schemas.microsoft.com/office/drawing/2014/main" id="{AB5011D4-E738-FAE8-6040-BB499391E8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06E652-D99B-DE97-B9CC-46D4415921C0}"/>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13533929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9470-F2D0-1AE3-7897-03DC10C4E1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4BFBED-56AF-304A-4BF1-16CDC4BCA1F6}"/>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4" name="Footer Placeholder 3">
            <a:extLst>
              <a:ext uri="{FF2B5EF4-FFF2-40B4-BE49-F238E27FC236}">
                <a16:creationId xmlns:a16="http://schemas.microsoft.com/office/drawing/2014/main" id="{AAB8BE41-D3EF-6F24-7274-1A2D704DF1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6A806-C9BD-D13F-7529-D7F16CF9C24A}"/>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3323297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2141B-58B6-5881-4D8F-960EEF623A91}"/>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3" name="Footer Placeholder 2">
            <a:extLst>
              <a:ext uri="{FF2B5EF4-FFF2-40B4-BE49-F238E27FC236}">
                <a16:creationId xmlns:a16="http://schemas.microsoft.com/office/drawing/2014/main" id="{212BEFBC-A9FB-AE88-301F-A18570C0CE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FA0365-B0A8-B9C9-EA90-AA2857969D31}"/>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21737983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99052-500D-7485-EE55-364A80A5B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BFF715-B56A-C230-DF0F-E694815439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17E0F6-4748-3A58-6FF9-005CE81FA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ABE01-A8DA-8B0A-0A9E-D6652598FE07}"/>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6" name="Footer Placeholder 5">
            <a:extLst>
              <a:ext uri="{FF2B5EF4-FFF2-40B4-BE49-F238E27FC236}">
                <a16:creationId xmlns:a16="http://schemas.microsoft.com/office/drawing/2014/main" id="{DDF65F6E-E8CE-6C83-7C0C-ACDA9C7A3E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38A4C-51EB-E14A-C1AC-61E63B00F279}"/>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2001455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B099-1C08-5380-4870-57B8667226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BE5166-3A80-4721-649B-75F341AA47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CBEB89-C05B-A90F-84F3-5A20DDCD7C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D0975-B25F-3FE1-B47A-A7443E26752E}"/>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6" name="Footer Placeholder 5">
            <a:extLst>
              <a:ext uri="{FF2B5EF4-FFF2-40B4-BE49-F238E27FC236}">
                <a16:creationId xmlns:a16="http://schemas.microsoft.com/office/drawing/2014/main" id="{769FCBCC-B012-029A-0546-681CAD63F3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B6AB4D-1C1D-DE91-7E13-30558E933E52}"/>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264708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B7745-8E4B-EB7B-16E8-1C38EF0AE4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F62709-5009-B324-E466-FD0D5FD986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ECEF5-7A02-0DFA-157E-24BA19D986A8}"/>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9AFD082F-F387-819F-D68F-DB94D0DD7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A4E7F-02DE-CD7C-F92F-AD59A32E22F3}"/>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64113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ED1F5-25C7-94AF-6ACF-26D9E43653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44B960-7A2C-6A91-A27A-3360DE1301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B801C8-A901-4DEF-AFBC-4AAB2E0FB5A1}"/>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2E9D1510-5482-4A0F-EC79-089097744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4295D-FC0C-D35A-A07E-5562FB9879BA}"/>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4068228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0CFC7-8E0A-41C7-9CAB-E03B39C271C4}" type="datetimeFigureOut">
              <a:rPr lang="en-US" smtClean="0"/>
              <a:t>2/16/2026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AEF22-A458-4590-9051-7CEBE629C9F3}" type="slidenum">
              <a:rPr lang="en-US" smtClean="0"/>
              <a:t>‹#›</a:t>
            </a:fld>
            <a:endParaRPr lang="en-US"/>
          </a:p>
        </p:txBody>
      </p:sp>
    </p:spTree>
    <p:extLst>
      <p:ext uri="{BB962C8B-B14F-4D97-AF65-F5344CB8AC3E}">
        <p14:creationId xmlns:p14="http://schemas.microsoft.com/office/powerpoint/2010/main" val="2169952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lumMod val="50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DBECFA-00FF-B6B9-3B84-53BF328FC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011C26-AFA9-85E4-EE8A-798390110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E75DF0-B8F1-41AF-A935-77B2A10EF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0F44B8C4-847F-9F9B-9C59-3EEB1B524F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F257A9-98A8-D002-4DFD-A40C8E4C6E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45A4C6-3BD9-485E-8F49-FF24F2C31B1D}" type="slidenum">
              <a:rPr lang="en-US" smtClean="0"/>
              <a:t>‹#›</a:t>
            </a:fld>
            <a:endParaRPr lang="en-US"/>
          </a:p>
        </p:txBody>
      </p:sp>
    </p:spTree>
    <p:extLst>
      <p:ext uri="{BB962C8B-B14F-4D97-AF65-F5344CB8AC3E}">
        <p14:creationId xmlns:p14="http://schemas.microsoft.com/office/powerpoint/2010/main" val="3375497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800B5-7E54-1818-17B9-70ABE9B3031B}"/>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the Markdown </a:t>
            </a:r>
            <a:br>
              <a:rPr lang="en-US" dirty="0">
                <a:latin typeface="ADLaM Display" panose="02010000000000000000" pitchFamily="2" charset="0"/>
                <a:ea typeface="ADLaM Display" panose="02010000000000000000" pitchFamily="2" charset="0"/>
                <a:cs typeface="ADLaM Display" panose="02010000000000000000" pitchFamily="2" charset="0"/>
              </a:rPr>
            </a:br>
            <a:r>
              <a:rPr lang="en-US" dirty="0">
                <a:latin typeface="ADLaM Display" panose="02010000000000000000" pitchFamily="2" charset="0"/>
                <a:ea typeface="ADLaM Display" panose="02010000000000000000" pitchFamily="2" charset="0"/>
                <a:cs typeface="ADLaM Display" panose="02010000000000000000" pitchFamily="2" charset="0"/>
              </a:rPr>
              <a:t>to html pipeline</a:t>
            </a:r>
          </a:p>
        </p:txBody>
      </p:sp>
      <p:sp>
        <p:nvSpPr>
          <p:cNvPr id="3" name="Text Placeholder 2">
            <a:extLst>
              <a:ext uri="{FF2B5EF4-FFF2-40B4-BE49-F238E27FC236}">
                <a16:creationId xmlns:a16="http://schemas.microsoft.com/office/drawing/2014/main" id="{1EB59315-5AC9-F350-6119-7A3C367AA8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9688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25FBFC7-9C20-F43E-8F37-E13363EC1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76" y="1263634"/>
            <a:ext cx="8834437" cy="55943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BB914DC-B711-B103-BA76-7BB9852408E9}"/>
              </a:ext>
            </a:extLst>
          </p:cNvPr>
          <p:cNvSpPr txBox="1"/>
          <p:nvPr/>
        </p:nvSpPr>
        <p:spPr>
          <a:xfrm>
            <a:off x="957263" y="253445"/>
            <a:ext cx="9625011" cy="646331"/>
          </a:xfrm>
          <a:prstGeom prst="rect">
            <a:avLst/>
          </a:prstGeom>
          <a:noFill/>
        </p:spPr>
        <p:txBody>
          <a:bodyPr wrap="square" rtlCol="0">
            <a:spAutoFit/>
          </a:bodyPr>
          <a:lstStyle/>
          <a:p>
            <a:pPr algn="ctr"/>
            <a:r>
              <a:rPr lang="en-US" sz="3600" dirty="0">
                <a:latin typeface="Aharoni" panose="02010803020104030203" pitchFamily="2" charset="-79"/>
                <a:cs typeface="Aharoni" panose="02010803020104030203" pitchFamily="2" charset="-79"/>
              </a:rPr>
              <a:t>( you are now familiar with these steps )</a:t>
            </a:r>
          </a:p>
        </p:txBody>
      </p:sp>
    </p:spTree>
    <p:extLst>
      <p:ext uri="{BB962C8B-B14F-4D97-AF65-F5344CB8AC3E}">
        <p14:creationId xmlns:p14="http://schemas.microsoft.com/office/powerpoint/2010/main" val="463435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E990221-123D-8551-0E15-DA101315C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34" y="0"/>
            <a:ext cx="105632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DD9B0B-53DA-477B-8D72-E005F07FDFA3}"/>
              </a:ext>
            </a:extLst>
          </p:cNvPr>
          <p:cNvSpPr txBox="1"/>
          <p:nvPr/>
        </p:nvSpPr>
        <p:spPr>
          <a:xfrm>
            <a:off x="9845557" y="3587875"/>
            <a:ext cx="907621" cy="400110"/>
          </a:xfrm>
          <a:prstGeom prst="rect">
            <a:avLst/>
          </a:prstGeom>
          <a:noFill/>
        </p:spPr>
        <p:txBody>
          <a:bodyPr wrap="none" rtlCol="0">
            <a:spAutoFit/>
          </a:bodyPr>
          <a:lstStyle/>
          <a:p>
            <a:r>
              <a:rPr lang="en-US" sz="20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HTML</a:t>
            </a:r>
          </a:p>
        </p:txBody>
      </p:sp>
      <p:sp>
        <p:nvSpPr>
          <p:cNvPr id="3" name="TextBox 2">
            <a:extLst>
              <a:ext uri="{FF2B5EF4-FFF2-40B4-BE49-F238E27FC236}">
                <a16:creationId xmlns:a16="http://schemas.microsoft.com/office/drawing/2014/main" id="{678DD0EE-C0E3-5029-7E97-844595EA25CA}"/>
              </a:ext>
            </a:extLst>
          </p:cNvPr>
          <p:cNvSpPr txBox="1"/>
          <p:nvPr/>
        </p:nvSpPr>
        <p:spPr>
          <a:xfrm>
            <a:off x="8937936" y="3187765"/>
            <a:ext cx="670376" cy="400110"/>
          </a:xfrm>
          <a:prstGeom prst="rect">
            <a:avLst/>
          </a:prstGeom>
          <a:noFill/>
        </p:spPr>
        <p:txBody>
          <a:bodyPr wrap="none" rtlCol="0">
            <a:spAutoFit/>
          </a:bodyPr>
          <a:lstStyle/>
          <a:p>
            <a:r>
              <a:rPr lang="en-US" sz="20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PDF</a:t>
            </a:r>
          </a:p>
        </p:txBody>
      </p:sp>
      <p:sp>
        <p:nvSpPr>
          <p:cNvPr id="4" name="TextBox 3">
            <a:extLst>
              <a:ext uri="{FF2B5EF4-FFF2-40B4-BE49-F238E27FC236}">
                <a16:creationId xmlns:a16="http://schemas.microsoft.com/office/drawing/2014/main" id="{63029C6F-F0AC-7C91-342B-9CD67E76EF7F}"/>
              </a:ext>
            </a:extLst>
          </p:cNvPr>
          <p:cNvSpPr txBox="1"/>
          <p:nvPr/>
        </p:nvSpPr>
        <p:spPr>
          <a:xfrm>
            <a:off x="9273124" y="2564618"/>
            <a:ext cx="736099" cy="400110"/>
          </a:xfrm>
          <a:prstGeom prst="rect">
            <a:avLst/>
          </a:prstGeom>
          <a:noFill/>
        </p:spPr>
        <p:txBody>
          <a:bodyPr wrap="none" rtlCol="0">
            <a:spAutoFit/>
          </a:bodyPr>
          <a:lstStyle/>
          <a:p>
            <a:r>
              <a:rPr lang="en-US" sz="20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DOC</a:t>
            </a:r>
          </a:p>
        </p:txBody>
      </p:sp>
      <p:sp>
        <p:nvSpPr>
          <p:cNvPr id="5" name="TextBox 4">
            <a:extLst>
              <a:ext uri="{FF2B5EF4-FFF2-40B4-BE49-F238E27FC236}">
                <a16:creationId xmlns:a16="http://schemas.microsoft.com/office/drawing/2014/main" id="{9603074B-DBED-FFF1-EA19-D0265CBFD69B}"/>
              </a:ext>
            </a:extLst>
          </p:cNvPr>
          <p:cNvSpPr txBox="1"/>
          <p:nvPr/>
        </p:nvSpPr>
        <p:spPr>
          <a:xfrm>
            <a:off x="6646370" y="4611132"/>
            <a:ext cx="4583131" cy="1815882"/>
          </a:xfrm>
          <a:prstGeom prst="rect">
            <a:avLst/>
          </a:prstGeom>
          <a:noFill/>
        </p:spPr>
        <p:txBody>
          <a:bodyPr wrap="square" rtlCol="0">
            <a:spAutoFit/>
          </a:bodyPr>
          <a:lstStyle/>
          <a:p>
            <a:pPr algn="ctr"/>
            <a:r>
              <a:rPr lang="en-US" sz="2800" dirty="0">
                <a:latin typeface="Aharoni" panose="02010803020104030203" pitchFamily="2" charset="-79"/>
                <a:cs typeface="Aharoni" panose="02010803020104030203" pitchFamily="2" charset="-79"/>
              </a:rPr>
              <a:t>Anatomy of the R Markdown workflow when you knit a file in RStudio</a:t>
            </a:r>
          </a:p>
        </p:txBody>
      </p:sp>
    </p:spTree>
    <p:extLst>
      <p:ext uri="{BB962C8B-B14F-4D97-AF65-F5344CB8AC3E}">
        <p14:creationId xmlns:p14="http://schemas.microsoft.com/office/powerpoint/2010/main" val="753980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7BB5963-A084-AE73-1FF2-DED2BED76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4691" y="487974"/>
            <a:ext cx="5611999" cy="5651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7261913-3F7A-7BF3-A9F0-CCB27FF59459}"/>
              </a:ext>
            </a:extLst>
          </p:cNvPr>
          <p:cNvSpPr txBox="1"/>
          <p:nvPr/>
        </p:nvSpPr>
        <p:spPr>
          <a:xfrm>
            <a:off x="417186" y="1659285"/>
            <a:ext cx="4583131" cy="3539430"/>
          </a:xfrm>
          <a:prstGeom prst="rect">
            <a:avLst/>
          </a:prstGeom>
          <a:noFill/>
        </p:spPr>
        <p:txBody>
          <a:bodyPr wrap="square" rtlCol="0">
            <a:spAutoFit/>
          </a:bodyPr>
          <a:lstStyle/>
          <a:p>
            <a:pPr algn="ctr"/>
            <a:r>
              <a:rPr lang="en-US" sz="2800" dirty="0">
                <a:latin typeface="Aharoni" panose="02010803020104030203" pitchFamily="2" charset="-79"/>
                <a:cs typeface="Aharoni" panose="02010803020104030203" pitchFamily="2" charset="-79"/>
              </a:rPr>
              <a:t>One reason RMD docs are powerful is </a:t>
            </a:r>
            <a:r>
              <a:rPr lang="en-US" sz="2800" dirty="0" err="1">
                <a:latin typeface="Aharoni" panose="02010803020104030203" pitchFamily="2" charset="-79"/>
                <a:cs typeface="Aharoni" panose="02010803020104030203" pitchFamily="2" charset="-79"/>
              </a:rPr>
              <a:t>Pandoc</a:t>
            </a:r>
            <a:r>
              <a:rPr lang="en-US" sz="2800" dirty="0">
                <a:latin typeface="Aharoni" panose="02010803020104030203" pitchFamily="2" charset="-79"/>
                <a:cs typeface="Aharoni" panose="02010803020104030203" pitchFamily="2" charset="-79"/>
              </a:rPr>
              <a:t> can render content into a variety of content types including HTML docs, word docs, slide decks, dashboards, and PDFs </a:t>
            </a:r>
            <a:br>
              <a:rPr lang="en-US" sz="2800" dirty="0">
                <a:latin typeface="Aharoni" panose="02010803020104030203" pitchFamily="2" charset="-79"/>
                <a:cs typeface="Aharoni" panose="02010803020104030203" pitchFamily="2" charset="-79"/>
              </a:rPr>
            </a:br>
            <a:r>
              <a:rPr lang="en-US" sz="2800" dirty="0">
                <a:latin typeface="Aharoni" panose="02010803020104030203" pitchFamily="2" charset="-79"/>
                <a:cs typeface="Aharoni" panose="02010803020104030203" pitchFamily="2" charset="-79"/>
              </a:rPr>
              <a:t>(to name a few)</a:t>
            </a:r>
          </a:p>
        </p:txBody>
      </p:sp>
    </p:spTree>
    <p:extLst>
      <p:ext uri="{BB962C8B-B14F-4D97-AF65-F5344CB8AC3E}">
        <p14:creationId xmlns:p14="http://schemas.microsoft.com/office/powerpoint/2010/main" val="13360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D1671-8B94-C7CB-E2BC-262F3ED34E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F730A3-B599-5B3D-EE76-D3192AAE431E}"/>
              </a:ext>
            </a:extLst>
          </p:cNvPr>
          <p:cNvSpPr txBox="1"/>
          <p:nvPr/>
        </p:nvSpPr>
        <p:spPr>
          <a:xfrm>
            <a:off x="414683" y="1381637"/>
            <a:ext cx="2760692"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MARKDOWN</a:t>
            </a:r>
          </a:p>
        </p:txBody>
      </p:sp>
      <p:sp>
        <p:nvSpPr>
          <p:cNvPr id="5" name="TextBox 4">
            <a:extLst>
              <a:ext uri="{FF2B5EF4-FFF2-40B4-BE49-F238E27FC236}">
                <a16:creationId xmlns:a16="http://schemas.microsoft.com/office/drawing/2014/main" id="{B7B2560D-7539-847E-3C17-9DB99B85FA09}"/>
              </a:ext>
            </a:extLst>
          </p:cNvPr>
          <p:cNvSpPr txBox="1"/>
          <p:nvPr/>
        </p:nvSpPr>
        <p:spPr>
          <a:xfrm>
            <a:off x="1081532" y="4914947"/>
            <a:ext cx="1426994"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KNITR</a:t>
            </a:r>
          </a:p>
        </p:txBody>
      </p:sp>
      <p:sp>
        <p:nvSpPr>
          <p:cNvPr id="6" name="TextBox 5">
            <a:extLst>
              <a:ext uri="{FF2B5EF4-FFF2-40B4-BE49-F238E27FC236}">
                <a16:creationId xmlns:a16="http://schemas.microsoft.com/office/drawing/2014/main" id="{1CFA2BDC-23E0-CABB-CDB1-299D2C8174A4}"/>
              </a:ext>
            </a:extLst>
          </p:cNvPr>
          <p:cNvSpPr txBox="1"/>
          <p:nvPr/>
        </p:nvSpPr>
        <p:spPr>
          <a:xfrm>
            <a:off x="5152595" y="4914947"/>
            <a:ext cx="1930337"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PANDOC</a:t>
            </a:r>
          </a:p>
        </p:txBody>
      </p:sp>
      <p:cxnSp>
        <p:nvCxnSpPr>
          <p:cNvPr id="8" name="Straight Arrow Connector 7">
            <a:extLst>
              <a:ext uri="{FF2B5EF4-FFF2-40B4-BE49-F238E27FC236}">
                <a16:creationId xmlns:a16="http://schemas.microsoft.com/office/drawing/2014/main" id="{30BEE727-6EE6-D617-1009-53493DD66B6C}"/>
              </a:ext>
            </a:extLst>
          </p:cNvPr>
          <p:cNvCxnSpPr>
            <a:cxnSpLocks/>
            <a:stCxn id="24" idx="2"/>
            <a:endCxn id="5" idx="0"/>
          </p:cNvCxnSpPr>
          <p:nvPr/>
        </p:nvCxnSpPr>
        <p:spPr>
          <a:xfrm>
            <a:off x="1792625" y="4059294"/>
            <a:ext cx="2404" cy="855653"/>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11870F2-4AD6-0A74-9D77-C32E33B5645D}"/>
              </a:ext>
            </a:extLst>
          </p:cNvPr>
          <p:cNvCxnSpPr>
            <a:cxnSpLocks/>
            <a:stCxn id="5" idx="3"/>
            <a:endCxn id="6" idx="1"/>
          </p:cNvCxnSpPr>
          <p:nvPr/>
        </p:nvCxnSpPr>
        <p:spPr>
          <a:xfrm>
            <a:off x="2508526" y="5207335"/>
            <a:ext cx="2644069" cy="0"/>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662AA4C-CFFE-6A1E-5027-D7D2BDDD8DF6}"/>
              </a:ext>
            </a:extLst>
          </p:cNvPr>
          <p:cNvCxnSpPr>
            <a:cxnSpLocks/>
            <a:stCxn id="6" idx="3"/>
          </p:cNvCxnSpPr>
          <p:nvPr/>
        </p:nvCxnSpPr>
        <p:spPr>
          <a:xfrm flipV="1">
            <a:off x="7082932" y="4228569"/>
            <a:ext cx="1289548" cy="978766"/>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5C573E2-594B-691E-9B55-ED20BEC897FC}"/>
              </a:ext>
            </a:extLst>
          </p:cNvPr>
          <p:cNvSpPr txBox="1"/>
          <p:nvPr/>
        </p:nvSpPr>
        <p:spPr>
          <a:xfrm>
            <a:off x="1076724" y="2982076"/>
            <a:ext cx="1431802" cy="1077218"/>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MD+R</a:t>
            </a:r>
          </a:p>
          <a:p>
            <a:r>
              <a:rPr lang="en-US" sz="3200" dirty="0">
                <a:latin typeface="ADLaM Display" panose="02010000000000000000" pitchFamily="2" charset="0"/>
                <a:ea typeface="ADLaM Display" panose="02010000000000000000" pitchFamily="2" charset="0"/>
                <a:cs typeface="ADLaM Display" panose="02010000000000000000" pitchFamily="2" charset="0"/>
              </a:rPr>
              <a:t>=RMD</a:t>
            </a:r>
          </a:p>
        </p:txBody>
      </p:sp>
      <p:cxnSp>
        <p:nvCxnSpPr>
          <p:cNvPr id="29" name="Straight Arrow Connector 28">
            <a:extLst>
              <a:ext uri="{FF2B5EF4-FFF2-40B4-BE49-F238E27FC236}">
                <a16:creationId xmlns:a16="http://schemas.microsoft.com/office/drawing/2014/main" id="{D1469F38-D97C-6BCF-EA3B-E771861AF8D1}"/>
              </a:ext>
            </a:extLst>
          </p:cNvPr>
          <p:cNvCxnSpPr>
            <a:cxnSpLocks/>
            <a:stCxn id="2" idx="2"/>
            <a:endCxn id="24" idx="0"/>
          </p:cNvCxnSpPr>
          <p:nvPr/>
        </p:nvCxnSpPr>
        <p:spPr>
          <a:xfrm flipH="1">
            <a:off x="1792625" y="1966412"/>
            <a:ext cx="2404" cy="1015664"/>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72988C95-5DDC-733B-C91E-947DB196C85D}"/>
              </a:ext>
            </a:extLst>
          </p:cNvPr>
          <p:cNvSpPr txBox="1"/>
          <p:nvPr/>
        </p:nvSpPr>
        <p:spPr>
          <a:xfrm>
            <a:off x="394491" y="165921"/>
            <a:ext cx="8147230" cy="1107996"/>
          </a:xfrm>
          <a:prstGeom prst="rect">
            <a:avLst/>
          </a:prstGeom>
          <a:noFill/>
        </p:spPr>
        <p:txBody>
          <a:bodyPr wrap="none" rtlCol="0">
            <a:spAutoFit/>
          </a:bodyPr>
          <a:lstStyle/>
          <a:p>
            <a:r>
              <a:rPr lang="en-US" sz="6600" cap="all" dirty="0">
                <a:latin typeface="Abadi ExtraLight" panose="020F0502020204030204" pitchFamily="34" charset="0"/>
                <a:ea typeface="ADLaM Display" panose="02010000000000000000" pitchFamily="2" charset="0"/>
                <a:cs typeface="Aharoni" panose="02010803020104030203" pitchFamily="2" charset="-79"/>
              </a:rPr>
              <a:t>MARKDOWN TO HTML</a:t>
            </a:r>
          </a:p>
        </p:txBody>
      </p:sp>
      <p:sp>
        <p:nvSpPr>
          <p:cNvPr id="34" name="TextBox 33">
            <a:extLst>
              <a:ext uri="{FF2B5EF4-FFF2-40B4-BE49-F238E27FC236}">
                <a16:creationId xmlns:a16="http://schemas.microsoft.com/office/drawing/2014/main" id="{17E82922-03F5-BF78-9F14-D6281BF8523B}"/>
              </a:ext>
            </a:extLst>
          </p:cNvPr>
          <p:cNvSpPr txBox="1"/>
          <p:nvPr/>
        </p:nvSpPr>
        <p:spPr>
          <a:xfrm>
            <a:off x="2047039" y="4310974"/>
            <a:ext cx="1114408" cy="400110"/>
          </a:xfrm>
          <a:prstGeom prst="rect">
            <a:avLst/>
          </a:prstGeom>
          <a:noFill/>
        </p:spPr>
        <p:txBody>
          <a:bodyPr wrap="none" rtlCol="0">
            <a:spAutoFit/>
          </a:bodyPr>
          <a:lstStyle/>
          <a:p>
            <a:pPr algn="ctr"/>
            <a:r>
              <a:rPr lang="en-US" sz="2000" dirty="0">
                <a:solidFill>
                  <a:schemeClr val="accent1"/>
                </a:solidFill>
                <a:latin typeface="Aharoni" panose="02010803020104030203" pitchFamily="2" charset="-79"/>
                <a:cs typeface="Aharoni" panose="02010803020104030203" pitchFamily="2" charset="-79"/>
              </a:rPr>
              <a:t>RStudio</a:t>
            </a:r>
          </a:p>
        </p:txBody>
      </p:sp>
      <p:sp>
        <p:nvSpPr>
          <p:cNvPr id="40" name="TextBox 39">
            <a:extLst>
              <a:ext uri="{FF2B5EF4-FFF2-40B4-BE49-F238E27FC236}">
                <a16:creationId xmlns:a16="http://schemas.microsoft.com/office/drawing/2014/main" id="{74E88BBC-FDD7-A9C8-4C9B-374F1D570165}"/>
              </a:ext>
            </a:extLst>
          </p:cNvPr>
          <p:cNvSpPr txBox="1"/>
          <p:nvPr/>
        </p:nvSpPr>
        <p:spPr>
          <a:xfrm>
            <a:off x="4002010" y="1581693"/>
            <a:ext cx="5591644" cy="1631216"/>
          </a:xfrm>
          <a:prstGeom prst="rect">
            <a:avLst/>
          </a:prstGeom>
          <a:noFill/>
        </p:spPr>
        <p:txBody>
          <a:bodyPr wrap="square" rtlCol="0">
            <a:spAutoFit/>
          </a:bodyPr>
          <a:lstStyle/>
          <a:p>
            <a:pPr algn="ctr"/>
            <a:r>
              <a:rPr lang="en-US" sz="2000" b="1" dirty="0">
                <a:solidFill>
                  <a:srgbClr val="A02B93"/>
                </a:solidFill>
              </a:rPr>
              <a:t>When knitting, markdown text is converted to the proper text elements (titles, paragraphs, lists, tables, links, etc.) and each element is nicely formatted to create a readable and professional HTML document. </a:t>
            </a:r>
          </a:p>
        </p:txBody>
      </p:sp>
      <p:sp>
        <p:nvSpPr>
          <p:cNvPr id="7" name="TextBox 6">
            <a:extLst>
              <a:ext uri="{FF2B5EF4-FFF2-40B4-BE49-F238E27FC236}">
                <a16:creationId xmlns:a16="http://schemas.microsoft.com/office/drawing/2014/main" id="{769F74EE-3E69-B051-7A33-AC9EF3CDE073}"/>
              </a:ext>
            </a:extLst>
          </p:cNvPr>
          <p:cNvSpPr txBox="1"/>
          <p:nvPr/>
        </p:nvSpPr>
        <p:spPr>
          <a:xfrm>
            <a:off x="8666467" y="3712170"/>
            <a:ext cx="3053709" cy="584775"/>
          </a:xfrm>
          <a:prstGeom prst="rect">
            <a:avLst/>
          </a:prstGeom>
          <a:noFill/>
        </p:spPr>
        <p:txBody>
          <a:bodyPr wrap="square" rtlCol="0">
            <a:spAutoFit/>
          </a:bodyPr>
          <a:lstStyle/>
          <a:p>
            <a:r>
              <a:rPr lang="en-US" sz="32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HTML</a:t>
            </a:r>
          </a:p>
        </p:txBody>
      </p:sp>
    </p:spTree>
    <p:extLst>
      <p:ext uri="{BB962C8B-B14F-4D97-AF65-F5344CB8AC3E}">
        <p14:creationId xmlns:p14="http://schemas.microsoft.com/office/powerpoint/2010/main" val="3246295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github</a:t>
            </a:r>
            <a:r>
              <a:rPr lang="en-US" dirty="0"/>
              <a:t> pages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1684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A98BBB-A26C-CDB3-FAAC-65203E1347DE}"/>
              </a:ext>
            </a:extLst>
          </p:cNvPr>
          <p:cNvSpPr txBox="1"/>
          <p:nvPr/>
        </p:nvSpPr>
        <p:spPr>
          <a:xfrm>
            <a:off x="414683" y="1381637"/>
            <a:ext cx="2760692"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MARKDOWN</a:t>
            </a:r>
          </a:p>
        </p:txBody>
      </p:sp>
      <p:sp>
        <p:nvSpPr>
          <p:cNvPr id="3" name="TextBox 2">
            <a:extLst>
              <a:ext uri="{FF2B5EF4-FFF2-40B4-BE49-F238E27FC236}">
                <a16:creationId xmlns:a16="http://schemas.microsoft.com/office/drawing/2014/main" id="{0BE0E2BD-8BD6-386A-378F-C53DCF2036D6}"/>
              </a:ext>
            </a:extLst>
          </p:cNvPr>
          <p:cNvSpPr txBox="1"/>
          <p:nvPr/>
        </p:nvSpPr>
        <p:spPr>
          <a:xfrm>
            <a:off x="4847452" y="1381637"/>
            <a:ext cx="2752677" cy="2185214"/>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JEKYLL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GH Pages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YAML settings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Liquid Tags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4" name="TextBox 3">
            <a:extLst>
              <a:ext uri="{FF2B5EF4-FFF2-40B4-BE49-F238E27FC236}">
                <a16:creationId xmlns:a16="http://schemas.microsoft.com/office/drawing/2014/main" id="{28010013-BBEF-D088-2BC1-34580D3C0F63}"/>
              </a:ext>
            </a:extLst>
          </p:cNvPr>
          <p:cNvSpPr txBox="1"/>
          <p:nvPr/>
        </p:nvSpPr>
        <p:spPr>
          <a:xfrm>
            <a:off x="8523592" y="1381637"/>
            <a:ext cx="3053709" cy="2923877"/>
          </a:xfrm>
          <a:prstGeom prst="rect">
            <a:avLst/>
          </a:prstGeom>
          <a:noFill/>
        </p:spPr>
        <p:txBody>
          <a:bodyPr wrap="squar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HTML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Tags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Style (CSS)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Page elements (head, header, body, footer)</a:t>
            </a:r>
          </a:p>
        </p:txBody>
      </p:sp>
      <p:sp>
        <p:nvSpPr>
          <p:cNvPr id="5" name="TextBox 4">
            <a:extLst>
              <a:ext uri="{FF2B5EF4-FFF2-40B4-BE49-F238E27FC236}">
                <a16:creationId xmlns:a16="http://schemas.microsoft.com/office/drawing/2014/main" id="{63E5D2C5-287C-B872-8CB5-75ED8F7FD8B2}"/>
              </a:ext>
            </a:extLst>
          </p:cNvPr>
          <p:cNvSpPr txBox="1"/>
          <p:nvPr/>
        </p:nvSpPr>
        <p:spPr>
          <a:xfrm>
            <a:off x="1081532" y="4914947"/>
            <a:ext cx="1426994" cy="584775"/>
          </a:xfrm>
          <a:prstGeom prst="rect">
            <a:avLst/>
          </a:prstGeom>
          <a:noFill/>
        </p:spPr>
        <p:txBody>
          <a:bodyPr wrap="none" rtlCol="0">
            <a:spAutoFit/>
          </a:bodyPr>
          <a:lstStyle/>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KNITR</a:t>
            </a:r>
          </a:p>
        </p:txBody>
      </p:sp>
      <p:sp>
        <p:nvSpPr>
          <p:cNvPr id="6" name="TextBox 5">
            <a:extLst>
              <a:ext uri="{FF2B5EF4-FFF2-40B4-BE49-F238E27FC236}">
                <a16:creationId xmlns:a16="http://schemas.microsoft.com/office/drawing/2014/main" id="{A933D2BD-F193-C684-5656-8C793D623F6C}"/>
              </a:ext>
            </a:extLst>
          </p:cNvPr>
          <p:cNvSpPr txBox="1"/>
          <p:nvPr/>
        </p:nvSpPr>
        <p:spPr>
          <a:xfrm>
            <a:off x="5152595" y="4914947"/>
            <a:ext cx="1930337" cy="584775"/>
          </a:xfrm>
          <a:prstGeom prst="rect">
            <a:avLst/>
          </a:prstGeom>
          <a:noFill/>
        </p:spPr>
        <p:txBody>
          <a:bodyPr wrap="none" rtlCol="0">
            <a:spAutoFit/>
          </a:bodyPr>
          <a:lstStyle/>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PANDOC</a:t>
            </a:r>
          </a:p>
        </p:txBody>
      </p:sp>
      <p:cxnSp>
        <p:nvCxnSpPr>
          <p:cNvPr id="8" name="Straight Arrow Connector 7">
            <a:extLst>
              <a:ext uri="{FF2B5EF4-FFF2-40B4-BE49-F238E27FC236}">
                <a16:creationId xmlns:a16="http://schemas.microsoft.com/office/drawing/2014/main" id="{4F8AE22B-59D9-7686-BB6F-5473AD9E82E3}"/>
              </a:ext>
            </a:extLst>
          </p:cNvPr>
          <p:cNvCxnSpPr>
            <a:cxnSpLocks/>
            <a:stCxn id="24" idx="2"/>
            <a:endCxn id="5" idx="0"/>
          </p:cNvCxnSpPr>
          <p:nvPr/>
        </p:nvCxnSpPr>
        <p:spPr>
          <a:xfrm>
            <a:off x="1792625" y="4059294"/>
            <a:ext cx="2404" cy="855653"/>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826876F-7974-FA97-920A-1842DC6AFB8D}"/>
              </a:ext>
            </a:extLst>
          </p:cNvPr>
          <p:cNvCxnSpPr>
            <a:cxnSpLocks/>
            <a:stCxn id="5" idx="3"/>
            <a:endCxn id="6" idx="1"/>
          </p:cNvCxnSpPr>
          <p:nvPr/>
        </p:nvCxnSpPr>
        <p:spPr>
          <a:xfrm>
            <a:off x="2508526" y="5207335"/>
            <a:ext cx="2644069" cy="0"/>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6D67904-D7E9-D7A6-5D90-A1B57B7AFAFF}"/>
              </a:ext>
            </a:extLst>
          </p:cNvPr>
          <p:cNvCxnSpPr>
            <a:cxnSpLocks/>
            <a:stCxn id="6" idx="3"/>
          </p:cNvCxnSpPr>
          <p:nvPr/>
        </p:nvCxnSpPr>
        <p:spPr>
          <a:xfrm flipV="1">
            <a:off x="7082932" y="4228569"/>
            <a:ext cx="1289548" cy="978766"/>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5BACC7F-C12C-F9A6-BC08-2D066FA37654}"/>
              </a:ext>
            </a:extLst>
          </p:cNvPr>
          <p:cNvCxnSpPr>
            <a:cxnSpLocks/>
            <a:stCxn id="2" idx="3"/>
          </p:cNvCxnSpPr>
          <p:nvPr/>
        </p:nvCxnSpPr>
        <p:spPr>
          <a:xfrm>
            <a:off x="3175375" y="1674025"/>
            <a:ext cx="144066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E2C0A15-DC49-9274-5161-5C01F066F304}"/>
              </a:ext>
            </a:extLst>
          </p:cNvPr>
          <p:cNvCxnSpPr>
            <a:cxnSpLocks/>
          </p:cNvCxnSpPr>
          <p:nvPr/>
        </p:nvCxnSpPr>
        <p:spPr>
          <a:xfrm>
            <a:off x="6429380" y="1674024"/>
            <a:ext cx="194310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B8C8A51-9A96-2934-4305-2CF93EB342F0}"/>
              </a:ext>
            </a:extLst>
          </p:cNvPr>
          <p:cNvSpPr txBox="1"/>
          <p:nvPr/>
        </p:nvSpPr>
        <p:spPr>
          <a:xfrm>
            <a:off x="1076724" y="2982076"/>
            <a:ext cx="1431802" cy="1077218"/>
          </a:xfrm>
          <a:prstGeom prst="rect">
            <a:avLst/>
          </a:prstGeom>
          <a:noFill/>
        </p:spPr>
        <p:txBody>
          <a:bodyPr wrap="none" rtlCol="0">
            <a:spAutoFit/>
          </a:bodyPr>
          <a:lstStyle/>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MD+R</a:t>
            </a:r>
          </a:p>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=RMD</a:t>
            </a:r>
          </a:p>
        </p:txBody>
      </p:sp>
      <p:cxnSp>
        <p:nvCxnSpPr>
          <p:cNvPr id="29" name="Straight Arrow Connector 28">
            <a:extLst>
              <a:ext uri="{FF2B5EF4-FFF2-40B4-BE49-F238E27FC236}">
                <a16:creationId xmlns:a16="http://schemas.microsoft.com/office/drawing/2014/main" id="{032D526D-B017-F453-8E31-0D87F981B938}"/>
              </a:ext>
            </a:extLst>
          </p:cNvPr>
          <p:cNvCxnSpPr>
            <a:cxnSpLocks/>
            <a:stCxn id="2" idx="2"/>
            <a:endCxn id="24" idx="0"/>
          </p:cNvCxnSpPr>
          <p:nvPr/>
        </p:nvCxnSpPr>
        <p:spPr>
          <a:xfrm flipH="1">
            <a:off x="1792625" y="1966412"/>
            <a:ext cx="2404" cy="1015664"/>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CC7AFF59-C372-BFD5-56D6-281D77C2E3CA}"/>
              </a:ext>
            </a:extLst>
          </p:cNvPr>
          <p:cNvSpPr txBox="1"/>
          <p:nvPr/>
        </p:nvSpPr>
        <p:spPr>
          <a:xfrm>
            <a:off x="394491" y="165921"/>
            <a:ext cx="7909986" cy="1107996"/>
          </a:xfrm>
          <a:prstGeom prst="rect">
            <a:avLst/>
          </a:prstGeom>
          <a:noFill/>
        </p:spPr>
        <p:txBody>
          <a:bodyPr wrap="none" rtlCol="0">
            <a:spAutoFit/>
          </a:bodyPr>
          <a:lstStyle/>
          <a:p>
            <a:r>
              <a:rPr lang="en-US" sz="6600" cap="all" dirty="0">
                <a:latin typeface="Abadi ExtraLight" panose="020F0502020204030204" pitchFamily="34" charset="0"/>
                <a:ea typeface="ADLaM Display" panose="02010000000000000000" pitchFamily="2" charset="0"/>
                <a:cs typeface="Aharoni" panose="02010803020104030203" pitchFamily="2" charset="-79"/>
              </a:rPr>
              <a:t>MARKDOWN TO HTML</a:t>
            </a:r>
          </a:p>
        </p:txBody>
      </p:sp>
      <p:sp>
        <p:nvSpPr>
          <p:cNvPr id="34" name="TextBox 33">
            <a:extLst>
              <a:ext uri="{FF2B5EF4-FFF2-40B4-BE49-F238E27FC236}">
                <a16:creationId xmlns:a16="http://schemas.microsoft.com/office/drawing/2014/main" id="{3BA265BD-6386-3C2F-AF50-3B816DD13142}"/>
              </a:ext>
            </a:extLst>
          </p:cNvPr>
          <p:cNvSpPr txBox="1"/>
          <p:nvPr/>
        </p:nvSpPr>
        <p:spPr>
          <a:xfrm>
            <a:off x="2047039" y="4310974"/>
            <a:ext cx="1114408" cy="400110"/>
          </a:xfrm>
          <a:prstGeom prst="rect">
            <a:avLst/>
          </a:prstGeom>
          <a:noFill/>
        </p:spPr>
        <p:txBody>
          <a:bodyPr wrap="none" rtlCol="0">
            <a:spAutoFit/>
          </a:bodyPr>
          <a:lstStyle/>
          <a:p>
            <a:pPr algn="ctr"/>
            <a:r>
              <a:rPr lang="en-US" sz="2000" dirty="0">
                <a:solidFill>
                  <a:schemeClr val="bg1">
                    <a:lumMod val="75000"/>
                  </a:schemeClr>
                </a:solidFill>
                <a:latin typeface="Aharoni" panose="02010803020104030203" pitchFamily="2" charset="-79"/>
                <a:cs typeface="Aharoni" panose="02010803020104030203" pitchFamily="2" charset="-79"/>
              </a:rPr>
              <a:t>RStudio</a:t>
            </a:r>
          </a:p>
        </p:txBody>
      </p:sp>
      <p:sp>
        <p:nvSpPr>
          <p:cNvPr id="35" name="TextBox 34">
            <a:extLst>
              <a:ext uri="{FF2B5EF4-FFF2-40B4-BE49-F238E27FC236}">
                <a16:creationId xmlns:a16="http://schemas.microsoft.com/office/drawing/2014/main" id="{23FA70E7-E3B9-93DA-AE64-360F8E40918E}"/>
              </a:ext>
            </a:extLst>
          </p:cNvPr>
          <p:cNvSpPr txBox="1"/>
          <p:nvPr/>
        </p:nvSpPr>
        <p:spPr>
          <a:xfrm>
            <a:off x="3173298" y="1951023"/>
            <a:ext cx="1378904" cy="523220"/>
          </a:xfrm>
          <a:prstGeom prst="rect">
            <a:avLst/>
          </a:prstGeom>
          <a:noFill/>
        </p:spPr>
        <p:txBody>
          <a:bodyPr wrap="none" rtlCol="0">
            <a:spAutoFit/>
          </a:bodyPr>
          <a:lstStyle/>
          <a:p>
            <a:pPr algn="ctr"/>
            <a:r>
              <a:rPr lang="en-US" sz="2800" dirty="0">
                <a:solidFill>
                  <a:schemeClr val="accent5"/>
                </a:solidFill>
                <a:latin typeface="Aharoni" panose="02010803020104030203" pitchFamily="2" charset="-79"/>
                <a:cs typeface="Aharoni" panose="02010803020104030203" pitchFamily="2" charset="-79"/>
              </a:rPr>
              <a:t>GitHub</a:t>
            </a:r>
          </a:p>
        </p:txBody>
      </p:sp>
      <p:sp>
        <p:nvSpPr>
          <p:cNvPr id="40" name="TextBox 39">
            <a:extLst>
              <a:ext uri="{FF2B5EF4-FFF2-40B4-BE49-F238E27FC236}">
                <a16:creationId xmlns:a16="http://schemas.microsoft.com/office/drawing/2014/main" id="{3E422F94-D274-68B7-40F6-1E34CA7B5B8C}"/>
              </a:ext>
            </a:extLst>
          </p:cNvPr>
          <p:cNvSpPr txBox="1"/>
          <p:nvPr/>
        </p:nvSpPr>
        <p:spPr>
          <a:xfrm>
            <a:off x="7972425" y="4914947"/>
            <a:ext cx="3933946" cy="1754326"/>
          </a:xfrm>
          <a:prstGeom prst="rect">
            <a:avLst/>
          </a:prstGeom>
          <a:noFill/>
        </p:spPr>
        <p:txBody>
          <a:bodyPr wrap="square" rtlCol="0">
            <a:spAutoFit/>
          </a:bodyPr>
          <a:lstStyle/>
          <a:p>
            <a:pPr algn="ctr"/>
            <a:r>
              <a:rPr lang="en-US" b="1" dirty="0">
                <a:solidFill>
                  <a:srgbClr val="A02B93"/>
                </a:solidFill>
              </a:rPr>
              <a:t>Now, instead of knitting RMD docs, we will be converting Markdown files to HTML using GitHub pages. Jekyll is equivalent to the </a:t>
            </a:r>
            <a:r>
              <a:rPr lang="en-US" b="1" dirty="0" err="1">
                <a:solidFill>
                  <a:srgbClr val="A02B93"/>
                </a:solidFill>
              </a:rPr>
              <a:t>KnitR</a:t>
            </a:r>
            <a:r>
              <a:rPr lang="en-US" b="1" dirty="0">
                <a:solidFill>
                  <a:srgbClr val="A02B93"/>
                </a:solidFill>
              </a:rPr>
              <a:t>/</a:t>
            </a:r>
            <a:r>
              <a:rPr lang="en-US" b="1" dirty="0" err="1">
                <a:solidFill>
                  <a:srgbClr val="A02B93"/>
                </a:solidFill>
              </a:rPr>
              <a:t>Pandoc</a:t>
            </a:r>
            <a:r>
              <a:rPr lang="en-US" b="1" dirty="0">
                <a:solidFill>
                  <a:srgbClr val="A02B93"/>
                </a:solidFill>
              </a:rPr>
              <a:t> framework used to render RMD files into HTML.</a:t>
            </a:r>
          </a:p>
        </p:txBody>
      </p:sp>
    </p:spTree>
    <p:extLst>
      <p:ext uri="{BB962C8B-B14F-4D97-AF65-F5344CB8AC3E}">
        <p14:creationId xmlns:p14="http://schemas.microsoft.com/office/powerpoint/2010/main" val="3363449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246A6-0EF3-93A9-EF8F-CE4866A6FD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491B49-A0BF-AB70-C0CD-030FD3963A0E}"/>
              </a:ext>
            </a:extLst>
          </p:cNvPr>
          <p:cNvSpPr txBox="1"/>
          <p:nvPr/>
        </p:nvSpPr>
        <p:spPr>
          <a:xfrm>
            <a:off x="414683" y="1381637"/>
            <a:ext cx="2760692"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MARKDOWN</a:t>
            </a:r>
          </a:p>
        </p:txBody>
      </p:sp>
      <p:sp>
        <p:nvSpPr>
          <p:cNvPr id="3" name="TextBox 2">
            <a:extLst>
              <a:ext uri="{FF2B5EF4-FFF2-40B4-BE49-F238E27FC236}">
                <a16:creationId xmlns:a16="http://schemas.microsoft.com/office/drawing/2014/main" id="{D43A7814-57C4-7647-0CDB-632C43BA47FD}"/>
              </a:ext>
            </a:extLst>
          </p:cNvPr>
          <p:cNvSpPr txBox="1"/>
          <p:nvPr/>
        </p:nvSpPr>
        <p:spPr>
          <a:xfrm>
            <a:off x="4847452" y="1381637"/>
            <a:ext cx="2752677" cy="2185214"/>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JEKYLL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GH Pages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YAML settings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Liquid Tags</a:t>
            </a:r>
            <a:endParaRPr lang="en-US" sz="20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 name="TextBox 3">
            <a:extLst>
              <a:ext uri="{FF2B5EF4-FFF2-40B4-BE49-F238E27FC236}">
                <a16:creationId xmlns:a16="http://schemas.microsoft.com/office/drawing/2014/main" id="{05BACFA0-B1B8-7E7D-6BD4-02755E7A27AA}"/>
              </a:ext>
            </a:extLst>
          </p:cNvPr>
          <p:cNvSpPr txBox="1"/>
          <p:nvPr/>
        </p:nvSpPr>
        <p:spPr>
          <a:xfrm>
            <a:off x="8523592" y="1381637"/>
            <a:ext cx="3053709" cy="2923877"/>
          </a:xfrm>
          <a:prstGeom prst="rect">
            <a:avLst/>
          </a:prstGeom>
          <a:noFill/>
        </p:spPr>
        <p:txBody>
          <a:bodyPr wrap="squar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HTML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Tags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Style (CSS)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Page elements (head, header, body, footer)</a:t>
            </a:r>
          </a:p>
        </p:txBody>
      </p:sp>
      <p:cxnSp>
        <p:nvCxnSpPr>
          <p:cNvPr id="17" name="Straight Arrow Connector 16">
            <a:extLst>
              <a:ext uri="{FF2B5EF4-FFF2-40B4-BE49-F238E27FC236}">
                <a16:creationId xmlns:a16="http://schemas.microsoft.com/office/drawing/2014/main" id="{6CCD39BA-E054-AC5E-3E4B-4B51E397A2D0}"/>
              </a:ext>
            </a:extLst>
          </p:cNvPr>
          <p:cNvCxnSpPr>
            <a:cxnSpLocks/>
            <a:stCxn id="2" idx="3"/>
          </p:cNvCxnSpPr>
          <p:nvPr/>
        </p:nvCxnSpPr>
        <p:spPr>
          <a:xfrm>
            <a:off x="3175375" y="1674025"/>
            <a:ext cx="144066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E172D35-5492-8329-D11A-FEFB0728B582}"/>
              </a:ext>
            </a:extLst>
          </p:cNvPr>
          <p:cNvCxnSpPr>
            <a:cxnSpLocks/>
          </p:cNvCxnSpPr>
          <p:nvPr/>
        </p:nvCxnSpPr>
        <p:spPr>
          <a:xfrm>
            <a:off x="6429380" y="1674024"/>
            <a:ext cx="194310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9C351A4D-2EFF-A9AE-9C5C-1F3B7BB701BB}"/>
              </a:ext>
            </a:extLst>
          </p:cNvPr>
          <p:cNvSpPr txBox="1"/>
          <p:nvPr/>
        </p:nvSpPr>
        <p:spPr>
          <a:xfrm>
            <a:off x="394491" y="165921"/>
            <a:ext cx="7909986" cy="1107996"/>
          </a:xfrm>
          <a:prstGeom prst="rect">
            <a:avLst/>
          </a:prstGeom>
          <a:noFill/>
        </p:spPr>
        <p:txBody>
          <a:bodyPr wrap="none" rtlCol="0">
            <a:spAutoFit/>
          </a:bodyPr>
          <a:lstStyle/>
          <a:p>
            <a:r>
              <a:rPr lang="en-US" sz="6600" cap="all" dirty="0">
                <a:latin typeface="Abadi ExtraLight" panose="020F0502020204030204" pitchFamily="34" charset="0"/>
                <a:ea typeface="ADLaM Display" panose="02010000000000000000" pitchFamily="2" charset="0"/>
                <a:cs typeface="Aharoni" panose="02010803020104030203" pitchFamily="2" charset="-79"/>
              </a:rPr>
              <a:t>MARKDOWN TO HTML</a:t>
            </a:r>
          </a:p>
        </p:txBody>
      </p:sp>
      <p:sp>
        <p:nvSpPr>
          <p:cNvPr id="35" name="TextBox 34">
            <a:extLst>
              <a:ext uri="{FF2B5EF4-FFF2-40B4-BE49-F238E27FC236}">
                <a16:creationId xmlns:a16="http://schemas.microsoft.com/office/drawing/2014/main" id="{C374E014-1A3D-7744-5A86-E318A4A4960A}"/>
              </a:ext>
            </a:extLst>
          </p:cNvPr>
          <p:cNvSpPr txBox="1"/>
          <p:nvPr/>
        </p:nvSpPr>
        <p:spPr>
          <a:xfrm>
            <a:off x="3173298" y="1951023"/>
            <a:ext cx="1378904" cy="523220"/>
          </a:xfrm>
          <a:prstGeom prst="rect">
            <a:avLst/>
          </a:prstGeom>
          <a:noFill/>
        </p:spPr>
        <p:txBody>
          <a:bodyPr wrap="none" rtlCol="0">
            <a:spAutoFit/>
          </a:bodyPr>
          <a:lstStyle/>
          <a:p>
            <a:pPr algn="ctr"/>
            <a:r>
              <a:rPr lang="en-US" sz="2800" dirty="0">
                <a:latin typeface="Aharoni" panose="02010803020104030203" pitchFamily="2" charset="-79"/>
                <a:cs typeface="Aharoni" panose="02010803020104030203" pitchFamily="2" charset="-79"/>
              </a:rPr>
              <a:t>GitHub</a:t>
            </a:r>
          </a:p>
        </p:txBody>
      </p:sp>
      <p:sp>
        <p:nvSpPr>
          <p:cNvPr id="40" name="TextBox 39">
            <a:extLst>
              <a:ext uri="{FF2B5EF4-FFF2-40B4-BE49-F238E27FC236}">
                <a16:creationId xmlns:a16="http://schemas.microsoft.com/office/drawing/2014/main" id="{654E8829-C543-F9DD-FFC2-73C49C869336}"/>
              </a:ext>
            </a:extLst>
          </p:cNvPr>
          <p:cNvSpPr txBox="1"/>
          <p:nvPr/>
        </p:nvSpPr>
        <p:spPr>
          <a:xfrm>
            <a:off x="792501" y="4029813"/>
            <a:ext cx="5751816" cy="2308324"/>
          </a:xfrm>
          <a:prstGeom prst="rect">
            <a:avLst/>
          </a:prstGeom>
          <a:noFill/>
        </p:spPr>
        <p:txBody>
          <a:bodyPr wrap="square" rtlCol="0">
            <a:spAutoFit/>
          </a:bodyPr>
          <a:lstStyle/>
          <a:p>
            <a:pPr algn="ctr"/>
            <a:r>
              <a:rPr lang="en-US" sz="2400" b="1" dirty="0"/>
              <a:t>In order to start building page templates, you will need to understand a few simple rules about how GitHub pages work, a few simple rules about how HTML files are organized, and some basic CSS. </a:t>
            </a:r>
          </a:p>
        </p:txBody>
      </p:sp>
    </p:spTree>
    <p:extLst>
      <p:ext uri="{BB962C8B-B14F-4D97-AF65-F5344CB8AC3E}">
        <p14:creationId xmlns:p14="http://schemas.microsoft.com/office/powerpoint/2010/main" val="3146969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75000"/>
                  </a:schemeClr>
                </a:solidFill>
              </a:rPr>
              <a:t>CSS: </a:t>
            </a:r>
            <a:r>
              <a:rPr lang="en-US" dirty="0"/>
              <a:t>Cascading style sheets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25654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289"/>
            <a:ext cx="10515600" cy="1325563"/>
          </a:xfrm>
        </p:spPr>
        <p:txBody>
          <a:bodyPr/>
          <a:lstStyle/>
          <a:p>
            <a:r>
              <a:rPr lang="en-US" dirty="0"/>
              <a:t>Why use </a:t>
            </a:r>
            <a:r>
              <a:rPr lang="en-US" dirty="0">
                <a:solidFill>
                  <a:schemeClr val="accent2">
                    <a:lumMod val="75000"/>
                  </a:schemeClr>
                </a:solidFill>
              </a:rPr>
              <a:t>CSS</a:t>
            </a:r>
            <a:r>
              <a:rPr lang="en-US" dirty="0"/>
              <a:t>? </a:t>
            </a:r>
          </a:p>
        </p:txBody>
      </p:sp>
      <p:sp>
        <p:nvSpPr>
          <p:cNvPr id="3" name="Content Placeholder 2"/>
          <p:cNvSpPr>
            <a:spLocks noGrp="1"/>
          </p:cNvSpPr>
          <p:nvPr>
            <p:ph idx="1"/>
          </p:nvPr>
        </p:nvSpPr>
        <p:spPr>
          <a:xfrm>
            <a:off x="838200" y="1420005"/>
            <a:ext cx="10515600" cy="4351338"/>
          </a:xfrm>
        </p:spPr>
        <p:txBody>
          <a:bodyPr/>
          <a:lstStyle/>
          <a:p>
            <a:r>
              <a:rPr lang="en-US" dirty="0">
                <a:solidFill>
                  <a:schemeClr val="tx1">
                    <a:lumMod val="50000"/>
                    <a:lumOff val="50000"/>
                  </a:schemeClr>
                </a:solidFill>
              </a:rPr>
              <a:t>Separates the task of creating content from packaging content.</a:t>
            </a:r>
          </a:p>
        </p:txBody>
      </p:sp>
      <p:pic>
        <p:nvPicPr>
          <p:cNvPr id="1026" name="Picture 2" descr="https://www.datadreaming.org/img/rmarkdown-themes/cerulea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206871"/>
            <a:ext cx="3005008" cy="27117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datadreaming.org/img/rmarkdown-themes/defaul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8441" y="2206871"/>
            <a:ext cx="3005008" cy="271176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www.datadreaming.org/img/rmarkdown-themes/prettydoc-architec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28224" y="2206871"/>
            <a:ext cx="3384821" cy="271176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043669" y="4456973"/>
            <a:ext cx="2169376" cy="461665"/>
          </a:xfrm>
          <a:prstGeom prst="rect">
            <a:avLst/>
          </a:prstGeom>
          <a:solidFill>
            <a:schemeClr val="bg1"/>
          </a:solidFill>
        </p:spPr>
        <p:txBody>
          <a:bodyPr wrap="none" rtlCol="0">
            <a:spAutoFit/>
          </a:bodyPr>
          <a:lstStyle/>
          <a:p>
            <a:r>
              <a:rPr lang="en-US" sz="2400" dirty="0">
                <a:solidFill>
                  <a:schemeClr val="accent2">
                    <a:lumMod val="75000"/>
                  </a:schemeClr>
                </a:solidFill>
              </a:rPr>
              <a:t>architect theme</a:t>
            </a:r>
          </a:p>
        </p:txBody>
      </p:sp>
      <p:sp>
        <p:nvSpPr>
          <p:cNvPr id="9" name="TextBox 8"/>
          <p:cNvSpPr txBox="1"/>
          <p:nvPr/>
        </p:nvSpPr>
        <p:spPr>
          <a:xfrm>
            <a:off x="5513751" y="4456974"/>
            <a:ext cx="2171557" cy="461665"/>
          </a:xfrm>
          <a:prstGeom prst="rect">
            <a:avLst/>
          </a:prstGeom>
          <a:solidFill>
            <a:schemeClr val="bg1"/>
          </a:solidFill>
        </p:spPr>
        <p:txBody>
          <a:bodyPr wrap="none" rtlCol="0">
            <a:spAutoFit/>
          </a:bodyPr>
          <a:lstStyle/>
          <a:p>
            <a:r>
              <a:rPr lang="en-US" sz="2400" dirty="0">
                <a:solidFill>
                  <a:schemeClr val="accent2">
                    <a:lumMod val="75000"/>
                  </a:schemeClr>
                </a:solidFill>
              </a:rPr>
              <a:t>readable theme</a:t>
            </a:r>
          </a:p>
        </p:txBody>
      </p:sp>
      <p:sp>
        <p:nvSpPr>
          <p:cNvPr id="10" name="TextBox 9"/>
          <p:cNvSpPr txBox="1"/>
          <p:nvPr/>
        </p:nvSpPr>
        <p:spPr>
          <a:xfrm>
            <a:off x="1896220" y="4456972"/>
            <a:ext cx="2157963" cy="461665"/>
          </a:xfrm>
          <a:prstGeom prst="rect">
            <a:avLst/>
          </a:prstGeom>
          <a:solidFill>
            <a:schemeClr val="bg1"/>
          </a:solidFill>
        </p:spPr>
        <p:txBody>
          <a:bodyPr wrap="none" rtlCol="0">
            <a:spAutoFit/>
          </a:bodyPr>
          <a:lstStyle/>
          <a:p>
            <a:r>
              <a:rPr lang="en-US" sz="2400" dirty="0">
                <a:solidFill>
                  <a:schemeClr val="accent2">
                    <a:lumMod val="75000"/>
                  </a:schemeClr>
                </a:solidFill>
              </a:rPr>
              <a:t>cerulean theme</a:t>
            </a:r>
          </a:p>
        </p:txBody>
      </p:sp>
      <p:sp>
        <p:nvSpPr>
          <p:cNvPr id="6" name="Rectangle 5"/>
          <p:cNvSpPr/>
          <p:nvPr/>
        </p:nvSpPr>
        <p:spPr>
          <a:xfrm>
            <a:off x="955106" y="5095916"/>
            <a:ext cx="6096000" cy="1477328"/>
          </a:xfrm>
          <a:prstGeom prst="rect">
            <a:avLst/>
          </a:prstGeom>
        </p:spPr>
        <p:txBody>
          <a:bodyPr>
            <a:spAutoFit/>
          </a:bodyPr>
          <a:lstStyle/>
          <a:p>
            <a:r>
              <a:rPr lang="en-US" dirty="0"/>
              <a:t>---</a:t>
            </a:r>
          </a:p>
          <a:p>
            <a:r>
              <a:rPr lang="en-US" dirty="0"/>
              <a:t>output:</a:t>
            </a:r>
          </a:p>
          <a:p>
            <a:r>
              <a:rPr lang="en-US" dirty="0"/>
              <a:t>  </a:t>
            </a:r>
            <a:r>
              <a:rPr lang="en-US" dirty="0" err="1"/>
              <a:t>html_document</a:t>
            </a:r>
            <a:r>
              <a:rPr lang="en-US" dirty="0"/>
              <a:t>:</a:t>
            </a:r>
          </a:p>
          <a:p>
            <a:r>
              <a:rPr lang="en-US" dirty="0"/>
              <a:t>    theme: </a:t>
            </a:r>
            <a:r>
              <a:rPr lang="en-US" b="1" dirty="0">
                <a:solidFill>
                  <a:schemeClr val="accent2">
                    <a:lumMod val="75000"/>
                  </a:schemeClr>
                </a:solidFill>
              </a:rPr>
              <a:t>readable</a:t>
            </a:r>
          </a:p>
          <a:p>
            <a:r>
              <a:rPr lang="en-US" dirty="0"/>
              <a:t>---</a:t>
            </a:r>
          </a:p>
        </p:txBody>
      </p:sp>
      <p:sp>
        <p:nvSpPr>
          <p:cNvPr id="7" name="TextBox 6"/>
          <p:cNvSpPr txBox="1"/>
          <p:nvPr/>
        </p:nvSpPr>
        <p:spPr>
          <a:xfrm>
            <a:off x="4119497" y="5494598"/>
            <a:ext cx="4081567" cy="830997"/>
          </a:xfrm>
          <a:prstGeom prst="rect">
            <a:avLst/>
          </a:prstGeom>
          <a:noFill/>
        </p:spPr>
        <p:txBody>
          <a:bodyPr wrap="none" rtlCol="0">
            <a:spAutoFit/>
          </a:bodyPr>
          <a:lstStyle/>
          <a:p>
            <a:r>
              <a:rPr lang="en-US" sz="2400" dirty="0">
                <a:solidFill>
                  <a:schemeClr val="accent1">
                    <a:lumMod val="50000"/>
                  </a:schemeClr>
                </a:solidFill>
                <a:latin typeface="Century Gothic" panose="020B0502020202020204" pitchFamily="34" charset="0"/>
              </a:rPr>
              <a:t>You’ve been using this in </a:t>
            </a:r>
            <a:br>
              <a:rPr lang="en-US" sz="2400" dirty="0">
                <a:solidFill>
                  <a:schemeClr val="accent1">
                    <a:lumMod val="50000"/>
                  </a:schemeClr>
                </a:solidFill>
                <a:latin typeface="Century Gothic" panose="020B0502020202020204" pitchFamily="34" charset="0"/>
              </a:rPr>
            </a:br>
            <a:r>
              <a:rPr lang="en-US" sz="2400" dirty="0">
                <a:solidFill>
                  <a:schemeClr val="accent1">
                    <a:lumMod val="50000"/>
                  </a:schemeClr>
                </a:solidFill>
                <a:latin typeface="Century Gothic" panose="020B0502020202020204" pitchFamily="34" charset="0"/>
              </a:rPr>
              <a:t>RMD documents already !</a:t>
            </a:r>
          </a:p>
        </p:txBody>
      </p:sp>
      <p:cxnSp>
        <p:nvCxnSpPr>
          <p:cNvPr id="11" name="Straight Arrow Connector 10"/>
          <p:cNvCxnSpPr/>
          <p:nvPr/>
        </p:nvCxnSpPr>
        <p:spPr>
          <a:xfrm flipH="1">
            <a:off x="2975201" y="6115371"/>
            <a:ext cx="965032" cy="0"/>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8501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 </a:t>
            </a:r>
            <a:r>
              <a:rPr lang="en-US" dirty="0">
                <a:solidFill>
                  <a:schemeClr val="accent2">
                    <a:lumMod val="75000"/>
                  </a:schemeClr>
                </a:solidFill>
              </a:rPr>
              <a:t>STYLE</a:t>
            </a:r>
            <a:r>
              <a:rPr lang="en-US" dirty="0"/>
              <a:t>? </a:t>
            </a:r>
          </a:p>
        </p:txBody>
      </p:sp>
      <p:pic>
        <p:nvPicPr>
          <p:cNvPr id="5" name="Picture 4"/>
          <p:cNvPicPr>
            <a:picLocks noChangeAspect="1"/>
          </p:cNvPicPr>
          <p:nvPr/>
        </p:nvPicPr>
        <p:blipFill>
          <a:blip r:embed="rId2"/>
          <a:stretch>
            <a:fillRect/>
          </a:stretch>
        </p:blipFill>
        <p:spPr>
          <a:xfrm>
            <a:off x="1155421" y="2603669"/>
            <a:ext cx="3736238" cy="1347268"/>
          </a:xfrm>
          <a:prstGeom prst="rect">
            <a:avLst/>
          </a:prstGeom>
        </p:spPr>
      </p:pic>
      <p:sp>
        <p:nvSpPr>
          <p:cNvPr id="6" name="TextBox 5"/>
          <p:cNvSpPr txBox="1"/>
          <p:nvPr/>
        </p:nvSpPr>
        <p:spPr>
          <a:xfrm>
            <a:off x="1020812" y="1847817"/>
            <a:ext cx="4005455" cy="369332"/>
          </a:xfrm>
          <a:prstGeom prst="rect">
            <a:avLst/>
          </a:prstGeom>
          <a:noFill/>
        </p:spPr>
        <p:txBody>
          <a:bodyPr wrap="none" rtlCol="0">
            <a:spAutoFit/>
          </a:bodyPr>
          <a:lstStyle/>
          <a:p>
            <a:r>
              <a:rPr lang="en-US" dirty="0"/>
              <a:t>Graphical User Interface Version of  Style</a:t>
            </a:r>
          </a:p>
        </p:txBody>
      </p:sp>
      <p:sp>
        <p:nvSpPr>
          <p:cNvPr id="7" name="TextBox 6"/>
          <p:cNvSpPr txBox="1"/>
          <p:nvPr/>
        </p:nvSpPr>
        <p:spPr>
          <a:xfrm>
            <a:off x="7038166" y="2400140"/>
            <a:ext cx="3990108" cy="1754326"/>
          </a:xfrm>
          <a:prstGeom prst="rect">
            <a:avLst/>
          </a:prstGeom>
          <a:noFill/>
        </p:spPr>
        <p:txBody>
          <a:bodyPr wrap="square" rtlCol="0">
            <a:spAutoFit/>
          </a:bodyPr>
          <a:lstStyle/>
          <a:p>
            <a:r>
              <a:rPr lang="en-US" b="1" dirty="0">
                <a:solidFill>
                  <a:schemeClr val="bg2">
                    <a:lumMod val="50000"/>
                  </a:schemeClr>
                </a:solidFill>
                <a:latin typeface="Courier New" panose="02070309020205020404" pitchFamily="49" charset="0"/>
                <a:cs typeface="Courier New" panose="02070309020205020404" pitchFamily="49" charset="0"/>
              </a:rPr>
              <a:t>h1{</a:t>
            </a:r>
          </a:p>
          <a:p>
            <a:r>
              <a:rPr lang="en-US" b="1" dirty="0">
                <a:solidFill>
                  <a:schemeClr val="bg2">
                    <a:lumMod val="50000"/>
                  </a:schemeClr>
                </a:solidFill>
                <a:latin typeface="Courier New" panose="02070309020205020404" pitchFamily="49" charset="0"/>
                <a:cs typeface="Courier New" panose="02070309020205020404" pitchFamily="49" charset="0"/>
              </a:rPr>
              <a:t>  font-type: </a:t>
            </a:r>
            <a:r>
              <a:rPr lang="en-US" b="1" dirty="0" err="1">
                <a:solidFill>
                  <a:schemeClr val="bg2">
                    <a:lumMod val="50000"/>
                  </a:schemeClr>
                </a:solidFill>
                <a:latin typeface="Courier New" panose="02070309020205020404" pitchFamily="49" charset="0"/>
                <a:cs typeface="Courier New" panose="02070309020205020404" pitchFamily="49" charset="0"/>
              </a:rPr>
              <a:t>arial</a:t>
            </a:r>
            <a:r>
              <a:rPr lang="en-US" b="1" dirty="0">
                <a:solidFill>
                  <a:schemeClr val="bg2">
                    <a:lumMod val="50000"/>
                  </a:schemeClr>
                </a:solidFill>
                <a:latin typeface="Courier New" panose="02070309020205020404" pitchFamily="49" charset="0"/>
                <a:cs typeface="Courier New" panose="02070309020205020404" pitchFamily="49" charset="0"/>
              </a:rPr>
              <a:t> narrow;</a:t>
            </a:r>
          </a:p>
          <a:p>
            <a:r>
              <a:rPr lang="en-US" b="1" dirty="0">
                <a:solidFill>
                  <a:schemeClr val="bg2">
                    <a:lumMod val="50000"/>
                  </a:schemeClr>
                </a:solidFill>
                <a:latin typeface="Courier New" panose="02070309020205020404" pitchFamily="49" charset="0"/>
                <a:cs typeface="Courier New" panose="02070309020205020404" pitchFamily="49" charset="0"/>
              </a:rPr>
              <a:t>  font-decoration: bold;</a:t>
            </a:r>
          </a:p>
          <a:p>
            <a:r>
              <a:rPr lang="en-US" b="1" dirty="0">
                <a:solidFill>
                  <a:schemeClr val="bg2">
                    <a:lumMod val="50000"/>
                  </a:schemeClr>
                </a:solidFill>
                <a:latin typeface="Courier New" panose="02070309020205020404" pitchFamily="49" charset="0"/>
                <a:cs typeface="Courier New" panose="02070309020205020404" pitchFamily="49" charset="0"/>
              </a:rPr>
              <a:t>  font-size: 18pt;</a:t>
            </a:r>
          </a:p>
          <a:p>
            <a:r>
              <a:rPr lang="en-US" b="1" dirty="0">
                <a:solidFill>
                  <a:schemeClr val="bg2">
                    <a:lumMod val="50000"/>
                  </a:schemeClr>
                </a:solidFill>
                <a:latin typeface="Courier New" panose="02070309020205020404" pitchFamily="49" charset="0"/>
                <a:cs typeface="Courier New" panose="02070309020205020404" pitchFamily="49" charset="0"/>
              </a:rPr>
              <a:t>  color: red;</a:t>
            </a:r>
          </a:p>
          <a:p>
            <a:r>
              <a:rPr lang="en-US" b="1" dirty="0">
                <a:solidFill>
                  <a:schemeClr val="bg2">
                    <a:lumMod val="50000"/>
                  </a:schemeClr>
                </a:solidFill>
                <a:latin typeface="Courier New" panose="02070309020205020404" pitchFamily="49" charset="0"/>
                <a:cs typeface="Courier New" panose="02070309020205020404" pitchFamily="49" charset="0"/>
              </a:rPr>
              <a:t>}</a:t>
            </a:r>
          </a:p>
        </p:txBody>
      </p:sp>
      <p:sp>
        <p:nvSpPr>
          <p:cNvPr id="10" name="TextBox 9"/>
          <p:cNvSpPr txBox="1"/>
          <p:nvPr/>
        </p:nvSpPr>
        <p:spPr>
          <a:xfrm>
            <a:off x="7038166" y="4496535"/>
            <a:ext cx="3990108" cy="1754326"/>
          </a:xfrm>
          <a:prstGeom prst="rect">
            <a:avLst/>
          </a:prstGeom>
          <a:noFill/>
        </p:spPr>
        <p:txBody>
          <a:bodyPr wrap="square" rtlCol="0">
            <a:spAutoFit/>
          </a:bodyPr>
          <a:lstStyle/>
          <a:p>
            <a:r>
              <a:rPr lang="en-US" b="1" dirty="0">
                <a:solidFill>
                  <a:schemeClr val="bg2">
                    <a:lumMod val="50000"/>
                  </a:schemeClr>
                </a:solidFill>
                <a:latin typeface="Courier New" panose="02070309020205020404" pitchFamily="49" charset="0"/>
                <a:cs typeface="Courier New" panose="02070309020205020404" pitchFamily="49" charset="0"/>
              </a:rPr>
              <a:t>body {</a:t>
            </a:r>
          </a:p>
          <a:p>
            <a:r>
              <a:rPr lang="en-US" b="1" dirty="0">
                <a:solidFill>
                  <a:schemeClr val="bg2">
                    <a:lumMod val="50000"/>
                  </a:schemeClr>
                </a:solidFill>
                <a:latin typeface="Courier New" panose="02070309020205020404" pitchFamily="49" charset="0"/>
                <a:cs typeface="Courier New" panose="02070309020205020404" pitchFamily="49" charset="0"/>
              </a:rPr>
              <a:t>  margin-top: 1;</a:t>
            </a:r>
          </a:p>
          <a:p>
            <a:r>
              <a:rPr lang="en-US" b="1" dirty="0">
                <a:solidFill>
                  <a:schemeClr val="bg2">
                    <a:lumMod val="50000"/>
                  </a:schemeClr>
                </a:solidFill>
                <a:latin typeface="Courier New" panose="02070309020205020404" pitchFamily="49" charset="0"/>
                <a:cs typeface="Courier New" panose="02070309020205020404" pitchFamily="49" charset="0"/>
              </a:rPr>
              <a:t>  margin-left: 1.5;</a:t>
            </a:r>
          </a:p>
          <a:p>
            <a:r>
              <a:rPr lang="en-US" b="1" dirty="0">
                <a:solidFill>
                  <a:schemeClr val="bg2">
                    <a:lumMod val="50000"/>
                  </a:schemeClr>
                </a:solidFill>
                <a:latin typeface="Courier New" panose="02070309020205020404" pitchFamily="49" charset="0"/>
                <a:cs typeface="Courier New" panose="02070309020205020404" pitchFamily="49" charset="0"/>
              </a:rPr>
              <a:t>  margin-right: 1.5;</a:t>
            </a:r>
          </a:p>
          <a:p>
            <a:r>
              <a:rPr lang="en-US" b="1" dirty="0">
                <a:solidFill>
                  <a:schemeClr val="bg2">
                    <a:lumMod val="50000"/>
                  </a:schemeClr>
                </a:solidFill>
                <a:latin typeface="Courier New" panose="02070309020205020404" pitchFamily="49" charset="0"/>
                <a:cs typeface="Courier New" panose="02070309020205020404" pitchFamily="49" charset="0"/>
              </a:rPr>
              <a:t>  margin-bottom: 2;</a:t>
            </a:r>
          </a:p>
          <a:p>
            <a:r>
              <a:rPr lang="en-US" b="1" dirty="0">
                <a:solidFill>
                  <a:schemeClr val="bg2">
                    <a:lumMod val="50000"/>
                  </a:schemeClr>
                </a:solidFill>
                <a:latin typeface="Courier New" panose="02070309020205020404" pitchFamily="49" charset="0"/>
                <a:cs typeface="Courier New" panose="02070309020205020404" pitchFamily="49" charset="0"/>
              </a:rPr>
              <a:t>}</a:t>
            </a:r>
          </a:p>
        </p:txBody>
      </p:sp>
      <p:pic>
        <p:nvPicPr>
          <p:cNvPr id="9" name="Picture 8"/>
          <p:cNvPicPr>
            <a:picLocks noChangeAspect="1"/>
          </p:cNvPicPr>
          <p:nvPr/>
        </p:nvPicPr>
        <p:blipFill>
          <a:blip r:embed="rId3"/>
          <a:stretch>
            <a:fillRect/>
          </a:stretch>
        </p:blipFill>
        <p:spPr>
          <a:xfrm>
            <a:off x="1020813" y="4346400"/>
            <a:ext cx="3870846" cy="1755044"/>
          </a:xfrm>
          <a:prstGeom prst="rect">
            <a:avLst/>
          </a:prstGeom>
        </p:spPr>
      </p:pic>
      <p:sp>
        <p:nvSpPr>
          <p:cNvPr id="11" name="TextBox 10"/>
          <p:cNvSpPr txBox="1"/>
          <p:nvPr/>
        </p:nvSpPr>
        <p:spPr>
          <a:xfrm>
            <a:off x="5506639" y="3092637"/>
            <a:ext cx="1178721" cy="369332"/>
          </a:xfrm>
          <a:prstGeom prst="rect">
            <a:avLst/>
          </a:prstGeom>
          <a:noFill/>
        </p:spPr>
        <p:txBody>
          <a:bodyPr wrap="none" rtlCol="0">
            <a:spAutoFit/>
          </a:bodyPr>
          <a:lstStyle/>
          <a:p>
            <a:r>
              <a:rPr lang="en-US" dirty="0">
                <a:solidFill>
                  <a:schemeClr val="accent2">
                    <a:lumMod val="75000"/>
                  </a:schemeClr>
                </a:solidFill>
              </a:rPr>
              <a:t>(text style)</a:t>
            </a:r>
          </a:p>
        </p:txBody>
      </p:sp>
      <p:sp>
        <p:nvSpPr>
          <p:cNvPr id="13" name="TextBox 12"/>
          <p:cNvSpPr txBox="1"/>
          <p:nvPr/>
        </p:nvSpPr>
        <p:spPr>
          <a:xfrm>
            <a:off x="5506638" y="5039256"/>
            <a:ext cx="1270220" cy="369332"/>
          </a:xfrm>
          <a:prstGeom prst="rect">
            <a:avLst/>
          </a:prstGeom>
          <a:noFill/>
        </p:spPr>
        <p:txBody>
          <a:bodyPr wrap="none" rtlCol="0">
            <a:spAutoFit/>
          </a:bodyPr>
          <a:lstStyle/>
          <a:p>
            <a:r>
              <a:rPr lang="en-US" dirty="0">
                <a:solidFill>
                  <a:schemeClr val="accent2">
                    <a:lumMod val="75000"/>
                  </a:schemeClr>
                </a:solidFill>
              </a:rPr>
              <a:t>(page style)</a:t>
            </a:r>
          </a:p>
        </p:txBody>
      </p:sp>
    </p:spTree>
    <p:extLst>
      <p:ext uri="{BB962C8B-B14F-4D97-AF65-F5344CB8AC3E}">
        <p14:creationId xmlns:p14="http://schemas.microsoft.com/office/powerpoint/2010/main" val="2662883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008CC8-3927-0434-0013-0744C0F859F5}"/>
              </a:ext>
            </a:extLst>
          </p:cNvPr>
          <p:cNvSpPr txBox="1"/>
          <p:nvPr/>
        </p:nvSpPr>
        <p:spPr>
          <a:xfrm>
            <a:off x="785811" y="2139878"/>
            <a:ext cx="11558587" cy="2308324"/>
          </a:xfrm>
          <a:prstGeom prst="rect">
            <a:avLst/>
          </a:prstGeom>
          <a:noFill/>
        </p:spPr>
        <p:txBody>
          <a:bodyPr wrap="square">
            <a:spAutoFit/>
          </a:bodyPr>
          <a:lstStyle/>
          <a:p>
            <a:pPr algn="l">
              <a:buNone/>
            </a:pPr>
            <a:r>
              <a:rPr lang="en-US" b="0" i="0" dirty="0">
                <a:solidFill>
                  <a:srgbClr val="0A0A0A"/>
                </a:solidFill>
                <a:effectLst/>
                <a:latin typeface="Courier New" panose="02070309020205020404" pitchFamily="49" charset="0"/>
              </a:rPr>
              <a:t>h2 {</a:t>
            </a:r>
          </a:p>
          <a:p>
            <a:pPr algn="l">
              <a:buNone/>
            </a:pPr>
            <a:r>
              <a:rPr lang="en-US" b="0" i="0" dirty="0">
                <a:solidFill>
                  <a:srgbClr val="0A0A0A"/>
                </a:solidFill>
                <a:effectLst/>
                <a:latin typeface="Courier New" panose="02070309020205020404" pitchFamily="49" charset="0"/>
              </a:rPr>
              <a:t>  color: #333333;                      </a:t>
            </a:r>
            <a:r>
              <a:rPr lang="en-US" b="0" i="1" dirty="0">
                <a:solidFill>
                  <a:srgbClr val="80868B"/>
                </a:solidFill>
                <a:effectLst/>
                <a:latin typeface="Courier New" panose="02070309020205020404" pitchFamily="49" charset="0"/>
              </a:rPr>
              <a:t>/* Changes text color to a dark gray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font-size: </a:t>
            </a:r>
            <a:r>
              <a:rPr lang="en-US" b="0" i="0" dirty="0">
                <a:solidFill>
                  <a:srgbClr val="B45908"/>
                </a:solidFill>
                <a:effectLst/>
                <a:latin typeface="Courier New" panose="02070309020205020404" pitchFamily="49" charset="0"/>
              </a:rPr>
              <a:t>1.5rem</a:t>
            </a:r>
            <a:r>
              <a:rPr lang="en-US" b="0" i="0" dirty="0">
                <a:solidFill>
                  <a:srgbClr val="0A0A0A"/>
                </a:solidFill>
                <a:effectLst/>
                <a:latin typeface="Courier New" panose="02070309020205020404" pitchFamily="49" charset="0"/>
              </a:rPr>
              <a:t>;                   </a:t>
            </a:r>
            <a:r>
              <a:rPr lang="en-US" b="0" i="1" dirty="0">
                <a:solidFill>
                  <a:srgbClr val="80868B"/>
                </a:solidFill>
                <a:effectLst/>
                <a:latin typeface="Courier New" panose="02070309020205020404" pitchFamily="49" charset="0"/>
              </a:rPr>
              <a:t>/* Sets the font size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font-family: Arial, sans-serif;      </a:t>
            </a:r>
            <a:r>
              <a:rPr lang="en-US" b="0" i="1" dirty="0">
                <a:solidFill>
                  <a:srgbClr val="80868B"/>
                </a:solidFill>
                <a:effectLst/>
                <a:latin typeface="Courier New" panose="02070309020205020404" pitchFamily="49" charset="0"/>
              </a:rPr>
              <a:t>/* Specifies the font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margin-top: </a:t>
            </a:r>
            <a:r>
              <a:rPr lang="en-US" b="0" i="0" dirty="0">
                <a:solidFill>
                  <a:srgbClr val="B45908"/>
                </a:solidFill>
                <a:effectLst/>
                <a:latin typeface="Courier New" panose="02070309020205020404" pitchFamily="49" charset="0"/>
              </a:rPr>
              <a:t>1em</a:t>
            </a:r>
            <a:r>
              <a:rPr lang="en-US" b="0" i="0" dirty="0">
                <a:solidFill>
                  <a:srgbClr val="0A0A0A"/>
                </a:solidFill>
                <a:effectLst/>
                <a:latin typeface="Courier New" panose="02070309020205020404" pitchFamily="49" charset="0"/>
              </a:rPr>
              <a:t>;                     </a:t>
            </a:r>
            <a:r>
              <a:rPr lang="en-US" b="0" i="1" dirty="0">
                <a:solidFill>
                  <a:srgbClr val="80868B"/>
                </a:solidFill>
                <a:effectLst/>
                <a:latin typeface="Courier New" panose="02070309020205020404" pitchFamily="49" charset="0"/>
              </a:rPr>
              <a:t>/* Adds space above the heading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margin-bottom: </a:t>
            </a:r>
            <a:r>
              <a:rPr lang="en-US" b="0" i="0" dirty="0">
                <a:solidFill>
                  <a:srgbClr val="B45908"/>
                </a:solidFill>
                <a:effectLst/>
                <a:latin typeface="Courier New" panose="02070309020205020404" pitchFamily="49" charset="0"/>
              </a:rPr>
              <a:t>0.5em</a:t>
            </a:r>
            <a:r>
              <a:rPr lang="en-US" b="0" i="0" dirty="0">
                <a:solidFill>
                  <a:srgbClr val="0A0A0A"/>
                </a:solidFill>
                <a:effectLst/>
                <a:latin typeface="Courier New" panose="02070309020205020404" pitchFamily="49" charset="0"/>
              </a:rPr>
              <a:t>;                </a:t>
            </a:r>
            <a:r>
              <a:rPr lang="en-US" b="0" i="1" dirty="0">
                <a:solidFill>
                  <a:srgbClr val="80868B"/>
                </a:solidFill>
                <a:effectLst/>
                <a:latin typeface="Courier New" panose="02070309020205020404" pitchFamily="49" charset="0"/>
              </a:rPr>
              <a:t>/* Adds space below the heading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border-bottom: </a:t>
            </a:r>
            <a:r>
              <a:rPr lang="en-US" b="0" i="0" dirty="0">
                <a:solidFill>
                  <a:srgbClr val="B45908"/>
                </a:solidFill>
                <a:effectLst/>
                <a:latin typeface="Courier New" panose="02070309020205020404" pitchFamily="49" charset="0"/>
              </a:rPr>
              <a:t>2px</a:t>
            </a:r>
            <a:r>
              <a:rPr lang="en-US" b="0" i="0" dirty="0">
                <a:solidFill>
                  <a:srgbClr val="0A0A0A"/>
                </a:solidFill>
                <a:effectLst/>
                <a:latin typeface="Courier New" panose="02070309020205020404" pitchFamily="49" charset="0"/>
              </a:rPr>
              <a:t> solid #333333;    </a:t>
            </a:r>
            <a:r>
              <a:rPr lang="en-US" b="0" i="1" dirty="0">
                <a:solidFill>
                  <a:srgbClr val="80868B"/>
                </a:solidFill>
                <a:effectLst/>
                <a:latin typeface="Courier New" panose="02070309020205020404" pitchFamily="49" charset="0"/>
              </a:rPr>
              <a:t>/* Adds a border to the bottom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51E0C2D2-75C6-D3A5-D62E-DC136E9B6B4F}"/>
              </a:ext>
            </a:extLst>
          </p:cNvPr>
          <p:cNvSpPr txBox="1"/>
          <p:nvPr/>
        </p:nvSpPr>
        <p:spPr>
          <a:xfrm>
            <a:off x="785812" y="1326781"/>
            <a:ext cx="4620176" cy="584775"/>
          </a:xfrm>
          <a:prstGeom prst="rect">
            <a:avLst/>
          </a:prstGeom>
          <a:noFill/>
        </p:spPr>
        <p:txBody>
          <a:bodyPr wrap="none" rtlCol="0">
            <a:spAutoFit/>
          </a:bodyPr>
          <a:lstStyle/>
          <a:p>
            <a:r>
              <a:rPr lang="en-US" sz="3200" dirty="0">
                <a:solidFill>
                  <a:schemeClr val="tx1">
                    <a:lumMod val="50000"/>
                    <a:lumOff val="50000"/>
                  </a:schemeClr>
                </a:solidFill>
                <a:latin typeface="ADLaM Display" panose="02010000000000000000" pitchFamily="2" charset="0"/>
                <a:ea typeface="ADLaM Display" panose="02010000000000000000" pitchFamily="2" charset="0"/>
                <a:cs typeface="ADLaM Display" panose="02010000000000000000" pitchFamily="2" charset="0"/>
              </a:rPr>
              <a:t>h2 = ## header 2 style</a:t>
            </a:r>
          </a:p>
        </p:txBody>
      </p:sp>
      <p:sp>
        <p:nvSpPr>
          <p:cNvPr id="6" name="TextBox 5">
            <a:extLst>
              <a:ext uri="{FF2B5EF4-FFF2-40B4-BE49-F238E27FC236}">
                <a16:creationId xmlns:a16="http://schemas.microsoft.com/office/drawing/2014/main" id="{B9395C16-3CF4-F026-C3BC-DA169D057CCF}"/>
              </a:ext>
            </a:extLst>
          </p:cNvPr>
          <p:cNvSpPr txBox="1"/>
          <p:nvPr/>
        </p:nvSpPr>
        <p:spPr>
          <a:xfrm>
            <a:off x="6565104" y="895893"/>
            <a:ext cx="3535889" cy="1015663"/>
          </a:xfrm>
          <a:prstGeom prst="rect">
            <a:avLst/>
          </a:prstGeom>
          <a:noFill/>
        </p:spPr>
        <p:txBody>
          <a:bodyPr wrap="square" rtlCol="0">
            <a:spAutoFit/>
          </a:bodyPr>
          <a:lstStyle/>
          <a:p>
            <a:pPr algn="ctr"/>
            <a:r>
              <a:rPr lang="en-US" sz="2000" dirty="0">
                <a:latin typeface="Aharoni" panose="02010803020104030203" pitchFamily="2" charset="-79"/>
                <a:cs typeface="Aharoni" panose="02010803020104030203" pitchFamily="2" charset="-79"/>
              </a:rPr>
              <a:t>the CSS defines the aesthetics of each type of content on the page</a:t>
            </a:r>
          </a:p>
        </p:txBody>
      </p:sp>
    </p:spTree>
    <p:extLst>
      <p:ext uri="{BB962C8B-B14F-4D97-AF65-F5344CB8AC3E}">
        <p14:creationId xmlns:p14="http://schemas.microsoft.com/office/powerpoint/2010/main" val="3843620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page basics</a:t>
            </a:r>
          </a:p>
        </p:txBody>
      </p:sp>
      <p:sp>
        <p:nvSpPr>
          <p:cNvPr id="4" name="Text Placeholder 3"/>
          <p:cNvSpPr>
            <a:spLocks noGrp="1"/>
          </p:cNvSpPr>
          <p:nvPr>
            <p:ph type="body" idx="1"/>
          </p:nvPr>
        </p:nvSpPr>
        <p:spPr/>
        <p:txBody>
          <a:bodyPr/>
          <a:lstStyle/>
          <a:p>
            <a:endParaRPr lang="en-US"/>
          </a:p>
        </p:txBody>
      </p:sp>
    </p:spTree>
    <p:extLst>
      <p:ext uri="{BB962C8B-B14F-4D97-AF65-F5344CB8AC3E}">
        <p14:creationId xmlns:p14="http://schemas.microsoft.com/office/powerpoint/2010/main" val="3242942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E2F37BB-A252-0B81-D80C-72367ABFC150}"/>
              </a:ext>
            </a:extLst>
          </p:cNvPr>
          <p:cNvGrpSpPr/>
          <p:nvPr/>
        </p:nvGrpSpPr>
        <p:grpSpPr>
          <a:xfrm>
            <a:off x="703428" y="1106972"/>
            <a:ext cx="4488873" cy="5392730"/>
            <a:chOff x="6747968" y="1190099"/>
            <a:chExt cx="4488873" cy="5392730"/>
          </a:xfrm>
        </p:grpSpPr>
        <p:sp>
          <p:nvSpPr>
            <p:cNvPr id="3" name="TextBox 2">
              <a:extLst>
                <a:ext uri="{FF2B5EF4-FFF2-40B4-BE49-F238E27FC236}">
                  <a16:creationId xmlns:a16="http://schemas.microsoft.com/office/drawing/2014/main" id="{441611E5-03D4-3001-01B3-4A5F4E20B17E}"/>
                </a:ext>
              </a:extLst>
            </p:cNvPr>
            <p:cNvSpPr txBox="1"/>
            <p:nvPr/>
          </p:nvSpPr>
          <p:spPr>
            <a:xfrm>
              <a:off x="6906615" y="1388243"/>
              <a:ext cx="3945576" cy="49654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Courier New" panose="02070309020205020404" pitchFamily="49" charset="0"/>
                  <a:ea typeface="+mn-ea"/>
                  <a:cs typeface="+mn-cs"/>
                </a:rPr>
                <a:t> &lt;html&gt;</a:t>
              </a:r>
            </a:p>
            <a:p>
              <a:pPr marL="0" marR="0" lvl="0" indent="0" algn="l" defTabSz="914400" rtl="0" eaLnBrk="1" fontAlgn="auto" latinLnBrk="0" hangingPunct="1">
                <a:lnSpc>
                  <a:spcPct val="100000"/>
                </a:lnSpc>
                <a:spcBef>
                  <a:spcPts val="0"/>
                </a:spcBef>
                <a:spcAft>
                  <a:spcPts val="375"/>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Courier New" panose="02070309020205020404" pitchFamily="49" charset="0"/>
                  <a:ea typeface="+mn-ea"/>
                  <a:cs typeface="+mn-cs"/>
                </a:rPr>
                <a:t>&lt;head&gt;…&lt;/head&gt;</a:t>
              </a:r>
            </a:p>
            <a:p>
              <a:pPr marL="457200" marR="0" lvl="1" indent="0" algn="l" defTabSz="914400" rtl="0" eaLnBrk="1" fontAlgn="auto" latinLnBrk="0" hangingPunct="1">
                <a:lnSpc>
                  <a:spcPct val="100000"/>
                </a:lnSpc>
                <a:spcBef>
                  <a:spcPts val="0"/>
                </a:spcBef>
                <a:spcAft>
                  <a:spcPts val="375"/>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&lt;body&gt; </a:t>
              </a: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  </a:t>
              </a: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&lt;header&gt;…&lt;/header&gt;</a:t>
              </a:r>
            </a:p>
            <a:p>
              <a:pPr marL="914400" marR="0" lvl="2" indent="0" algn="l" defTabSz="914400" rtl="0" eaLnBrk="1" fontAlgn="auto" latinLnBrk="0" hangingPunct="1">
                <a:lnSpc>
                  <a:spcPct val="100000"/>
                </a:lnSpc>
                <a:spcBef>
                  <a:spcPts val="0"/>
                </a:spcBef>
                <a:spcAft>
                  <a:spcPts val="375"/>
                </a:spcAft>
                <a:buClrTx/>
                <a:buSzTx/>
                <a:buFontTx/>
                <a:buNone/>
                <a:tabLst/>
                <a:defRPr/>
              </a:pPr>
              <a:endPar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endParaRP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&lt;p&gt; ... &lt;/p&gt;</a:t>
              </a: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     </a:t>
              </a: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&lt;footer&gt;…&lt;/footer&gt;</a:t>
              </a:r>
            </a:p>
            <a:p>
              <a:pPr marL="914400" marR="0" lvl="2" indent="0" algn="l" defTabSz="914400" rtl="0" eaLnBrk="1" fontAlgn="auto" latinLnBrk="0" hangingPunct="1">
                <a:lnSpc>
                  <a:spcPct val="100000"/>
                </a:lnSpc>
                <a:spcBef>
                  <a:spcPts val="0"/>
                </a:spcBef>
                <a:spcAft>
                  <a:spcPts val="375"/>
                </a:spcAft>
                <a:buClrTx/>
                <a:buSzTx/>
                <a:buFontTx/>
                <a:buNone/>
                <a:tabLst/>
                <a:defRPr/>
              </a:pPr>
              <a:endPar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&lt;/body&gt; </a:t>
              </a: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Courier New" panose="02070309020205020404" pitchFamily="49" charset="0"/>
                  <a:ea typeface="+mn-ea"/>
                  <a:cs typeface="+mn-cs"/>
                </a:rPr>
                <a:t>&lt;/html&gt; </a:t>
              </a:r>
              <a:endPar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0518CF1C-BEFC-3E6C-04F0-821BE46C4753}"/>
                </a:ext>
              </a:extLst>
            </p:cNvPr>
            <p:cNvSpPr/>
            <p:nvPr/>
          </p:nvSpPr>
          <p:spPr>
            <a:xfrm>
              <a:off x="6747968" y="1190099"/>
              <a:ext cx="4488873" cy="53927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A8FE7193-A8CF-3F66-72EB-3854C3EDD63E}"/>
                </a:ext>
              </a:extLst>
            </p:cNvPr>
            <p:cNvSpPr/>
            <p:nvPr/>
          </p:nvSpPr>
          <p:spPr>
            <a:xfrm>
              <a:off x="7100393" y="2018251"/>
              <a:ext cx="3751798" cy="38576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9B26FDF5-4B59-B927-BC0B-15D043AB39F7}"/>
                </a:ext>
              </a:extLst>
            </p:cNvPr>
            <p:cNvSpPr/>
            <p:nvPr/>
          </p:nvSpPr>
          <p:spPr>
            <a:xfrm>
              <a:off x="7100392" y="2591106"/>
              <a:ext cx="3751799" cy="3141891"/>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BA4D24D5-6744-E85A-A4E2-1885BF5FACBA}"/>
                </a:ext>
              </a:extLst>
            </p:cNvPr>
            <p:cNvSpPr/>
            <p:nvPr/>
          </p:nvSpPr>
          <p:spPr>
            <a:xfrm>
              <a:off x="7467104" y="3321130"/>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5990FCD9-B437-424D-6206-DD494AEDEBCA}"/>
                </a:ext>
              </a:extLst>
            </p:cNvPr>
            <p:cNvSpPr/>
            <p:nvPr/>
          </p:nvSpPr>
          <p:spPr>
            <a:xfrm>
              <a:off x="7467104" y="3809292"/>
              <a:ext cx="3062783" cy="699410"/>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B3797D09-DA21-4834-CBB8-3CB929F11A55}"/>
                </a:ext>
              </a:extLst>
            </p:cNvPr>
            <p:cNvSpPr/>
            <p:nvPr/>
          </p:nvSpPr>
          <p:spPr>
            <a:xfrm>
              <a:off x="7467104" y="4616536"/>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10" name="TextBox 9">
            <a:extLst>
              <a:ext uri="{FF2B5EF4-FFF2-40B4-BE49-F238E27FC236}">
                <a16:creationId xmlns:a16="http://schemas.microsoft.com/office/drawing/2014/main" id="{1228D474-A2F5-DD9B-3DF0-A95A9460054B}"/>
              </a:ext>
            </a:extLst>
          </p:cNvPr>
          <p:cNvSpPr txBox="1"/>
          <p:nvPr/>
        </p:nvSpPr>
        <p:spPr>
          <a:xfrm>
            <a:off x="1735320" y="282029"/>
            <a:ext cx="241925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HTML PAGE</a:t>
            </a:r>
          </a:p>
        </p:txBody>
      </p:sp>
      <p:sp>
        <p:nvSpPr>
          <p:cNvPr id="11" name="TextBox 10">
            <a:extLst>
              <a:ext uri="{FF2B5EF4-FFF2-40B4-BE49-F238E27FC236}">
                <a16:creationId xmlns:a16="http://schemas.microsoft.com/office/drawing/2014/main" id="{653699D4-C8C9-32C8-602A-66FDCB5C6E3B}"/>
              </a:ext>
            </a:extLst>
          </p:cNvPr>
          <p:cNvSpPr txBox="1"/>
          <p:nvPr/>
        </p:nvSpPr>
        <p:spPr>
          <a:xfrm>
            <a:off x="6291696" y="1110191"/>
            <a:ext cx="4844451" cy="53553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First you must understand the bare minimum elements you need on an HTML page.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HEAD: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load html packages, fonts, and other resources needed for the page</a:t>
            </a:r>
            <a:b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BODY: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start of page content</a:t>
            </a:r>
            <a:b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HEADER: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top of a page that often contains the page title and navigation bars</a:t>
            </a:r>
            <a:b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MAIN or ARTICLE: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section that contains the actual text</a:t>
            </a:r>
            <a:b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FOOTER: </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elements at the bottom of a page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Note that elements are hierarchical – the body section contains the header, main, and footer sections. </a:t>
            </a:r>
          </a:p>
        </p:txBody>
      </p:sp>
    </p:spTree>
    <p:extLst>
      <p:ext uri="{BB962C8B-B14F-4D97-AF65-F5344CB8AC3E}">
        <p14:creationId xmlns:p14="http://schemas.microsoft.com/office/powerpoint/2010/main" val="1983058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E126-2147-F2D2-18E1-CD5ACC33CE6B}"/>
            </a:ext>
          </a:extLst>
        </p:cNvPr>
        <p:cNvGrpSpPr/>
        <p:nvPr/>
      </p:nvGrpSpPr>
      <p:grpSpPr>
        <a:xfrm>
          <a:off x="0" y="0"/>
          <a:ext cx="0" cy="0"/>
          <a:chOff x="0" y="0"/>
          <a:chExt cx="0" cy="0"/>
        </a:xfrm>
      </p:grpSpPr>
      <p:pic>
        <p:nvPicPr>
          <p:cNvPr id="4100" name="Picture 4" descr="Web page showing &lt;title&gt;, &lt;p&gt;, &lt;h1&gt;, &lt;ol&gt;, and other basic HTML elements">
            <a:extLst>
              <a:ext uri="{FF2B5EF4-FFF2-40B4-BE49-F238E27FC236}">
                <a16:creationId xmlns:a16="http://schemas.microsoft.com/office/drawing/2014/main" id="{24597613-71BC-888F-BC67-1D52681B9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8765" y="947770"/>
            <a:ext cx="3692123" cy="570456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BD0B3FD7-EEB6-29FD-8690-03D037F8DBC5}"/>
              </a:ext>
            </a:extLst>
          </p:cNvPr>
          <p:cNvGrpSpPr/>
          <p:nvPr/>
        </p:nvGrpSpPr>
        <p:grpSpPr>
          <a:xfrm>
            <a:off x="703428" y="1106972"/>
            <a:ext cx="4488873" cy="5392730"/>
            <a:chOff x="6747968" y="1190099"/>
            <a:chExt cx="4488873" cy="5392730"/>
          </a:xfrm>
        </p:grpSpPr>
        <p:sp>
          <p:nvSpPr>
            <p:cNvPr id="3" name="TextBox 2">
              <a:extLst>
                <a:ext uri="{FF2B5EF4-FFF2-40B4-BE49-F238E27FC236}">
                  <a16:creationId xmlns:a16="http://schemas.microsoft.com/office/drawing/2014/main" id="{9C509AE8-11A8-F1C6-2DA6-23D9F2698F18}"/>
                </a:ext>
              </a:extLst>
            </p:cNvPr>
            <p:cNvSpPr txBox="1"/>
            <p:nvPr/>
          </p:nvSpPr>
          <p:spPr>
            <a:xfrm>
              <a:off x="6906615" y="1388243"/>
              <a:ext cx="3945576" cy="496546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Courier New" panose="02070309020205020404" pitchFamily="49" charset="0"/>
                  <a:ea typeface="+mn-ea"/>
                  <a:cs typeface="+mn-cs"/>
                </a:rPr>
                <a:t> &lt;html&gt;</a:t>
              </a:r>
            </a:p>
            <a:p>
              <a:pPr marL="0" marR="0" lvl="0" indent="0" algn="l" defTabSz="914400" rtl="0" eaLnBrk="1" fontAlgn="auto" latinLnBrk="0" hangingPunct="1">
                <a:lnSpc>
                  <a:spcPct val="100000"/>
                </a:lnSpc>
                <a:spcBef>
                  <a:spcPts val="0"/>
                </a:spcBef>
                <a:spcAft>
                  <a:spcPts val="375"/>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Courier New" panose="02070309020205020404" pitchFamily="49" charset="0"/>
                  <a:ea typeface="+mn-ea"/>
                  <a:cs typeface="+mn-cs"/>
                </a:rPr>
                <a:t>&lt;head&gt;…&lt;/head&gt;</a:t>
              </a:r>
            </a:p>
            <a:p>
              <a:pPr marL="457200" marR="0" lvl="1" indent="0" algn="l" defTabSz="914400" rtl="0" eaLnBrk="1" fontAlgn="auto" latinLnBrk="0" hangingPunct="1">
                <a:lnSpc>
                  <a:spcPct val="100000"/>
                </a:lnSpc>
                <a:spcBef>
                  <a:spcPts val="0"/>
                </a:spcBef>
                <a:spcAft>
                  <a:spcPts val="375"/>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&lt;body&gt; </a:t>
              </a: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  </a:t>
              </a: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&lt;header&gt;…&lt;/header&gt;</a:t>
              </a:r>
            </a:p>
            <a:p>
              <a:pPr marL="914400" marR="0" lvl="2" indent="0" algn="l" defTabSz="914400" rtl="0" eaLnBrk="1" fontAlgn="auto" latinLnBrk="0" hangingPunct="1">
                <a:lnSpc>
                  <a:spcPct val="100000"/>
                </a:lnSpc>
                <a:spcBef>
                  <a:spcPts val="0"/>
                </a:spcBef>
                <a:spcAft>
                  <a:spcPts val="375"/>
                </a:spcAft>
                <a:buClrTx/>
                <a:buSzTx/>
                <a:buFontTx/>
                <a:buNone/>
                <a:tabLst/>
                <a:defRPr/>
              </a:pPr>
              <a:endPar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endParaRP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&lt;p&gt; ... &lt;/p&gt;</a:t>
              </a: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     </a:t>
              </a:r>
            </a:p>
            <a:p>
              <a:pPr marL="914400" marR="0" lvl="2"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&lt;footer&gt;…&lt;/footer&gt;</a:t>
              </a:r>
            </a:p>
            <a:p>
              <a:pPr marL="914400" marR="0" lvl="2" indent="0" algn="l" defTabSz="914400" rtl="0" eaLnBrk="1" fontAlgn="auto" latinLnBrk="0" hangingPunct="1">
                <a:lnSpc>
                  <a:spcPct val="100000"/>
                </a:lnSpc>
                <a:spcBef>
                  <a:spcPts val="0"/>
                </a:spcBef>
                <a:spcAft>
                  <a:spcPts val="375"/>
                </a:spcAft>
                <a:buClrTx/>
                <a:buSzTx/>
                <a:buFontTx/>
                <a:buNone/>
                <a:tabLst/>
                <a:defRPr/>
              </a:pPr>
              <a:endPar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endParaRP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1" i="0" u="none" strike="noStrike" kern="1200" cap="none" spc="0" normalizeH="0" baseline="0" noProof="0" dirty="0">
                  <a:ln>
                    <a:noFill/>
                  </a:ln>
                  <a:solidFill>
                    <a:srgbClr val="E97132">
                      <a:lumMod val="75000"/>
                    </a:srgbClr>
                  </a:solidFill>
                  <a:effectLst/>
                  <a:uLnTx/>
                  <a:uFillTx/>
                  <a:latin typeface="Courier New" panose="02070309020205020404" pitchFamily="49" charset="0"/>
                  <a:ea typeface="+mn-ea"/>
                  <a:cs typeface="+mn-cs"/>
                </a:rPr>
                <a:t>&lt;/body&gt; </a:t>
              </a:r>
            </a:p>
            <a:p>
              <a:pPr marL="457200" marR="0" lvl="1"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1" fontAlgn="auto" latinLnBrk="0" hangingPunct="1">
                <a:lnSpc>
                  <a:spcPct val="100000"/>
                </a:lnSpc>
                <a:spcBef>
                  <a:spcPts val="0"/>
                </a:spcBef>
                <a:spcAft>
                  <a:spcPts val="375"/>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Courier New" panose="02070309020205020404" pitchFamily="49" charset="0"/>
                  <a:ea typeface="+mn-ea"/>
                  <a:cs typeface="+mn-cs"/>
                </a:rPr>
                <a:t>&lt;/html&gt; </a:t>
              </a:r>
              <a:endPar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FF804DFE-CF02-674A-98A3-1F55476B626E}"/>
                </a:ext>
              </a:extLst>
            </p:cNvPr>
            <p:cNvSpPr/>
            <p:nvPr/>
          </p:nvSpPr>
          <p:spPr>
            <a:xfrm>
              <a:off x="6747968" y="1190099"/>
              <a:ext cx="4488873" cy="53927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D0748F0-7663-3542-ED09-E2835CA7A98D}"/>
                </a:ext>
              </a:extLst>
            </p:cNvPr>
            <p:cNvSpPr/>
            <p:nvPr/>
          </p:nvSpPr>
          <p:spPr>
            <a:xfrm>
              <a:off x="7100393" y="2018251"/>
              <a:ext cx="3751798" cy="38576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86180921-C58E-1A9E-A29D-B681C4B54CF8}"/>
                </a:ext>
              </a:extLst>
            </p:cNvPr>
            <p:cNvSpPr/>
            <p:nvPr/>
          </p:nvSpPr>
          <p:spPr>
            <a:xfrm>
              <a:off x="7100392" y="2591106"/>
              <a:ext cx="3751799" cy="3141891"/>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0CC4D2A-989C-8A80-D31E-384088088EA5}"/>
                </a:ext>
              </a:extLst>
            </p:cNvPr>
            <p:cNvSpPr/>
            <p:nvPr/>
          </p:nvSpPr>
          <p:spPr>
            <a:xfrm>
              <a:off x="7467104" y="3321130"/>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C824F0D5-70F5-7C99-075A-85D50D8FA55E}"/>
                </a:ext>
              </a:extLst>
            </p:cNvPr>
            <p:cNvSpPr/>
            <p:nvPr/>
          </p:nvSpPr>
          <p:spPr>
            <a:xfrm>
              <a:off x="7467104" y="3809292"/>
              <a:ext cx="3062783" cy="699410"/>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F67BEB73-D3B5-6F2B-08BD-1D9A14A8EC9D}"/>
                </a:ext>
              </a:extLst>
            </p:cNvPr>
            <p:cNvSpPr/>
            <p:nvPr/>
          </p:nvSpPr>
          <p:spPr>
            <a:xfrm>
              <a:off x="7467104" y="4616536"/>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10" name="TextBox 9">
            <a:extLst>
              <a:ext uri="{FF2B5EF4-FFF2-40B4-BE49-F238E27FC236}">
                <a16:creationId xmlns:a16="http://schemas.microsoft.com/office/drawing/2014/main" id="{31B838C2-61FF-774F-94C7-DDF97381E65F}"/>
              </a:ext>
            </a:extLst>
          </p:cNvPr>
          <p:cNvSpPr txBox="1"/>
          <p:nvPr/>
        </p:nvSpPr>
        <p:spPr>
          <a:xfrm>
            <a:off x="1055852" y="355329"/>
            <a:ext cx="328166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PAGE ELEMENTS</a:t>
            </a:r>
          </a:p>
        </p:txBody>
      </p:sp>
      <p:sp>
        <p:nvSpPr>
          <p:cNvPr id="11" name="TextBox 10">
            <a:extLst>
              <a:ext uri="{FF2B5EF4-FFF2-40B4-BE49-F238E27FC236}">
                <a16:creationId xmlns:a16="http://schemas.microsoft.com/office/drawing/2014/main" id="{94D6920E-123F-77F9-0E80-7BDE7B2274C3}"/>
              </a:ext>
            </a:extLst>
          </p:cNvPr>
          <p:cNvSpPr txBox="1"/>
          <p:nvPr/>
        </p:nvSpPr>
        <p:spPr>
          <a:xfrm>
            <a:off x="7209806" y="319301"/>
            <a:ext cx="405110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CONTENT ELEMENTS</a:t>
            </a:r>
          </a:p>
        </p:txBody>
      </p:sp>
      <p:sp>
        <p:nvSpPr>
          <p:cNvPr id="12" name="TextBox 11">
            <a:extLst>
              <a:ext uri="{FF2B5EF4-FFF2-40B4-BE49-F238E27FC236}">
                <a16:creationId xmlns:a16="http://schemas.microsoft.com/office/drawing/2014/main" id="{FB055D49-C0D7-426E-9C9E-9C32AE0518A0}"/>
              </a:ext>
            </a:extLst>
          </p:cNvPr>
          <p:cNvSpPr txBox="1"/>
          <p:nvPr/>
        </p:nvSpPr>
        <p:spPr>
          <a:xfrm>
            <a:off x="11060888" y="1407010"/>
            <a:ext cx="75533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titles</a:t>
            </a:r>
          </a:p>
        </p:txBody>
      </p:sp>
      <p:sp>
        <p:nvSpPr>
          <p:cNvPr id="13" name="TextBox 12">
            <a:extLst>
              <a:ext uri="{FF2B5EF4-FFF2-40B4-BE49-F238E27FC236}">
                <a16:creationId xmlns:a16="http://schemas.microsoft.com/office/drawing/2014/main" id="{DAE2DCD1-4895-3FF6-5F73-9E3F3D4CE215}"/>
              </a:ext>
            </a:extLst>
          </p:cNvPr>
          <p:cNvSpPr txBox="1"/>
          <p:nvPr/>
        </p:nvSpPr>
        <p:spPr>
          <a:xfrm>
            <a:off x="11060888" y="2778410"/>
            <a:ext cx="63831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lists</a:t>
            </a:r>
          </a:p>
        </p:txBody>
      </p:sp>
      <p:sp>
        <p:nvSpPr>
          <p:cNvPr id="14" name="TextBox 13">
            <a:extLst>
              <a:ext uri="{FF2B5EF4-FFF2-40B4-BE49-F238E27FC236}">
                <a16:creationId xmlns:a16="http://schemas.microsoft.com/office/drawing/2014/main" id="{FD22BAD2-21A1-C3B8-1980-8A2F7040D818}"/>
              </a:ext>
            </a:extLst>
          </p:cNvPr>
          <p:cNvSpPr txBox="1"/>
          <p:nvPr/>
        </p:nvSpPr>
        <p:spPr>
          <a:xfrm>
            <a:off x="11060888" y="4094429"/>
            <a:ext cx="91884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tables</a:t>
            </a:r>
          </a:p>
        </p:txBody>
      </p:sp>
      <p:sp>
        <p:nvSpPr>
          <p:cNvPr id="15" name="TextBox 14">
            <a:extLst>
              <a:ext uri="{FF2B5EF4-FFF2-40B4-BE49-F238E27FC236}">
                <a16:creationId xmlns:a16="http://schemas.microsoft.com/office/drawing/2014/main" id="{C9BD7A03-8B79-B306-E9E2-4BD0E408C733}"/>
              </a:ext>
            </a:extLst>
          </p:cNvPr>
          <p:cNvSpPr txBox="1"/>
          <p:nvPr/>
        </p:nvSpPr>
        <p:spPr>
          <a:xfrm>
            <a:off x="11060888" y="2066305"/>
            <a:ext cx="67037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text</a:t>
            </a:r>
          </a:p>
        </p:txBody>
      </p:sp>
      <p:sp>
        <p:nvSpPr>
          <p:cNvPr id="16" name="TextBox 15">
            <a:extLst>
              <a:ext uri="{FF2B5EF4-FFF2-40B4-BE49-F238E27FC236}">
                <a16:creationId xmlns:a16="http://schemas.microsoft.com/office/drawing/2014/main" id="{BCCCF478-AFB0-76AE-FAB7-07B2278E3CC4}"/>
              </a:ext>
            </a:extLst>
          </p:cNvPr>
          <p:cNvSpPr txBox="1"/>
          <p:nvPr/>
        </p:nvSpPr>
        <p:spPr>
          <a:xfrm>
            <a:off x="11060888" y="4806534"/>
            <a:ext cx="72968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bold</a:t>
            </a:r>
          </a:p>
        </p:txBody>
      </p:sp>
      <p:sp>
        <p:nvSpPr>
          <p:cNvPr id="17" name="TextBox 16">
            <a:extLst>
              <a:ext uri="{FF2B5EF4-FFF2-40B4-BE49-F238E27FC236}">
                <a16:creationId xmlns:a16="http://schemas.microsoft.com/office/drawing/2014/main" id="{EF1A8F70-8380-4B40-5B7D-6C014045AAAC}"/>
              </a:ext>
            </a:extLst>
          </p:cNvPr>
          <p:cNvSpPr txBox="1"/>
          <p:nvPr/>
        </p:nvSpPr>
        <p:spPr>
          <a:xfrm>
            <a:off x="11060888" y="5249760"/>
            <a:ext cx="8611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italics</a:t>
            </a:r>
          </a:p>
        </p:txBody>
      </p:sp>
      <p:sp>
        <p:nvSpPr>
          <p:cNvPr id="18" name="TextBox 17">
            <a:extLst>
              <a:ext uri="{FF2B5EF4-FFF2-40B4-BE49-F238E27FC236}">
                <a16:creationId xmlns:a16="http://schemas.microsoft.com/office/drawing/2014/main" id="{A8BB6E54-7697-5571-DD09-78C6F1D63AE7}"/>
              </a:ext>
            </a:extLst>
          </p:cNvPr>
          <p:cNvSpPr txBox="1"/>
          <p:nvPr/>
        </p:nvSpPr>
        <p:spPr>
          <a:xfrm>
            <a:off x="5688270" y="1676664"/>
            <a:ext cx="1638723"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tags that organize content into sections</a:t>
            </a:r>
          </a:p>
        </p:txBody>
      </p:sp>
      <p:sp>
        <p:nvSpPr>
          <p:cNvPr id="19" name="TextBox 18">
            <a:extLst>
              <a:ext uri="{FF2B5EF4-FFF2-40B4-BE49-F238E27FC236}">
                <a16:creationId xmlns:a16="http://schemas.microsoft.com/office/drawing/2014/main" id="{F6E1DB15-DF85-530F-61A7-E41AC1506B3D}"/>
              </a:ext>
            </a:extLst>
          </p:cNvPr>
          <p:cNvSpPr txBox="1"/>
          <p:nvPr/>
        </p:nvSpPr>
        <p:spPr>
          <a:xfrm>
            <a:off x="5730042" y="3731911"/>
            <a:ext cx="1638723" cy="16312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rPr>
              <a:t>tags that define content types and formatting</a:t>
            </a:r>
          </a:p>
        </p:txBody>
      </p:sp>
      <p:cxnSp>
        <p:nvCxnSpPr>
          <p:cNvPr id="20" name="Straight Arrow Connector 19">
            <a:extLst>
              <a:ext uri="{FF2B5EF4-FFF2-40B4-BE49-F238E27FC236}">
                <a16:creationId xmlns:a16="http://schemas.microsoft.com/office/drawing/2014/main" id="{E9A242A0-024E-666A-EDF2-CDF57E674687}"/>
              </a:ext>
            </a:extLst>
          </p:cNvPr>
          <p:cNvCxnSpPr>
            <a:cxnSpLocks/>
          </p:cNvCxnSpPr>
          <p:nvPr/>
        </p:nvCxnSpPr>
        <p:spPr>
          <a:xfrm flipV="1">
            <a:off x="6055554" y="5647231"/>
            <a:ext cx="944147" cy="2639"/>
          </a:xfrm>
          <a:prstGeom prst="straightConnector1">
            <a:avLst/>
          </a:prstGeom>
          <a:ln w="4762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C51CC9D-717B-E971-3657-80B30679965A}"/>
              </a:ext>
            </a:extLst>
          </p:cNvPr>
          <p:cNvCxnSpPr>
            <a:cxnSpLocks/>
          </p:cNvCxnSpPr>
          <p:nvPr/>
        </p:nvCxnSpPr>
        <p:spPr>
          <a:xfrm flipH="1" flipV="1">
            <a:off x="5974300" y="3177200"/>
            <a:ext cx="944147" cy="2639"/>
          </a:xfrm>
          <a:prstGeom prst="straightConnector1">
            <a:avLst/>
          </a:prstGeom>
          <a:ln w="4762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8362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B6A9D7BE-6158-FBCF-00FD-6EF4BD8A1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8166" y="3038476"/>
            <a:ext cx="2771250" cy="327632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ML5 Semantics - GeeksforGeeks">
            <a:extLst>
              <a:ext uri="{FF2B5EF4-FFF2-40B4-BE49-F238E27FC236}">
                <a16:creationId xmlns:a16="http://schemas.microsoft.com/office/drawing/2014/main" id="{9D394CEB-5E13-BB0A-4571-3868245CF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346" y="3038476"/>
            <a:ext cx="2941914" cy="3360126"/>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HTML5 | Web design">
            <a:extLst>
              <a:ext uri="{FF2B5EF4-FFF2-40B4-BE49-F238E27FC236}">
                <a16:creationId xmlns:a16="http://schemas.microsoft.com/office/drawing/2014/main" id="{1403A788-1F69-E71B-DD2B-62475DB866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92" y="2074985"/>
            <a:ext cx="3260910" cy="432361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6B0EA570-D118-FC20-ED9B-DF131F1B49AA}"/>
              </a:ext>
            </a:extLst>
          </p:cNvPr>
          <p:cNvCxnSpPr/>
          <p:nvPr/>
        </p:nvCxnSpPr>
        <p:spPr>
          <a:xfrm>
            <a:off x="3782083" y="4763599"/>
            <a:ext cx="562419" cy="0"/>
          </a:xfrm>
          <a:prstGeom prst="straightConnector1">
            <a:avLst/>
          </a:prstGeom>
          <a:ln w="85725">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A22B0089-F9B7-110D-5A6F-55620D4C9779}"/>
              </a:ext>
            </a:extLst>
          </p:cNvPr>
          <p:cNvCxnSpPr/>
          <p:nvPr/>
        </p:nvCxnSpPr>
        <p:spPr>
          <a:xfrm>
            <a:off x="7920697" y="4763599"/>
            <a:ext cx="562419" cy="0"/>
          </a:xfrm>
          <a:prstGeom prst="straightConnector1">
            <a:avLst/>
          </a:prstGeom>
          <a:ln w="85725">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2F9908F-B78E-20D4-CA11-1DFA35747BE8}"/>
              </a:ext>
            </a:extLst>
          </p:cNvPr>
          <p:cNvSpPr txBox="1"/>
          <p:nvPr/>
        </p:nvSpPr>
        <p:spPr>
          <a:xfrm>
            <a:off x="3537735" y="320659"/>
            <a:ext cx="4945381"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As you get more comfortable with HTML you can create more sophisticated layouts and add new page elements. Page layout is an advanced CSS skill and also an easy task to contract out to someone that specializes in website design. </a:t>
            </a:r>
          </a:p>
        </p:txBody>
      </p:sp>
    </p:spTree>
    <p:extLst>
      <p:ext uri="{BB962C8B-B14F-4D97-AF65-F5344CB8AC3E}">
        <p14:creationId xmlns:p14="http://schemas.microsoft.com/office/powerpoint/2010/main" val="1548326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761E-0C80-2DE7-DD42-B8ED51E8E4E1}"/>
              </a:ext>
            </a:extLst>
          </p:cNvPr>
          <p:cNvSpPr>
            <a:spLocks noGrp="1"/>
          </p:cNvSpPr>
          <p:nvPr>
            <p:ph type="title"/>
          </p:nvPr>
        </p:nvSpPr>
        <p:spPr/>
        <p:txBody>
          <a:bodyPr/>
          <a:lstStyle/>
          <a:p>
            <a:r>
              <a:rPr kumimoji="0" lang="en-US" sz="5400" b="0" i="0" u="none" strike="noStrike" kern="1200" cap="all" spc="0" normalizeH="0" baseline="0" noProof="0" dirty="0">
                <a:ln>
                  <a:noFill/>
                </a:ln>
                <a:solidFill>
                  <a:srgbClr val="5B9BD5">
                    <a:lumMod val="50000"/>
                  </a:srgbClr>
                </a:solidFill>
                <a:effectLst/>
                <a:uLnTx/>
                <a:uFillTx/>
                <a:latin typeface="Century Gothic" panose="020B0502020202020204" pitchFamily="34" charset="0"/>
                <a:ea typeface="+mj-ea"/>
                <a:cs typeface="+mj-cs"/>
              </a:rPr>
              <a:t>the Jekyll framework</a:t>
            </a:r>
            <a:endParaRPr lang="en-US"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Text Placeholder 2">
            <a:extLst>
              <a:ext uri="{FF2B5EF4-FFF2-40B4-BE49-F238E27FC236}">
                <a16:creationId xmlns:a16="http://schemas.microsoft.com/office/drawing/2014/main" id="{B9D49328-451A-7310-53E8-E1FCFA96823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871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HTML5 Semantics - GeeksforGeeks">
            <a:extLst>
              <a:ext uri="{FF2B5EF4-FFF2-40B4-BE49-F238E27FC236}">
                <a16:creationId xmlns:a16="http://schemas.microsoft.com/office/drawing/2014/main" id="{D63EBA34-819B-9678-82B7-46C697F4A0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141" y="983592"/>
            <a:ext cx="4761553" cy="54384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C6FC58-D662-8AD7-E4D0-A9A8D2265F4A}"/>
              </a:ext>
            </a:extLst>
          </p:cNvPr>
          <p:cNvSpPr txBox="1"/>
          <p:nvPr/>
        </p:nvSpPr>
        <p:spPr>
          <a:xfrm>
            <a:off x="550780" y="1392508"/>
            <a:ext cx="3629527" cy="523220"/>
          </a:xfrm>
          <a:prstGeom prst="rect">
            <a:avLst/>
          </a:prstGeom>
          <a:noFill/>
        </p:spPr>
        <p:txBody>
          <a:bodyPr wrap="square">
            <a:spAutoFit/>
          </a:bodyPr>
          <a:lstStyle/>
          <a:p>
            <a:pPr marL="0" lvl="2">
              <a:spcAft>
                <a:spcPts val="375"/>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header.html</a:t>
            </a:r>
          </a:p>
        </p:txBody>
      </p:sp>
      <p:sp>
        <p:nvSpPr>
          <p:cNvPr id="4" name="TextBox 3">
            <a:extLst>
              <a:ext uri="{FF2B5EF4-FFF2-40B4-BE49-F238E27FC236}">
                <a16:creationId xmlns:a16="http://schemas.microsoft.com/office/drawing/2014/main" id="{39550922-6B0E-7D28-6EA9-4782733CF4F3}"/>
              </a:ext>
            </a:extLst>
          </p:cNvPr>
          <p:cNvSpPr txBox="1"/>
          <p:nvPr/>
        </p:nvSpPr>
        <p:spPr>
          <a:xfrm>
            <a:off x="550781" y="3429000"/>
            <a:ext cx="3629527" cy="523220"/>
          </a:xfrm>
          <a:prstGeom prst="rect">
            <a:avLst/>
          </a:prstGeom>
          <a:noFill/>
        </p:spPr>
        <p:txBody>
          <a:bodyPr wrap="square">
            <a:spAutoFit/>
          </a:bodyPr>
          <a:lstStyle/>
          <a:p>
            <a:pPr marL="0" lvl="2">
              <a:spcAft>
                <a:spcPts val="375"/>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nav.html</a:t>
            </a:r>
          </a:p>
        </p:txBody>
      </p:sp>
      <p:sp>
        <p:nvSpPr>
          <p:cNvPr id="5" name="TextBox 4">
            <a:extLst>
              <a:ext uri="{FF2B5EF4-FFF2-40B4-BE49-F238E27FC236}">
                <a16:creationId xmlns:a16="http://schemas.microsoft.com/office/drawing/2014/main" id="{E4633C63-F8FC-6822-C732-E6237FFD2DD4}"/>
              </a:ext>
            </a:extLst>
          </p:cNvPr>
          <p:cNvSpPr txBox="1"/>
          <p:nvPr/>
        </p:nvSpPr>
        <p:spPr>
          <a:xfrm>
            <a:off x="550779" y="5612798"/>
            <a:ext cx="3629527" cy="523220"/>
          </a:xfrm>
          <a:prstGeom prst="rect">
            <a:avLst/>
          </a:prstGeom>
          <a:noFill/>
        </p:spPr>
        <p:txBody>
          <a:bodyPr wrap="square">
            <a:spAutoFit/>
          </a:bodyPr>
          <a:lstStyle/>
          <a:p>
            <a:pPr marL="0" lvl="2">
              <a:spcAft>
                <a:spcPts val="375"/>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footer.html</a:t>
            </a:r>
          </a:p>
        </p:txBody>
      </p:sp>
      <p:sp>
        <p:nvSpPr>
          <p:cNvPr id="6" name="TextBox 5">
            <a:extLst>
              <a:ext uri="{FF2B5EF4-FFF2-40B4-BE49-F238E27FC236}">
                <a16:creationId xmlns:a16="http://schemas.microsoft.com/office/drawing/2014/main" id="{9F89ADC1-CF8D-24B6-1A44-D20CB306D9CE}"/>
              </a:ext>
            </a:extLst>
          </p:cNvPr>
          <p:cNvSpPr txBox="1"/>
          <p:nvPr/>
        </p:nvSpPr>
        <p:spPr>
          <a:xfrm>
            <a:off x="8665825" y="1506808"/>
            <a:ext cx="2975394" cy="3693319"/>
          </a:xfrm>
          <a:prstGeom prst="rect">
            <a:avLst/>
          </a:prstGeom>
          <a:noFill/>
        </p:spPr>
        <p:txBody>
          <a:bodyPr wrap="square" rtlCol="0">
            <a:spAutoFit/>
          </a:bodyPr>
          <a:lstStyle/>
          <a:p>
            <a:r>
              <a:rPr lang="en-US" dirty="0"/>
              <a:t>Generic page elements that are reused throughout the site are defined and saved as separate files. They are imported wherever needed. These are the templated elements. </a:t>
            </a:r>
          </a:p>
          <a:p>
            <a:endParaRPr lang="en-US" dirty="0"/>
          </a:p>
          <a:p>
            <a:r>
              <a:rPr lang="en-US" dirty="0"/>
              <a:t>Page content comes from the text contained in the markdown file itself and is specific to the page. Content is NOT templated. </a:t>
            </a:r>
          </a:p>
        </p:txBody>
      </p:sp>
      <p:sp>
        <p:nvSpPr>
          <p:cNvPr id="7" name="TextBox 6">
            <a:extLst>
              <a:ext uri="{FF2B5EF4-FFF2-40B4-BE49-F238E27FC236}">
                <a16:creationId xmlns:a16="http://schemas.microsoft.com/office/drawing/2014/main" id="{8A0A7DD1-7E49-5573-7DEA-ADC5DA0B28E7}"/>
              </a:ext>
            </a:extLst>
          </p:cNvPr>
          <p:cNvSpPr txBox="1"/>
          <p:nvPr/>
        </p:nvSpPr>
        <p:spPr>
          <a:xfrm>
            <a:off x="550780" y="177420"/>
            <a:ext cx="3158237"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/includes folder</a:t>
            </a:r>
          </a:p>
        </p:txBody>
      </p:sp>
    </p:spTree>
    <p:extLst>
      <p:ext uri="{BB962C8B-B14F-4D97-AF65-F5344CB8AC3E}">
        <p14:creationId xmlns:p14="http://schemas.microsoft.com/office/powerpoint/2010/main" val="318537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370105B-F3C0-30E3-2BA8-6EF51EC62C48}"/>
              </a:ext>
            </a:extLst>
          </p:cNvPr>
          <p:cNvGrpSpPr/>
          <p:nvPr/>
        </p:nvGrpSpPr>
        <p:grpSpPr>
          <a:xfrm>
            <a:off x="6747968" y="1190099"/>
            <a:ext cx="4488873" cy="5392730"/>
            <a:chOff x="6747968" y="1190099"/>
            <a:chExt cx="4488873" cy="5392730"/>
          </a:xfrm>
        </p:grpSpPr>
        <p:sp>
          <p:nvSpPr>
            <p:cNvPr id="3" name="TextBox 2">
              <a:extLst>
                <a:ext uri="{FF2B5EF4-FFF2-40B4-BE49-F238E27FC236}">
                  <a16:creationId xmlns:a16="http://schemas.microsoft.com/office/drawing/2014/main" id="{C38F8E42-DF73-AC3F-EF40-7940D33F6E14}"/>
                </a:ext>
              </a:extLst>
            </p:cNvPr>
            <p:cNvSpPr txBox="1"/>
            <p:nvPr/>
          </p:nvSpPr>
          <p:spPr>
            <a:xfrm>
              <a:off x="6906615" y="1388243"/>
              <a:ext cx="3945576" cy="4965462"/>
            </a:xfrm>
            <a:prstGeom prst="rect">
              <a:avLst/>
            </a:prstGeom>
            <a:noFill/>
          </p:spPr>
          <p:txBody>
            <a:bodyPr wrap="square">
              <a:spAutoFit/>
            </a:bodyPr>
            <a:lstStyle/>
            <a:p>
              <a:pPr algn="l">
                <a:spcAft>
                  <a:spcPts val="375"/>
                </a:spcAft>
                <a:buNone/>
              </a:pPr>
              <a:r>
                <a:rPr lang="en-US" b="0" i="0" dirty="0">
                  <a:solidFill>
                    <a:schemeClr val="accent1"/>
                  </a:solidFill>
                  <a:effectLst/>
                  <a:latin typeface="Courier New" panose="02070309020205020404" pitchFamily="49" charset="0"/>
                </a:rPr>
                <a:t> &lt;html&gt;</a:t>
              </a:r>
            </a:p>
            <a:p>
              <a:pPr algn="l">
                <a:spcAft>
                  <a:spcPts val="375"/>
                </a:spcAft>
                <a:buNone/>
              </a:pPr>
              <a:endParaRPr lang="en-US" b="0" i="0" dirty="0">
                <a:solidFill>
                  <a:srgbClr val="000000"/>
                </a:solidFill>
                <a:effectLst/>
                <a:latin typeface="Courier New" panose="02070309020205020404" pitchFamily="49" charset="0"/>
              </a:endParaRPr>
            </a:p>
            <a:p>
              <a:pPr lvl="1">
                <a:spcAft>
                  <a:spcPts val="375"/>
                </a:spcAft>
              </a:pPr>
              <a:r>
                <a:rPr lang="en-US" dirty="0">
                  <a:solidFill>
                    <a:schemeClr val="accent1"/>
                  </a:solidFill>
                  <a:latin typeface="Courier New" panose="02070309020205020404" pitchFamily="49" charset="0"/>
                </a:rPr>
                <a:t>&lt;head&gt;…&lt;/head&gt;</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dirty="0">
                  <a:solidFill>
                    <a:schemeClr val="accent2">
                      <a:lumMod val="75000"/>
                    </a:schemeClr>
                  </a:solidFill>
                  <a:latin typeface="Courier New" panose="02070309020205020404" pitchFamily="49" charset="0"/>
                </a:rPr>
                <a:t>&lt;header&gt;…&lt;/header&gt;</a:t>
              </a:r>
            </a:p>
            <a:p>
              <a:pPr lvl="2">
                <a:spcAft>
                  <a:spcPts val="375"/>
                </a:spcAft>
              </a:pPr>
              <a:endParaRPr lang="en-US" b="1" dirty="0">
                <a:solidFill>
                  <a:schemeClr val="accent2">
                    <a:lumMod val="75000"/>
                  </a:schemeClr>
                </a:solidFill>
                <a:latin typeface="Courier New" panose="02070309020205020404" pitchFamily="49" charset="0"/>
              </a:endParaRPr>
            </a:p>
            <a:p>
              <a:pPr lvl="2">
                <a:spcAft>
                  <a:spcPts val="375"/>
                </a:spcAft>
              </a:pPr>
              <a:r>
                <a:rPr lang="en-US" b="1" i="0" dirty="0">
                  <a:solidFill>
                    <a:schemeClr val="accent2">
                      <a:lumMod val="75000"/>
                    </a:schemeClr>
                  </a:solidFill>
                  <a:effectLst/>
                  <a:latin typeface="Courier New" panose="02070309020205020404" pitchFamily="49" charset="0"/>
                </a:rPr>
                <a:t>&lt;p&gt; ... &lt;/p&gt;</a:t>
              </a:r>
            </a:p>
            <a:p>
              <a:pPr lvl="2">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i="0" dirty="0">
                  <a:solidFill>
                    <a:schemeClr val="accent2">
                      <a:lumMod val="75000"/>
                    </a:schemeClr>
                  </a:solidFill>
                  <a:effectLst/>
                  <a:latin typeface="Courier New" panose="02070309020205020404" pitchFamily="49" charset="0"/>
                </a:rPr>
                <a:t>&lt;footer&gt;…&lt;/footer&gt;</a:t>
              </a:r>
            </a:p>
            <a:p>
              <a:pPr lvl="2">
                <a:spcAft>
                  <a:spcPts val="375"/>
                </a:spcAft>
              </a:pPr>
              <a:endParaRPr lang="en-US" b="1" i="0" dirty="0">
                <a:solidFill>
                  <a:schemeClr val="accent2">
                    <a:lumMod val="75000"/>
                  </a:schemeClr>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0" i="0" dirty="0">
                  <a:solidFill>
                    <a:srgbClr val="000000"/>
                  </a:solidFill>
                  <a:effectLst/>
                  <a:latin typeface="Courier New" panose="02070309020205020404" pitchFamily="49" charset="0"/>
                </a:rPr>
                <a:t> </a:t>
              </a:r>
            </a:p>
            <a:p>
              <a:pPr algn="l">
                <a:spcAft>
                  <a:spcPts val="375"/>
                </a:spcAft>
                <a:buNone/>
              </a:pPr>
              <a:r>
                <a:rPr lang="en-US" b="0" i="0" dirty="0">
                  <a:solidFill>
                    <a:schemeClr val="accent1"/>
                  </a:solidFill>
                  <a:effectLst/>
                  <a:latin typeface="Courier New" panose="02070309020205020404" pitchFamily="49" charset="0"/>
                </a:rPr>
                <a:t>&lt;/html&gt; </a:t>
              </a:r>
              <a:endParaRPr lang="en-US" dirty="0">
                <a:solidFill>
                  <a:schemeClr val="accent1"/>
                </a:solidFill>
              </a:endParaRPr>
            </a:p>
          </p:txBody>
        </p:sp>
        <p:sp>
          <p:nvSpPr>
            <p:cNvPr id="4" name="Rectangle 3">
              <a:extLst>
                <a:ext uri="{FF2B5EF4-FFF2-40B4-BE49-F238E27FC236}">
                  <a16:creationId xmlns:a16="http://schemas.microsoft.com/office/drawing/2014/main" id="{BC71575B-7A78-C7F3-215A-D499557CF5F1}"/>
                </a:ext>
              </a:extLst>
            </p:cNvPr>
            <p:cNvSpPr/>
            <p:nvPr/>
          </p:nvSpPr>
          <p:spPr>
            <a:xfrm>
              <a:off x="6747968" y="1190099"/>
              <a:ext cx="4488873" cy="53927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6A66116-706D-8D3F-2225-6E9CAB924B15}"/>
                </a:ext>
              </a:extLst>
            </p:cNvPr>
            <p:cNvSpPr/>
            <p:nvPr/>
          </p:nvSpPr>
          <p:spPr>
            <a:xfrm>
              <a:off x="7100393" y="2018251"/>
              <a:ext cx="3751798" cy="38576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43D7E05-5133-0CF8-8270-2614D416E2CE}"/>
                </a:ext>
              </a:extLst>
            </p:cNvPr>
            <p:cNvSpPr/>
            <p:nvPr/>
          </p:nvSpPr>
          <p:spPr>
            <a:xfrm>
              <a:off x="7100392" y="2591106"/>
              <a:ext cx="3751799" cy="3141891"/>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F0677DB-A5A3-4A41-2B3F-F8715307A71B}"/>
                </a:ext>
              </a:extLst>
            </p:cNvPr>
            <p:cNvSpPr/>
            <p:nvPr/>
          </p:nvSpPr>
          <p:spPr>
            <a:xfrm>
              <a:off x="7467104" y="3321130"/>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86F098-5ED0-96ED-0060-6EAE01201B85}"/>
                </a:ext>
              </a:extLst>
            </p:cNvPr>
            <p:cNvSpPr/>
            <p:nvPr/>
          </p:nvSpPr>
          <p:spPr>
            <a:xfrm>
              <a:off x="7467104" y="3809292"/>
              <a:ext cx="3062783" cy="699410"/>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6101944-45C4-81D2-D8EF-D42507AF2485}"/>
                </a:ext>
              </a:extLst>
            </p:cNvPr>
            <p:cNvSpPr/>
            <p:nvPr/>
          </p:nvSpPr>
          <p:spPr>
            <a:xfrm>
              <a:off x="7467104" y="4616536"/>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Box 10">
            <a:extLst>
              <a:ext uri="{FF2B5EF4-FFF2-40B4-BE49-F238E27FC236}">
                <a16:creationId xmlns:a16="http://schemas.microsoft.com/office/drawing/2014/main" id="{26646478-C5E9-386C-C648-24C75BE33558}"/>
              </a:ext>
            </a:extLst>
          </p:cNvPr>
          <p:cNvSpPr txBox="1"/>
          <p:nvPr/>
        </p:nvSpPr>
        <p:spPr>
          <a:xfrm>
            <a:off x="490693" y="1388243"/>
            <a:ext cx="6093618" cy="4965462"/>
          </a:xfrm>
          <a:prstGeom prst="rect">
            <a:avLst/>
          </a:prstGeom>
          <a:noFill/>
        </p:spPr>
        <p:txBody>
          <a:bodyPr wrap="square">
            <a:spAutoFit/>
          </a:bodyPr>
          <a:lstStyle/>
          <a:p>
            <a:pPr algn="l">
              <a:spcAft>
                <a:spcPts val="375"/>
              </a:spcAft>
              <a:buNone/>
            </a:pPr>
            <a:r>
              <a:rPr lang="en-US" b="0" i="0" dirty="0">
                <a:solidFill>
                  <a:srgbClr val="000000"/>
                </a:solidFill>
                <a:effectLst/>
                <a:latin typeface="Courier New" panose="02070309020205020404" pitchFamily="49" charset="0"/>
              </a:rPr>
              <a:t> &lt;html&gt;</a:t>
            </a:r>
          </a:p>
          <a:p>
            <a:pPr algn="l">
              <a:spcAft>
                <a:spcPts val="375"/>
              </a:spcAft>
              <a:buNone/>
            </a:pPr>
            <a:endParaRPr lang="en-US" b="0" i="0" dirty="0">
              <a:solidFill>
                <a:srgbClr val="000000"/>
              </a:solidFill>
              <a:effectLst/>
              <a:latin typeface="Courier New" panose="02070309020205020404" pitchFamily="49" charset="0"/>
            </a:endParaRPr>
          </a:p>
          <a:p>
            <a:pPr lvl="1">
              <a:spcAft>
                <a:spcPts val="375"/>
              </a:spcAft>
            </a:pPr>
            <a:r>
              <a:rPr lang="en-US" b="0" i="0" dirty="0">
                <a:solidFill>
                  <a:srgbClr val="000000"/>
                </a:solidFill>
                <a:effectLst/>
                <a:latin typeface="Courier New" panose="02070309020205020404" pitchFamily="49" charset="0"/>
              </a:rPr>
              <a:t>{% include head.html %}</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0" i="0" dirty="0">
                <a:solidFill>
                  <a:srgbClr val="000000"/>
                </a:solidFill>
                <a:effectLst/>
                <a:latin typeface="Courier New" panose="02070309020205020404" pitchFamily="49" charset="0"/>
              </a:rPr>
              <a:t>&lt;body&gt;   </a:t>
            </a:r>
          </a:p>
          <a:p>
            <a:pPr lvl="1">
              <a:spcAft>
                <a:spcPts val="375"/>
              </a:spcAft>
            </a:pPr>
            <a:endParaRPr lang="en-US" b="0" i="0" dirty="0">
              <a:solidFill>
                <a:srgbClr val="000000"/>
              </a:solidFill>
              <a:effectLst/>
              <a:latin typeface="Courier New" panose="02070309020205020404" pitchFamily="49" charset="0"/>
            </a:endParaRPr>
          </a:p>
          <a:p>
            <a:pPr lvl="2">
              <a:spcAft>
                <a:spcPts val="375"/>
              </a:spcAft>
            </a:pPr>
            <a:r>
              <a:rPr lang="en-US" b="0" i="0" dirty="0">
                <a:solidFill>
                  <a:srgbClr val="000000"/>
                </a:solidFill>
                <a:effectLst/>
                <a:latin typeface="Courier New" panose="02070309020205020404" pitchFamily="49" charset="0"/>
              </a:rPr>
              <a:t>{% include header.html %}   </a:t>
            </a:r>
          </a:p>
          <a:p>
            <a:pPr lvl="2">
              <a:spcAft>
                <a:spcPts val="375"/>
              </a:spcAft>
            </a:pPr>
            <a:endParaRPr lang="en-US" b="0" i="0" dirty="0">
              <a:solidFill>
                <a:srgbClr val="000000"/>
              </a:solidFill>
              <a:effectLst/>
              <a:latin typeface="Courier New" panose="02070309020205020404" pitchFamily="49" charset="0"/>
            </a:endParaRPr>
          </a:p>
          <a:p>
            <a:pPr lvl="2">
              <a:spcAft>
                <a:spcPts val="375"/>
              </a:spcAft>
            </a:pPr>
            <a:r>
              <a:rPr lang="en-US" b="0" i="0" dirty="0">
                <a:solidFill>
                  <a:srgbClr val="000000"/>
                </a:solidFill>
                <a:effectLst/>
                <a:latin typeface="Courier New" panose="02070309020205020404" pitchFamily="49" charset="0"/>
              </a:rPr>
              <a:t>{{ content }}     </a:t>
            </a:r>
          </a:p>
          <a:p>
            <a:pPr lvl="2">
              <a:spcAft>
                <a:spcPts val="375"/>
              </a:spcAft>
            </a:pPr>
            <a:endParaRPr lang="en-US" b="0" i="0" dirty="0">
              <a:solidFill>
                <a:srgbClr val="000000"/>
              </a:solidFill>
              <a:effectLst/>
              <a:latin typeface="Courier New" panose="02070309020205020404" pitchFamily="49" charset="0"/>
            </a:endParaRPr>
          </a:p>
          <a:p>
            <a:pPr lvl="2">
              <a:spcAft>
                <a:spcPts val="375"/>
              </a:spcAft>
            </a:pPr>
            <a:r>
              <a:rPr lang="en-US" b="0" i="0" dirty="0">
                <a:solidFill>
                  <a:srgbClr val="000000"/>
                </a:solidFill>
                <a:effectLst/>
                <a:latin typeface="Courier New" panose="02070309020205020404" pitchFamily="49" charset="0"/>
              </a:rPr>
              <a:t>{% include footer.html %}   </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0" i="0" dirty="0">
                <a:solidFill>
                  <a:srgbClr val="000000"/>
                </a:solidFill>
                <a:effectLst/>
                <a:latin typeface="Courier New" panose="02070309020205020404" pitchFamily="49" charset="0"/>
              </a:rPr>
              <a:t>&lt;/body&gt; </a:t>
            </a:r>
          </a:p>
          <a:p>
            <a:pPr lvl="1">
              <a:spcAft>
                <a:spcPts val="375"/>
              </a:spcAft>
            </a:pPr>
            <a:r>
              <a:rPr lang="en-US" b="0" i="0" dirty="0">
                <a:solidFill>
                  <a:srgbClr val="000000"/>
                </a:solidFill>
                <a:effectLst/>
                <a:latin typeface="Courier New" panose="02070309020205020404" pitchFamily="49" charset="0"/>
              </a:rPr>
              <a:t> </a:t>
            </a:r>
          </a:p>
          <a:p>
            <a:pPr algn="l">
              <a:spcAft>
                <a:spcPts val="375"/>
              </a:spcAft>
              <a:buNone/>
            </a:pPr>
            <a:r>
              <a:rPr lang="en-US" b="0" i="0" dirty="0">
                <a:solidFill>
                  <a:srgbClr val="000000"/>
                </a:solidFill>
                <a:effectLst/>
                <a:latin typeface="Courier New" panose="02070309020205020404" pitchFamily="49" charset="0"/>
              </a:rPr>
              <a:t>&lt;/html&gt; </a:t>
            </a:r>
            <a:endParaRPr lang="en-US" dirty="0"/>
          </a:p>
        </p:txBody>
      </p:sp>
      <p:sp>
        <p:nvSpPr>
          <p:cNvPr id="12" name="TextBox 11">
            <a:extLst>
              <a:ext uri="{FF2B5EF4-FFF2-40B4-BE49-F238E27FC236}">
                <a16:creationId xmlns:a16="http://schemas.microsoft.com/office/drawing/2014/main" id="{E4E6EF72-E70B-3265-32EE-E785334D92CA}"/>
              </a:ext>
            </a:extLst>
          </p:cNvPr>
          <p:cNvSpPr txBox="1"/>
          <p:nvPr/>
        </p:nvSpPr>
        <p:spPr>
          <a:xfrm>
            <a:off x="1285876" y="211907"/>
            <a:ext cx="3241593"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LIQUID / JEKYLL</a:t>
            </a:r>
          </a:p>
        </p:txBody>
      </p:sp>
      <p:sp>
        <p:nvSpPr>
          <p:cNvPr id="13" name="TextBox 12">
            <a:extLst>
              <a:ext uri="{FF2B5EF4-FFF2-40B4-BE49-F238E27FC236}">
                <a16:creationId xmlns:a16="http://schemas.microsoft.com/office/drawing/2014/main" id="{16B1F187-86E7-9E6E-2359-D4292005747E}"/>
              </a:ext>
            </a:extLst>
          </p:cNvPr>
          <p:cNvSpPr txBox="1"/>
          <p:nvPr/>
        </p:nvSpPr>
        <p:spPr>
          <a:xfrm>
            <a:off x="8254873" y="240312"/>
            <a:ext cx="1249060"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HTML</a:t>
            </a:r>
          </a:p>
        </p:txBody>
      </p:sp>
      <p:cxnSp>
        <p:nvCxnSpPr>
          <p:cNvPr id="15" name="Straight Arrow Connector 14">
            <a:extLst>
              <a:ext uri="{FF2B5EF4-FFF2-40B4-BE49-F238E27FC236}">
                <a16:creationId xmlns:a16="http://schemas.microsoft.com/office/drawing/2014/main" id="{80213D0F-9D44-456C-9E32-E2838C16767E}"/>
              </a:ext>
            </a:extLst>
          </p:cNvPr>
          <p:cNvCxnSpPr/>
          <p:nvPr/>
        </p:nvCxnSpPr>
        <p:spPr>
          <a:xfrm>
            <a:off x="4957763" y="504294"/>
            <a:ext cx="2728912"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6640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C05A8-0FC0-EDB2-EB56-93BAAA18D5F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F85ACB8-DCC8-89C6-85DA-74B28107AD8A}"/>
              </a:ext>
            </a:extLst>
          </p:cNvPr>
          <p:cNvSpPr txBox="1"/>
          <p:nvPr/>
        </p:nvSpPr>
        <p:spPr>
          <a:xfrm>
            <a:off x="533556" y="2731260"/>
            <a:ext cx="6093618" cy="2995692"/>
          </a:xfrm>
          <a:prstGeom prst="rect">
            <a:avLst/>
          </a:prstGeom>
          <a:noFill/>
        </p:spPr>
        <p:txBody>
          <a:bodyPr wrap="square">
            <a:spAutoFit/>
          </a:bodyPr>
          <a:lstStyle/>
          <a:p>
            <a:pPr>
              <a:spcAft>
                <a:spcPts val="375"/>
              </a:spcAft>
            </a:pPr>
            <a:endParaRPr lang="en-US" dirty="0">
              <a:solidFill>
                <a:srgbClr val="000000"/>
              </a:solidFill>
              <a:latin typeface="Courier New" panose="02070309020205020404" pitchFamily="49" charset="0"/>
            </a:endParaRPr>
          </a:p>
          <a:p>
            <a:pPr>
              <a:spcAft>
                <a:spcPts val="375"/>
              </a:spcAft>
            </a:pPr>
            <a:endParaRPr lang="en-US" b="0" i="0" dirty="0">
              <a:solidFill>
                <a:srgbClr val="000000"/>
              </a:solidFill>
              <a:effectLst/>
              <a:latin typeface="Courier New" panose="02070309020205020404" pitchFamily="49" charset="0"/>
            </a:endParaRPr>
          </a:p>
          <a:p>
            <a:pPr>
              <a:spcAft>
                <a:spcPts val="375"/>
              </a:spcAft>
            </a:pPr>
            <a:r>
              <a:rPr lang="en-US" dirty="0">
                <a:solidFill>
                  <a:srgbClr val="000000"/>
                </a:solidFill>
                <a:latin typeface="Courier New" panose="02070309020205020404" pitchFamily="49" charset="0"/>
              </a:rPr>
              <a:t>&lt;html&gt;</a:t>
            </a:r>
          </a:p>
          <a:p>
            <a:pPr>
              <a:spcAft>
                <a:spcPts val="375"/>
              </a:spcAft>
            </a:pPr>
            <a:r>
              <a:rPr lang="en-US" b="0" i="0" dirty="0">
                <a:solidFill>
                  <a:srgbClr val="000000"/>
                </a:solidFill>
                <a:effectLst/>
                <a:latin typeface="Courier New" panose="02070309020205020404" pitchFamily="49" charset="0"/>
              </a:rPr>
              <a:t>&lt;body&gt;</a:t>
            </a:r>
          </a:p>
          <a:p>
            <a:pPr>
              <a:spcAft>
                <a:spcPts val="375"/>
              </a:spcAft>
            </a:pPr>
            <a:endParaRPr lang="en-US" b="0" i="0" dirty="0">
              <a:solidFill>
                <a:srgbClr val="000000"/>
              </a:solidFill>
              <a:effectLst/>
              <a:latin typeface="Courier New" panose="02070309020205020404" pitchFamily="49" charset="0"/>
            </a:endParaRPr>
          </a:p>
          <a:p>
            <a:pPr>
              <a:spcAft>
                <a:spcPts val="375"/>
              </a:spcAft>
            </a:pPr>
            <a:r>
              <a:rPr lang="en-US" b="0" i="0" dirty="0">
                <a:solidFill>
                  <a:srgbClr val="000000"/>
                </a:solidFill>
                <a:effectLst/>
                <a:latin typeface="Courier New" panose="02070309020205020404" pitchFamily="49" charset="0"/>
              </a:rPr>
              <a:t>{% include </a:t>
            </a:r>
            <a:r>
              <a:rPr lang="en-US" b="1" i="0" dirty="0">
                <a:solidFill>
                  <a:schemeClr val="accent2">
                    <a:lumMod val="75000"/>
                  </a:schemeClr>
                </a:solidFill>
                <a:effectLst/>
                <a:latin typeface="Courier New" panose="02070309020205020404" pitchFamily="49" charset="0"/>
              </a:rPr>
              <a:t>header.html </a:t>
            </a:r>
            <a:r>
              <a:rPr lang="en-US" b="0" i="0" dirty="0">
                <a:solidFill>
                  <a:srgbClr val="000000"/>
                </a:solidFill>
                <a:effectLst/>
                <a:latin typeface="Courier New" panose="02070309020205020404" pitchFamily="49" charset="0"/>
              </a:rPr>
              <a:t>%} </a:t>
            </a:r>
          </a:p>
          <a:p>
            <a:pPr lvl="2">
              <a:spcAft>
                <a:spcPts val="375"/>
              </a:spcAft>
            </a:pPr>
            <a:endParaRPr lang="en-US" dirty="0">
              <a:solidFill>
                <a:srgbClr val="000000"/>
              </a:solidFill>
              <a:latin typeface="Courier New" panose="02070309020205020404" pitchFamily="49" charset="0"/>
            </a:endParaRPr>
          </a:p>
          <a:p>
            <a:pPr>
              <a:spcAft>
                <a:spcPts val="375"/>
              </a:spcAft>
            </a:pPr>
            <a:r>
              <a:rPr lang="en-US" b="0" i="0" dirty="0">
                <a:solidFill>
                  <a:srgbClr val="000000"/>
                </a:solidFill>
                <a:effectLst/>
                <a:latin typeface="Courier New" panose="02070309020205020404" pitchFamily="49" charset="0"/>
              </a:rPr>
              <a:t>&lt;/body&gt;</a:t>
            </a:r>
          </a:p>
          <a:p>
            <a:pPr algn="l">
              <a:spcAft>
                <a:spcPts val="375"/>
              </a:spcAft>
              <a:buNone/>
            </a:pPr>
            <a:r>
              <a:rPr lang="en-US" b="0" i="0" dirty="0">
                <a:solidFill>
                  <a:srgbClr val="000000"/>
                </a:solidFill>
                <a:effectLst/>
                <a:latin typeface="Courier New" panose="02070309020205020404" pitchFamily="49" charset="0"/>
              </a:rPr>
              <a:t>&lt;/html&gt; </a:t>
            </a:r>
            <a:endParaRPr lang="en-US" dirty="0"/>
          </a:p>
        </p:txBody>
      </p:sp>
      <p:sp>
        <p:nvSpPr>
          <p:cNvPr id="12" name="TextBox 11">
            <a:extLst>
              <a:ext uri="{FF2B5EF4-FFF2-40B4-BE49-F238E27FC236}">
                <a16:creationId xmlns:a16="http://schemas.microsoft.com/office/drawing/2014/main" id="{EB4165C8-F138-6971-18C0-B0F711BF34E6}"/>
              </a:ext>
            </a:extLst>
          </p:cNvPr>
          <p:cNvSpPr txBox="1"/>
          <p:nvPr/>
        </p:nvSpPr>
        <p:spPr>
          <a:xfrm>
            <a:off x="1285876" y="211907"/>
            <a:ext cx="3241593"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LIQUID / JEKYLL</a:t>
            </a:r>
          </a:p>
        </p:txBody>
      </p:sp>
      <p:sp>
        <p:nvSpPr>
          <p:cNvPr id="13" name="TextBox 12">
            <a:extLst>
              <a:ext uri="{FF2B5EF4-FFF2-40B4-BE49-F238E27FC236}">
                <a16:creationId xmlns:a16="http://schemas.microsoft.com/office/drawing/2014/main" id="{EAC46756-24F4-081A-8411-9C65D7A74569}"/>
              </a:ext>
            </a:extLst>
          </p:cNvPr>
          <p:cNvSpPr txBox="1"/>
          <p:nvPr/>
        </p:nvSpPr>
        <p:spPr>
          <a:xfrm>
            <a:off x="8254873" y="240312"/>
            <a:ext cx="1249060"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HTML</a:t>
            </a:r>
          </a:p>
        </p:txBody>
      </p:sp>
      <p:cxnSp>
        <p:nvCxnSpPr>
          <p:cNvPr id="15" name="Straight Arrow Connector 14">
            <a:extLst>
              <a:ext uri="{FF2B5EF4-FFF2-40B4-BE49-F238E27FC236}">
                <a16:creationId xmlns:a16="http://schemas.microsoft.com/office/drawing/2014/main" id="{56DDECEE-E8A3-3CB6-3E87-4247CEE369B6}"/>
              </a:ext>
            </a:extLst>
          </p:cNvPr>
          <p:cNvCxnSpPr>
            <a:cxnSpLocks/>
          </p:cNvCxnSpPr>
          <p:nvPr/>
        </p:nvCxnSpPr>
        <p:spPr>
          <a:xfrm flipH="1">
            <a:off x="4957763" y="504294"/>
            <a:ext cx="2728912"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9AEA5C-71E7-051B-0D99-62998695FF5E}"/>
              </a:ext>
            </a:extLst>
          </p:cNvPr>
          <p:cNvSpPr txBox="1"/>
          <p:nvPr/>
        </p:nvSpPr>
        <p:spPr>
          <a:xfrm>
            <a:off x="4656056" y="2316766"/>
            <a:ext cx="6773944" cy="523220"/>
          </a:xfrm>
          <a:prstGeom prst="rect">
            <a:avLst/>
          </a:prstGeom>
          <a:noFill/>
        </p:spPr>
        <p:txBody>
          <a:bodyPr wrap="square">
            <a:spAutoFit/>
          </a:bodyPr>
          <a:lstStyle/>
          <a:p>
            <a:pPr lvl="2">
              <a:spcAft>
                <a:spcPts val="375"/>
              </a:spcAft>
            </a:pPr>
            <a:r>
              <a:rPr lang="en-US" sz="2800" b="1" dirty="0">
                <a:solidFill>
                  <a:schemeClr val="accent2">
                    <a:lumMod val="75000"/>
                  </a:schemeClr>
                </a:solidFill>
                <a:latin typeface="Courier New" panose="02070309020205020404" pitchFamily="49" charset="0"/>
              </a:rPr>
              <a:t>header.html file content: </a:t>
            </a:r>
          </a:p>
        </p:txBody>
      </p:sp>
      <p:sp>
        <p:nvSpPr>
          <p:cNvPr id="17" name="TextBox 16">
            <a:extLst>
              <a:ext uri="{FF2B5EF4-FFF2-40B4-BE49-F238E27FC236}">
                <a16:creationId xmlns:a16="http://schemas.microsoft.com/office/drawing/2014/main" id="{78F5D681-70F8-ECF3-00B3-5D649006682D}"/>
              </a:ext>
            </a:extLst>
          </p:cNvPr>
          <p:cNvSpPr txBox="1"/>
          <p:nvPr/>
        </p:nvSpPr>
        <p:spPr>
          <a:xfrm>
            <a:off x="5661421" y="3020351"/>
            <a:ext cx="8711803" cy="3416320"/>
          </a:xfrm>
          <a:prstGeom prst="rect">
            <a:avLst/>
          </a:prstGeom>
          <a:noFill/>
        </p:spPr>
        <p:txBody>
          <a:bodyPr wrap="square">
            <a:spAutoFit/>
          </a:bodyPr>
          <a:lstStyle/>
          <a:p>
            <a:r>
              <a:rPr lang="en-US" dirty="0">
                <a:latin typeface="Biome Light" panose="020B0303030204020804" pitchFamily="34" charset="0"/>
                <a:cs typeface="Biome Light" panose="020B0303030204020804" pitchFamily="34" charset="0"/>
              </a:rPr>
              <a:t>&lt;header&gt;</a:t>
            </a:r>
          </a:p>
          <a:p>
            <a:r>
              <a:rPr lang="en-US" dirty="0">
                <a:latin typeface="Biome Light" panose="020B0303030204020804" pitchFamily="34" charset="0"/>
                <a:cs typeface="Biome Light" panose="020B0303030204020804" pitchFamily="34" charset="0"/>
              </a:rPr>
              <a:t>&lt;div class="navbar"&gt;</a:t>
            </a:r>
          </a:p>
          <a:p>
            <a:r>
              <a:rPr lang="en-US" dirty="0">
                <a:latin typeface="Biome Light" panose="020B0303030204020804" pitchFamily="34" charset="0"/>
                <a:cs typeface="Biome Light" panose="020B0303030204020804" pitchFamily="34" charset="0"/>
              </a:rPr>
              <a:t>  </a:t>
            </a:r>
          </a:p>
          <a:p>
            <a:r>
              <a:rPr lang="en-US" dirty="0">
                <a:latin typeface="Biome Light" panose="020B0303030204020804" pitchFamily="34" charset="0"/>
                <a:cs typeface="Biome Light" panose="020B0303030204020804" pitchFamily="34" charset="0"/>
              </a:rPr>
              <a:t>  &lt;a id="site-title"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="index"&gt;  {{ </a:t>
            </a:r>
            <a:r>
              <a:rPr lang="en-US" dirty="0" err="1">
                <a:latin typeface="Biome Light" panose="020B0303030204020804" pitchFamily="34" charset="0"/>
                <a:cs typeface="Biome Light" panose="020B0303030204020804" pitchFamily="34" charset="0"/>
              </a:rPr>
              <a:t>site.title</a:t>
            </a:r>
            <a:r>
              <a:rPr lang="en-US" dirty="0">
                <a:latin typeface="Biome Light" panose="020B0303030204020804" pitchFamily="34" charset="0"/>
                <a:cs typeface="Biome Light" panose="020B0303030204020804" pitchFamily="34" charset="0"/>
              </a:rPr>
              <a:t> }}  &lt;/a&gt;</a:t>
            </a:r>
          </a:p>
          <a:p>
            <a:r>
              <a:rPr lang="en-US" dirty="0">
                <a:latin typeface="Biome Light" panose="020B0303030204020804" pitchFamily="34" charset="0"/>
                <a:cs typeface="Biome Light" panose="020B0303030204020804" pitchFamily="34" charset="0"/>
              </a:rPr>
              <a:t>  </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="index"&gt;   Home             &lt;/a&gt;</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="page1"&gt;   Layout Example   &lt;/a&gt;  </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="page2"&gt;   Table Example    &lt;/a&gt; </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="about"&gt;   About            &lt;/a&gt;  </a:t>
            </a:r>
          </a:p>
          <a:p>
            <a:r>
              <a:rPr lang="en-US" dirty="0">
                <a:latin typeface="Biome Light" panose="020B0303030204020804" pitchFamily="34" charset="0"/>
                <a:cs typeface="Biome Light" panose="020B0303030204020804" pitchFamily="34" charset="0"/>
              </a:rPr>
              <a:t>  </a:t>
            </a:r>
          </a:p>
          <a:p>
            <a:r>
              <a:rPr lang="en-US" dirty="0">
                <a:latin typeface="Biome Light" panose="020B0303030204020804" pitchFamily="34" charset="0"/>
                <a:cs typeface="Biome Light" panose="020B0303030204020804" pitchFamily="34" charset="0"/>
              </a:rPr>
              <a:t>&lt;/div&gt;</a:t>
            </a:r>
          </a:p>
          <a:p>
            <a:r>
              <a:rPr lang="en-US" dirty="0">
                <a:latin typeface="Biome Light" panose="020B0303030204020804" pitchFamily="34" charset="0"/>
                <a:cs typeface="Biome Light" panose="020B0303030204020804" pitchFamily="34" charset="0"/>
              </a:rPr>
              <a:t>&lt;/header&gt;</a:t>
            </a:r>
          </a:p>
        </p:txBody>
      </p:sp>
      <p:sp>
        <p:nvSpPr>
          <p:cNvPr id="18" name="Rectangle 17">
            <a:extLst>
              <a:ext uri="{FF2B5EF4-FFF2-40B4-BE49-F238E27FC236}">
                <a16:creationId xmlns:a16="http://schemas.microsoft.com/office/drawing/2014/main" id="{C9FA5BD8-7FB8-1EF6-B100-1A765B4197D5}"/>
              </a:ext>
            </a:extLst>
          </p:cNvPr>
          <p:cNvSpPr/>
          <p:nvPr/>
        </p:nvSpPr>
        <p:spPr>
          <a:xfrm>
            <a:off x="5661421" y="3020350"/>
            <a:ext cx="5768579" cy="3416319"/>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Arrow Connector 18">
            <a:extLst>
              <a:ext uri="{FF2B5EF4-FFF2-40B4-BE49-F238E27FC236}">
                <a16:creationId xmlns:a16="http://schemas.microsoft.com/office/drawing/2014/main" id="{DE10C129-9CE7-255F-5C9E-DE378D34154B}"/>
              </a:ext>
            </a:extLst>
          </p:cNvPr>
          <p:cNvCxnSpPr>
            <a:cxnSpLocks/>
          </p:cNvCxnSpPr>
          <p:nvPr/>
        </p:nvCxnSpPr>
        <p:spPr>
          <a:xfrm flipH="1">
            <a:off x="4238626" y="4557187"/>
            <a:ext cx="1212056" cy="0"/>
          </a:xfrm>
          <a:prstGeom prst="straightConnector1">
            <a:avLst/>
          </a:prstGeom>
          <a:ln w="444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16A91EB-C232-EBA8-27BC-BEDE3D7D4CA3}"/>
              </a:ext>
            </a:extLst>
          </p:cNvPr>
          <p:cNvSpPr txBox="1"/>
          <p:nvPr/>
        </p:nvSpPr>
        <p:spPr>
          <a:xfrm>
            <a:off x="1285876" y="1117639"/>
            <a:ext cx="8472488" cy="646331"/>
          </a:xfrm>
          <a:prstGeom prst="rect">
            <a:avLst/>
          </a:prstGeom>
          <a:noFill/>
        </p:spPr>
        <p:txBody>
          <a:bodyPr wrap="square" rtlCol="0">
            <a:spAutoFit/>
          </a:bodyPr>
          <a:lstStyle/>
          <a:p>
            <a:r>
              <a:rPr lang="en-US" b="1" dirty="0"/>
              <a:t>The </a:t>
            </a:r>
            <a:r>
              <a:rPr lang="en-US" b="1" dirty="0">
                <a:solidFill>
                  <a:schemeClr val="accent2">
                    <a:lumMod val="75000"/>
                  </a:schemeClr>
                </a:solidFill>
              </a:rPr>
              <a:t>{% include %} </a:t>
            </a:r>
            <a:r>
              <a:rPr lang="en-US" b="1" dirty="0"/>
              <a:t>liquid tag is the way that Jekyll combines page elements by replacing the tag with the actual HTML code contained within the referenced file</a:t>
            </a:r>
          </a:p>
        </p:txBody>
      </p:sp>
    </p:spTree>
    <p:extLst>
      <p:ext uri="{BB962C8B-B14F-4D97-AF65-F5344CB8AC3E}">
        <p14:creationId xmlns:p14="http://schemas.microsoft.com/office/powerpoint/2010/main" val="1149135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liquid tags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94230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9C3F5-0FD0-46AC-96D3-19F86E12DA5F}"/>
              </a:ext>
            </a:extLst>
          </p:cNvPr>
          <p:cNvSpPr>
            <a:spLocks noGrp="1"/>
          </p:cNvSpPr>
          <p:nvPr>
            <p:ph type="title"/>
          </p:nvPr>
        </p:nvSpPr>
        <p:spPr/>
        <p:txBody>
          <a:bodyPr/>
          <a:lstStyle/>
          <a:p>
            <a:r>
              <a:rPr lang="en-US" dirty="0"/>
              <a:t>Generic Variables</a:t>
            </a:r>
          </a:p>
        </p:txBody>
      </p:sp>
      <p:sp>
        <p:nvSpPr>
          <p:cNvPr id="3" name="Content Placeholder 2">
            <a:extLst>
              <a:ext uri="{FF2B5EF4-FFF2-40B4-BE49-F238E27FC236}">
                <a16:creationId xmlns:a16="http://schemas.microsoft.com/office/drawing/2014/main" id="{79F7E692-9680-4F70-A528-0951376F0CB7}"/>
              </a:ext>
            </a:extLst>
          </p:cNvPr>
          <p:cNvSpPr>
            <a:spLocks noGrp="1"/>
          </p:cNvSpPr>
          <p:nvPr>
            <p:ph idx="1"/>
          </p:nvPr>
        </p:nvSpPr>
        <p:spPr/>
        <p:txBody>
          <a:bodyPr>
            <a:normAutofit fontScale="85000" lnSpcReduction="10000"/>
          </a:bodyPr>
          <a:lstStyle/>
          <a:p>
            <a:r>
              <a:rPr lang="en-US" dirty="0"/>
              <a:t>Liquid tags allow you to reference info in your YAML header directly in your page. </a:t>
            </a:r>
          </a:p>
          <a:p>
            <a:pPr marL="0" indent="0">
              <a:buNone/>
            </a:pPr>
            <a:endParaRPr lang="en-US" sz="1700" dirty="0">
              <a:latin typeface="Courier New" panose="02070309020205020404" pitchFamily="49" charset="0"/>
              <a:cs typeface="Courier New" panose="02070309020205020404" pitchFamily="49" charset="0"/>
            </a:endParaRPr>
          </a:p>
          <a:p>
            <a:pPr marL="0" indent="0">
              <a:buNone/>
            </a:pPr>
            <a:r>
              <a:rPr lang="en-US" sz="1700" dirty="0">
                <a:latin typeface="Courier New" panose="02070309020205020404" pitchFamily="49" charset="0"/>
                <a:cs typeface="Courier New" panose="02070309020205020404" pitchFamily="49" charset="0"/>
              </a:rPr>
              <a:t>---</a:t>
            </a:r>
          </a:p>
          <a:p>
            <a:pPr marL="0" indent="0">
              <a:buNone/>
            </a:pPr>
            <a:r>
              <a:rPr lang="en-US" sz="1700" dirty="0" err="1">
                <a:solidFill>
                  <a:schemeClr val="accent2">
                    <a:lumMod val="75000"/>
                  </a:schemeClr>
                </a:solidFill>
                <a:latin typeface="Courier New" panose="02070309020205020404" pitchFamily="49" charset="0"/>
                <a:cs typeface="Courier New" panose="02070309020205020404" pitchFamily="49" charset="0"/>
              </a:rPr>
              <a:t>yellowdig</a:t>
            </a:r>
            <a:r>
              <a:rPr lang="en-US" sz="1700" dirty="0">
                <a:solidFill>
                  <a:schemeClr val="accent2">
                    <a:lumMod val="75000"/>
                  </a:schemeClr>
                </a:solidFill>
                <a:latin typeface="Courier New" panose="02070309020205020404" pitchFamily="49" charset="0"/>
                <a:cs typeface="Courier New" panose="02070309020205020404" pitchFamily="49" charset="0"/>
              </a:rPr>
              <a:t>:  </a:t>
            </a:r>
          </a:p>
          <a:p>
            <a:pPr marL="0" indent="0">
              <a:buNone/>
            </a:pPr>
            <a:r>
              <a:rPr lang="en-US" sz="1700" dirty="0">
                <a:solidFill>
                  <a:schemeClr val="accent2">
                    <a:lumMod val="75000"/>
                  </a:schemeClr>
                </a:solidFill>
                <a:latin typeface="Courier New" panose="02070309020205020404" pitchFamily="49" charset="0"/>
                <a:cs typeface="Courier New" panose="02070309020205020404" pitchFamily="49" charset="0"/>
              </a:rPr>
              <a:t>  post-01: 'Monday, Aug 24th’  </a:t>
            </a:r>
          </a:p>
          <a:p>
            <a:pPr marL="0" indent="0">
              <a:buNone/>
            </a:pPr>
            <a:r>
              <a:rPr lang="en-US" sz="1700" dirty="0">
                <a:latin typeface="Courier New" panose="02070309020205020404" pitchFamily="49" charset="0"/>
                <a:cs typeface="Courier New" panose="02070309020205020404" pitchFamily="49" charset="0"/>
              </a:rPr>
              <a:t>  post-02: 'Monday, Aug 31st'</a:t>
            </a:r>
          </a:p>
          <a:p>
            <a:pPr marL="0" indent="0">
              <a:buNone/>
            </a:pPr>
            <a:r>
              <a:rPr lang="en-US" sz="1700" dirty="0">
                <a:latin typeface="Courier New" panose="02070309020205020404" pitchFamily="49" charset="0"/>
                <a:cs typeface="Courier New" panose="02070309020205020404" pitchFamily="49" charset="0"/>
              </a:rPr>
              <a:t>---</a:t>
            </a:r>
          </a:p>
          <a:p>
            <a:pPr marL="0" indent="0">
              <a:buNone/>
            </a:pPr>
            <a:endParaRPr lang="en-US" sz="1700" dirty="0">
              <a:latin typeface="Courier New" panose="02070309020205020404" pitchFamily="49" charset="0"/>
              <a:cs typeface="Courier New" panose="02070309020205020404" pitchFamily="49" charset="0"/>
            </a:endParaRPr>
          </a:p>
          <a:p>
            <a:pPr marL="0" indent="0">
              <a:buNone/>
            </a:pPr>
            <a:r>
              <a:rPr lang="en-US" sz="1700" dirty="0">
                <a:latin typeface="Courier New" panose="02070309020205020404" pitchFamily="49" charset="0"/>
                <a:cs typeface="Courier New" panose="02070309020205020404" pitchFamily="49" charset="0"/>
              </a:rPr>
              <a:t>## Practice Problem Warmup</a:t>
            </a:r>
          </a:p>
          <a:p>
            <a:pPr marL="0" indent="0">
              <a:buNone/>
            </a:pPr>
            <a:endParaRPr lang="en-US" sz="1700" dirty="0">
              <a:latin typeface="Courier New" panose="02070309020205020404" pitchFamily="49" charset="0"/>
              <a:cs typeface="Courier New" panose="02070309020205020404" pitchFamily="49" charset="0"/>
            </a:endParaRPr>
          </a:p>
          <a:p>
            <a:pPr marL="0" indent="0">
              <a:buNone/>
            </a:pPr>
            <a:r>
              <a:rPr lang="en-US" sz="1700" dirty="0">
                <a:latin typeface="Courier New" panose="02070309020205020404" pitchFamily="49" charset="0"/>
                <a:cs typeface="Courier New" panose="02070309020205020404" pitchFamily="49" charset="0"/>
              </a:rPr>
              <a:t>**Post on </a:t>
            </a:r>
            <a:r>
              <a:rPr lang="en-US" sz="1700" dirty="0">
                <a:solidFill>
                  <a:schemeClr val="accent2">
                    <a:lumMod val="75000"/>
                  </a:schemeClr>
                </a:solidFill>
                <a:latin typeface="Courier New" panose="02070309020205020404" pitchFamily="49" charset="0"/>
                <a:cs typeface="Courier New" panose="02070309020205020404" pitchFamily="49" charset="0"/>
              </a:rPr>
              <a:t>{{page.yellowdig.post-01}}</a:t>
            </a:r>
            <a:r>
              <a:rPr lang="en-US" sz="1700" dirty="0">
                <a:latin typeface="Courier New" panose="02070309020205020404" pitchFamily="49" charset="0"/>
                <a:cs typeface="Courier New" panose="02070309020205020404" pitchFamily="49" charset="0"/>
              </a:rPr>
              <a:t>**</a:t>
            </a:r>
          </a:p>
          <a:p>
            <a:pPr marL="0" indent="0">
              <a:buNone/>
            </a:pPr>
            <a:endParaRPr lang="en-US" sz="1700" dirty="0">
              <a:latin typeface="Courier New" panose="02070309020205020404" pitchFamily="49" charset="0"/>
              <a:cs typeface="Courier New" panose="02070309020205020404" pitchFamily="49" charset="0"/>
            </a:endParaRPr>
          </a:p>
          <a:p>
            <a:pPr marL="0" indent="0">
              <a:buNone/>
            </a:pPr>
            <a:r>
              <a:rPr lang="en-US" sz="1700" dirty="0">
                <a:latin typeface="Courier New" panose="02070309020205020404" pitchFamily="49" charset="0"/>
                <a:cs typeface="Courier New" panose="02070309020205020404" pitchFamily="49" charset="0"/>
              </a:rPr>
              <a:t>Note that these are non-obvious bugs that can EASILY work there way into your code. Once you see the problem, it will seem obvious. But until you see it the code often looks fine and it's unclear why it is not working as expected. </a:t>
            </a:r>
          </a:p>
        </p:txBody>
      </p:sp>
      <p:sp>
        <p:nvSpPr>
          <p:cNvPr id="4" name="TextBox 3">
            <a:extLst>
              <a:ext uri="{FF2B5EF4-FFF2-40B4-BE49-F238E27FC236}">
                <a16:creationId xmlns:a16="http://schemas.microsoft.com/office/drawing/2014/main" id="{7DC71F02-9F43-429E-9C6C-71D25987D7B1}"/>
              </a:ext>
            </a:extLst>
          </p:cNvPr>
          <p:cNvSpPr txBox="1"/>
          <p:nvPr/>
        </p:nvSpPr>
        <p:spPr>
          <a:xfrm>
            <a:off x="5343788" y="2594994"/>
            <a:ext cx="2517997" cy="461665"/>
          </a:xfrm>
          <a:prstGeom prst="rect">
            <a:avLst/>
          </a:prstGeom>
          <a:noFill/>
        </p:spPr>
        <p:txBody>
          <a:bodyPr wrap="none" rtlCol="0">
            <a:spAutoFit/>
          </a:bodyPr>
          <a:lstStyle/>
          <a:p>
            <a:r>
              <a:rPr lang="en-US" sz="2400" dirty="0">
                <a:solidFill>
                  <a:schemeClr val="accent1">
                    <a:lumMod val="50000"/>
                  </a:schemeClr>
                </a:solidFill>
              </a:rPr>
              <a:t>YAML header data</a:t>
            </a:r>
          </a:p>
        </p:txBody>
      </p:sp>
      <p:sp>
        <p:nvSpPr>
          <p:cNvPr id="5" name="TextBox 4">
            <a:extLst>
              <a:ext uri="{FF2B5EF4-FFF2-40B4-BE49-F238E27FC236}">
                <a16:creationId xmlns:a16="http://schemas.microsoft.com/office/drawing/2014/main" id="{A2D6E207-946D-4BA9-A76F-B6833CB4E6FD}"/>
              </a:ext>
            </a:extLst>
          </p:cNvPr>
          <p:cNvSpPr txBox="1"/>
          <p:nvPr/>
        </p:nvSpPr>
        <p:spPr>
          <a:xfrm>
            <a:off x="5588466" y="4263006"/>
            <a:ext cx="4278544" cy="461665"/>
          </a:xfrm>
          <a:prstGeom prst="rect">
            <a:avLst/>
          </a:prstGeom>
          <a:noFill/>
        </p:spPr>
        <p:txBody>
          <a:bodyPr wrap="none" rtlCol="0">
            <a:spAutoFit/>
          </a:bodyPr>
          <a:lstStyle/>
          <a:p>
            <a:r>
              <a:rPr lang="en-US" sz="2400" dirty="0">
                <a:solidFill>
                  <a:schemeClr val="accent1">
                    <a:lumMod val="50000"/>
                  </a:schemeClr>
                </a:solidFill>
              </a:rPr>
              <a:t>Liquid tag referencing YAML field</a:t>
            </a:r>
          </a:p>
        </p:txBody>
      </p:sp>
      <p:cxnSp>
        <p:nvCxnSpPr>
          <p:cNvPr id="7" name="Straight Arrow Connector 6">
            <a:extLst>
              <a:ext uri="{FF2B5EF4-FFF2-40B4-BE49-F238E27FC236}">
                <a16:creationId xmlns:a16="http://schemas.microsoft.com/office/drawing/2014/main" id="{2058BF0D-1C4C-4E1C-9F4D-41B0CDEC318A}"/>
              </a:ext>
            </a:extLst>
          </p:cNvPr>
          <p:cNvCxnSpPr/>
          <p:nvPr/>
        </p:nvCxnSpPr>
        <p:spPr>
          <a:xfrm flipH="1">
            <a:off x="4186106" y="2902591"/>
            <a:ext cx="1015068" cy="268448"/>
          </a:xfrm>
          <a:prstGeom prst="straightConnector1">
            <a:avLst/>
          </a:prstGeom>
          <a:ln w="317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316C189-4B29-4DFE-9E0E-35540A43EA56}"/>
              </a:ext>
            </a:extLst>
          </p:cNvPr>
          <p:cNvCxnSpPr/>
          <p:nvPr/>
        </p:nvCxnSpPr>
        <p:spPr>
          <a:xfrm flipH="1">
            <a:off x="4506457" y="4501440"/>
            <a:ext cx="1015068" cy="268448"/>
          </a:xfrm>
          <a:prstGeom prst="straightConnector1">
            <a:avLst/>
          </a:prstGeom>
          <a:ln w="317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753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F07CD-54ED-4356-BEF3-B81D66E2E2EF}"/>
              </a:ext>
            </a:extLst>
          </p:cNvPr>
          <p:cNvSpPr>
            <a:spLocks noGrp="1"/>
          </p:cNvSpPr>
          <p:nvPr>
            <p:ph type="title"/>
          </p:nvPr>
        </p:nvSpPr>
        <p:spPr/>
        <p:txBody>
          <a:bodyPr/>
          <a:lstStyle/>
          <a:p>
            <a:r>
              <a:rPr lang="en-US" dirty="0"/>
              <a:t>Generic Variables</a:t>
            </a:r>
          </a:p>
        </p:txBody>
      </p:sp>
      <p:pic>
        <p:nvPicPr>
          <p:cNvPr id="3" name="Picture 2">
            <a:extLst>
              <a:ext uri="{FF2B5EF4-FFF2-40B4-BE49-F238E27FC236}">
                <a16:creationId xmlns:a16="http://schemas.microsoft.com/office/drawing/2014/main" id="{AB074B48-E886-46E7-9127-F4B4AA704BCB}"/>
              </a:ext>
            </a:extLst>
          </p:cNvPr>
          <p:cNvPicPr>
            <a:picLocks noChangeAspect="1"/>
          </p:cNvPicPr>
          <p:nvPr/>
        </p:nvPicPr>
        <p:blipFill>
          <a:blip r:embed="rId2"/>
          <a:stretch>
            <a:fillRect/>
          </a:stretch>
        </p:blipFill>
        <p:spPr>
          <a:xfrm>
            <a:off x="708057" y="2240221"/>
            <a:ext cx="8181975" cy="3571875"/>
          </a:xfrm>
          <a:prstGeom prst="rect">
            <a:avLst/>
          </a:prstGeom>
        </p:spPr>
      </p:pic>
      <p:sp>
        <p:nvSpPr>
          <p:cNvPr id="5" name="TextBox 4">
            <a:extLst>
              <a:ext uri="{FF2B5EF4-FFF2-40B4-BE49-F238E27FC236}">
                <a16:creationId xmlns:a16="http://schemas.microsoft.com/office/drawing/2014/main" id="{13B1FD10-1E71-4F74-8DCA-C3C0ED80E20C}"/>
              </a:ext>
            </a:extLst>
          </p:cNvPr>
          <p:cNvSpPr txBox="1"/>
          <p:nvPr/>
        </p:nvSpPr>
        <p:spPr>
          <a:xfrm>
            <a:off x="838200" y="1503789"/>
            <a:ext cx="3051476" cy="461665"/>
          </a:xfrm>
          <a:prstGeom prst="rect">
            <a:avLst/>
          </a:prstGeom>
          <a:noFill/>
        </p:spPr>
        <p:txBody>
          <a:bodyPr wrap="none" rtlCol="0">
            <a:spAutoFit/>
          </a:bodyPr>
          <a:lstStyle/>
          <a:p>
            <a:r>
              <a:rPr lang="en-US" sz="2400" dirty="0">
                <a:solidFill>
                  <a:schemeClr val="accent1">
                    <a:lumMod val="50000"/>
                  </a:schemeClr>
                </a:solidFill>
              </a:rPr>
              <a:t>(Rendered HTML Page)</a:t>
            </a:r>
          </a:p>
        </p:txBody>
      </p:sp>
      <p:sp>
        <p:nvSpPr>
          <p:cNvPr id="6" name="TextBox 5">
            <a:extLst>
              <a:ext uri="{FF2B5EF4-FFF2-40B4-BE49-F238E27FC236}">
                <a16:creationId xmlns:a16="http://schemas.microsoft.com/office/drawing/2014/main" id="{02F4BC2A-427C-4C03-95EF-820DCC86B766}"/>
              </a:ext>
            </a:extLst>
          </p:cNvPr>
          <p:cNvSpPr txBox="1"/>
          <p:nvPr/>
        </p:nvSpPr>
        <p:spPr>
          <a:xfrm>
            <a:off x="6194955" y="2829352"/>
            <a:ext cx="5684120" cy="461665"/>
          </a:xfrm>
          <a:prstGeom prst="rect">
            <a:avLst/>
          </a:prstGeom>
          <a:noFill/>
        </p:spPr>
        <p:txBody>
          <a:bodyPr wrap="none" rtlCol="0">
            <a:spAutoFit/>
          </a:bodyPr>
          <a:lstStyle/>
          <a:p>
            <a:r>
              <a:rPr lang="en-US" sz="2400" dirty="0">
                <a:solidFill>
                  <a:schemeClr val="accent1">
                    <a:lumMod val="50000"/>
                  </a:schemeClr>
                </a:solidFill>
              </a:rPr>
              <a:t>Liquid tag replaced with value in YAML table</a:t>
            </a:r>
          </a:p>
        </p:txBody>
      </p:sp>
      <p:cxnSp>
        <p:nvCxnSpPr>
          <p:cNvPr id="7" name="Straight Arrow Connector 6">
            <a:extLst>
              <a:ext uri="{FF2B5EF4-FFF2-40B4-BE49-F238E27FC236}">
                <a16:creationId xmlns:a16="http://schemas.microsoft.com/office/drawing/2014/main" id="{4CAFBCF5-772D-4DA4-8F49-745542AFFF78}"/>
              </a:ext>
            </a:extLst>
          </p:cNvPr>
          <p:cNvCxnSpPr>
            <a:cxnSpLocks/>
            <a:stCxn id="6" idx="1"/>
          </p:cNvCxnSpPr>
          <p:nvPr/>
        </p:nvCxnSpPr>
        <p:spPr>
          <a:xfrm flipH="1">
            <a:off x="3172408" y="3060185"/>
            <a:ext cx="3022547" cy="298835"/>
          </a:xfrm>
          <a:prstGeom prst="straightConnector1">
            <a:avLst/>
          </a:prstGeom>
          <a:ln w="317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6555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2492</TotalTime>
  <Words>1128</Words>
  <Application>Microsoft Office PowerPoint</Application>
  <PresentationFormat>Widescreen</PresentationFormat>
  <Paragraphs>225</Paragraphs>
  <Slides>23</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23</vt:i4>
      </vt:variant>
    </vt:vector>
  </HeadingPairs>
  <TitlesOfParts>
    <vt:vector size="36" baseType="lpstr">
      <vt:lpstr>Abadi ExtraLight</vt:lpstr>
      <vt:lpstr>ADLaM Display</vt:lpstr>
      <vt:lpstr>Aharoni</vt:lpstr>
      <vt:lpstr>Aptos</vt:lpstr>
      <vt:lpstr>Aptos Display</vt:lpstr>
      <vt:lpstr>Arial</vt:lpstr>
      <vt:lpstr>Biome Light</vt:lpstr>
      <vt:lpstr>Calibri</vt:lpstr>
      <vt:lpstr>Calibri Light</vt:lpstr>
      <vt:lpstr>Century Gothic</vt:lpstr>
      <vt:lpstr>Courier New</vt:lpstr>
      <vt:lpstr>Office Theme</vt:lpstr>
      <vt:lpstr>1_Office Theme</vt:lpstr>
      <vt:lpstr>the Markdown  to html pipeline</vt:lpstr>
      <vt:lpstr>PowerPoint Presentation</vt:lpstr>
      <vt:lpstr>PowerPoint Presentation</vt:lpstr>
      <vt:lpstr>PowerPoint Presentation</vt:lpstr>
      <vt:lpstr>PowerPoint Presentation</vt:lpstr>
      <vt:lpstr>github pages</vt:lpstr>
      <vt:lpstr>PowerPoint Presentation</vt:lpstr>
      <vt:lpstr>PowerPoint Presentation</vt:lpstr>
      <vt:lpstr>CSS: Cascading style sheets</vt:lpstr>
      <vt:lpstr>Why use CSS? </vt:lpstr>
      <vt:lpstr>What is a STYLE? </vt:lpstr>
      <vt:lpstr>PowerPoint Presentation</vt:lpstr>
      <vt:lpstr>Html page basics</vt:lpstr>
      <vt:lpstr>PowerPoint Presentation</vt:lpstr>
      <vt:lpstr>PowerPoint Presentation</vt:lpstr>
      <vt:lpstr>PowerPoint Presentation</vt:lpstr>
      <vt:lpstr>the Jekyll framework</vt:lpstr>
      <vt:lpstr>PowerPoint Presentation</vt:lpstr>
      <vt:lpstr>PowerPoint Presentation</vt:lpstr>
      <vt:lpstr>PowerPoint Presentation</vt:lpstr>
      <vt:lpstr>liquid tags</vt:lpstr>
      <vt:lpstr>Generic Variables</vt:lpstr>
      <vt:lpstr>Generic Variables</vt:lpstr>
    </vt:vector>
  </TitlesOfParts>
  <Company>Arizona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Jesse Lecy</dc:creator>
  <cp:lastModifiedBy>Jesse Lecy</cp:lastModifiedBy>
  <cp:revision>18</cp:revision>
  <dcterms:created xsi:type="dcterms:W3CDTF">2020-02-01T00:08:56Z</dcterms:created>
  <dcterms:modified xsi:type="dcterms:W3CDTF">2026-02-17T04:06:45Z</dcterms:modified>
</cp:coreProperties>
</file>